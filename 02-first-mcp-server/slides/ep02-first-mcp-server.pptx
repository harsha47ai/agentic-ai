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episode the tools were mocks. Today the agent talks to a real data source — and any MCP client can use it with zero glue code. Promise the build: a working server with three tools, tested in the Inspector, plugged into Claude Desktop and into our own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outcomes. Then straight into the problem MCP 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agent needs every system. Before MCP that is N times M integrations, each one custom. After: one protocol, one server per system, any client. The USB-C line lands with every audience —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and server, JSON-RPC between them. A server exposes three kinds of things. Today we do tools over stdio — the local transport. Streamable HTTP is the remote one; that's a later episode with auth.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people assume MCP gives them. It doesn't. It is the plug, not the appliance. The third one — authorization — is the one that bites in the enterprise: the spec has OAuth for HTTP transports, but WHAT a caller may do is still yours to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stand-in for an ERP or order-management system: SQLite, three tables, 120 orders, 85 shipments, 10 HS codes. Seeded with a fixed random seed so your numbers match mine. Walk the path: agent → client → server → 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screen. Open server_starter.py: the DB helper is already there. Type the import, the FastMCP instance, and the run call. That's a server. It has no tools yet —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decorator per tool. The function signature becomes the input schema. The DOCSTRING becomes the description the model reads — so write it for the model: when to use it, what it returns, what the formats are. Then search_shipments and lookup_hs_code the same way. Point at MAX_ROWS.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agent touches it, test it like an API. The Inspector is the official UI: it launches your server, lists tools, lets you call them with arguments and see the raw JSON-RPC. Call all three on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zero-glue moment. One JSON entry in Claude Desktop's config, restart, and ask a question in plain English. Watch it call search_shipments. You wrote no client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Episode 1's loop. Two lines change: tools come from list_tools(), execution goes through call_tool(). The loop itself is untouched. That's the point — the agent doesn't care where tools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before this server goes anywhere near production. Each one is a later episode. Say the tenant one twice: never trust the model to add the WHERE 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then next episode: the export-compliance agent, built on this exact server. Ask them to star the repo and open an issue with the data source they'd want to see wrapped.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316"/>
        </a:solidFill>
      </p:bgPr>
    </p:bg>
    <p:spTree>
      <p:nvGrpSpPr>
        <p:cNvPr id="1" name=""/>
        <p:cNvGrpSpPr/>
        <p:nvPr/>
      </p:nvGrpSpPr>
      <p:grpSpPr>
        <a:xfrm>
          <a:off x="0" y="0"/>
          <a:ext cx="0" cy="0"/>
          <a:chOff x="0" y="0"/>
          <a:chExt cx="0" cy="0"/>
        </a:xfrm>
      </p:grpSpPr>
      <p:sp>
        <p:nvSpPr>
          <p:cNvPr id="3" name="Text 0"/>
          <p:cNvSpPr txBox="1"/>
          <p:nvPr/>
        </p:nvSpPr>
        <p:spPr>
          <a:xfrm>
            <a:off x="6583680" y="2103120"/>
            <a:ext cx="2377440" cy="2377440"/>
          </a:xfrm>
          <a:prstGeom prst="rect">
            <a:avLst/>
          </a:prstGeom>
          <a:noFill/>
          <a:ln/>
        </p:spPr>
        <p:txBody>
          <a:bodyPr wrap="square" lIns="0" tIns="0" rIns="0" bIns="0" rtlCol="0" anchor="t"/>
          <a:lstStyle/>
          <a:p>
            <a:pPr algn="r" indent="0" marL="0">
              <a:buNone/>
            </a:pPr>
            <a:r>
              <a:rPr lang="en-US" sz="15000" b="1" dirty="0">
                <a:solidFill>
                  <a:srgbClr val="1C242B"/>
                </a:solidFill>
                <a:latin typeface="Cambria" pitchFamily="34" charset="0"/>
                <a:ea typeface="Cambria" pitchFamily="34" charset="-122"/>
                <a:cs typeface="Cambria" pitchFamily="34" charset="-120"/>
              </a:rPr>
              <a:t>02</a:t>
            </a:r>
            <a:endParaRPr lang="en-US" sz="15000" dirty="0"/>
          </a:p>
        </p:txBody>
      </p:sp>
      <p:sp>
        <p:nvSpPr>
          <p:cNvPr id="4" name="Text 1"/>
          <p:cNvSpPr txBox="1"/>
          <p:nvPr/>
        </p:nvSpPr>
        <p:spPr>
          <a:xfrm>
            <a:off x="548640" y="1097280"/>
            <a:ext cx="6400800" cy="320040"/>
          </a:xfrm>
          <a:prstGeom prst="rect">
            <a:avLst/>
          </a:prstGeom>
          <a:noFill/>
          <a:ln/>
        </p:spPr>
        <p:txBody>
          <a:bodyPr wrap="square" lIns="0" tIns="0" rIns="0" bIns="0" rtlCol="0" anchor="ctr"/>
          <a:lstStyle/>
          <a:p>
            <a:pPr indent="0" marL="0">
              <a:buNone/>
            </a:pPr>
            <a:r>
              <a:rPr lang="en-US" sz="1200" spc="300" kern="0" dirty="0">
                <a:solidFill>
                  <a:srgbClr val="F5A623"/>
                </a:solidFill>
                <a:latin typeface="Calibri" pitchFamily="34" charset="0"/>
                <a:ea typeface="Calibri" pitchFamily="34" charset="-122"/>
                <a:cs typeface="Calibri" pitchFamily="34" charset="-120"/>
              </a:rPr>
              <a:t>ARTHASHASTRA LEARNING  ·  THE AGENTIC ENTERPRISE  ·  EP 2</a:t>
            </a:r>
            <a:endParaRPr lang="en-US" sz="1200" dirty="0"/>
          </a:p>
        </p:txBody>
      </p:sp>
      <p:sp>
        <p:nvSpPr>
          <p:cNvPr id="5" name="Text 2"/>
          <p:cNvSpPr txBox="1"/>
          <p:nvPr/>
        </p:nvSpPr>
        <p:spPr>
          <a:xfrm>
            <a:off x="548640" y="1508760"/>
            <a:ext cx="6035040" cy="1737360"/>
          </a:xfrm>
          <a:prstGeom prst="rect">
            <a:avLst/>
          </a:prstGeom>
          <a:noFill/>
          <a:ln/>
        </p:spPr>
        <p:txBody>
          <a:bodyPr wrap="square" lIns="0" tIns="0" rIns="0" bIns="0" rtlCol="0" anchor="t"/>
          <a:lstStyle/>
          <a:p>
            <a:pPr indent="0" marL="0">
              <a:buNone/>
            </a:pPr>
            <a:r>
              <a:rPr lang="en-US" sz="3400" b="1" dirty="0">
                <a:solidFill>
                  <a:srgbClr val="F3F5F7"/>
                </a:solidFill>
                <a:latin typeface="Cambria" pitchFamily="34" charset="0"/>
                <a:ea typeface="Cambria" pitchFamily="34" charset="-122"/>
                <a:cs typeface="Cambria" pitchFamily="34" charset="-120"/>
              </a:rPr>
              <a:t>Build your first MCP server</a:t>
            </a:r>
            <a:endParaRPr lang="en-US" sz="3400" dirty="0"/>
          </a:p>
          <a:p>
            <a:pPr indent="0" marL="0">
              <a:buNone/>
            </a:pPr>
            <a:r>
              <a:rPr lang="en-US" sz="3400" b="1" dirty="0">
                <a:solidFill>
                  <a:srgbClr val="F3F5F7"/>
                </a:solidFill>
                <a:latin typeface="Cambria" pitchFamily="34" charset="0"/>
                <a:ea typeface="Cambria" pitchFamily="34" charset="-122"/>
                <a:cs typeface="Cambria" pitchFamily="34" charset="-120"/>
              </a:rPr>
              <a:t>for an enterprise data source</a:t>
            </a:r>
            <a:endParaRPr lang="en-US" sz="3400" dirty="0"/>
          </a:p>
        </p:txBody>
      </p:sp>
      <p:sp>
        <p:nvSpPr>
          <p:cNvPr id="6" name="Text 3"/>
          <p:cNvSpPr txBox="1"/>
          <p:nvPr/>
        </p:nvSpPr>
        <p:spPr>
          <a:xfrm>
            <a:off x="548640" y="3657600"/>
            <a:ext cx="4572000" cy="365760"/>
          </a:xfrm>
          <a:prstGeom prst="rect">
            <a:avLst/>
          </a:prstGeom>
          <a:noFill/>
          <a:ln/>
        </p:spPr>
        <p:txBody>
          <a:bodyPr wrap="square" lIns="0" tIns="0" rIns="0" bIns="0" rtlCol="0" anchor="ctr"/>
          <a:lstStyle/>
          <a:p>
            <a:pPr indent="0" marL="0">
              <a:buNone/>
            </a:pPr>
            <a:r>
              <a:rPr lang="en-US" sz="1600" dirty="0">
                <a:solidFill>
                  <a:srgbClr val="F3F5F7"/>
                </a:solidFill>
                <a:latin typeface="Calibri" pitchFamily="34" charset="0"/>
                <a:ea typeface="Calibri" pitchFamily="34" charset="-122"/>
                <a:cs typeface="Calibri" pitchFamily="34" charset="-120"/>
              </a:rPr>
              <a:t>Harsha Pasumarthi</a:t>
            </a:r>
            <a:endParaRPr lang="en-US" sz="1600" dirty="0"/>
          </a:p>
        </p:txBody>
      </p:sp>
      <p:sp>
        <p:nvSpPr>
          <p:cNvPr id="7" name="Text 4"/>
          <p:cNvSpPr txBox="1"/>
          <p:nvPr/>
        </p:nvSpPr>
        <p:spPr>
          <a:xfrm>
            <a:off x="548640" y="4005072"/>
            <a:ext cx="5486400" cy="320040"/>
          </a:xfrm>
          <a:prstGeom prst="rect">
            <a:avLst/>
          </a:prstGeom>
          <a:noFill/>
          <a:ln/>
        </p:spPr>
        <p:txBody>
          <a:bodyPr wrap="square" lIns="0" tIns="0" rIns="0" bIns="0" rtlCol="0" anchor="ctr"/>
          <a:lstStyle/>
          <a:p>
            <a:pPr indent="0" marL="0">
              <a:buNone/>
            </a:pPr>
            <a:r>
              <a:rPr lang="en-US" sz="1200" dirty="0">
                <a:solidFill>
                  <a:srgbClr val="9AA6B2"/>
                </a:solidFill>
                <a:latin typeface="Calibri" pitchFamily="34" charset="0"/>
                <a:ea typeface="Calibri" pitchFamily="34" charset="-122"/>
                <a:cs typeface="Calibri" pitchFamily="34" charset="-120"/>
              </a:rPr>
              <a:t>Founder, Arthashastra Intelligence · Delivery Head, AI &amp; Data Platforms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316"/>
        </a:solidFill>
      </p:bgPr>
    </p:bg>
    <p:spTree>
      <p:nvGrpSpPr>
        <p:cNvPr id="1" name=""/>
        <p:cNvGrpSpPr/>
        <p:nvPr/>
      </p:nvGrpSpPr>
      <p:grpSpPr>
        <a:xfrm>
          <a:off x="0" y="0"/>
          <a:ext cx="0" cy="0"/>
          <a:chOff x="0" y="0"/>
          <a:chExt cx="0" cy="0"/>
        </a:xfrm>
      </p:grpSpPr>
      <p:sp>
        <p:nvSpPr>
          <p:cNvPr id="3"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2600" b="1" dirty="0">
                <a:solidFill>
                  <a:srgbClr val="F3F5F7"/>
                </a:solidFill>
                <a:latin typeface="Cambria" pitchFamily="34" charset="0"/>
                <a:ea typeface="Cambria" pitchFamily="34" charset="-122"/>
                <a:cs typeface="Cambria" pitchFamily="34" charset="-120"/>
              </a:rPr>
              <a:t>Last time the tools were mocks. Today they're real.</a:t>
            </a:r>
            <a:endParaRPr lang="en-US" sz="2600" dirty="0"/>
          </a:p>
        </p:txBody>
      </p:sp>
      <p:sp>
        <p:nvSpPr>
          <p:cNvPr id="4" name="Text 1"/>
          <p:cNvSpPr txBox="1"/>
          <p:nvPr/>
        </p:nvSpPr>
        <p:spPr>
          <a:xfrm>
            <a:off x="457200" y="1234440"/>
            <a:ext cx="8229600" cy="365760"/>
          </a:xfrm>
          <a:prstGeom prst="rect">
            <a:avLst/>
          </a:prstGeom>
          <a:noFill/>
          <a:ln/>
        </p:spPr>
        <p:txBody>
          <a:bodyPr wrap="square" lIns="0" tIns="0" rIns="0" bIns="0" rtlCol="0" anchor="ctr"/>
          <a:lstStyle/>
          <a:p>
            <a:pPr indent="0" marL="0">
              <a:buNone/>
            </a:pPr>
            <a:r>
              <a:rPr lang="en-US" sz="1600" dirty="0">
                <a:solidFill>
                  <a:srgbClr val="9AA6B2"/>
                </a:solidFill>
                <a:latin typeface="Calibri" pitchFamily="34" charset="0"/>
                <a:ea typeface="Calibri" pitchFamily="34" charset="-122"/>
                <a:cs typeface="Calibri" pitchFamily="34" charset="-120"/>
              </a:rPr>
              <a:t>By the end of this video you will:</a:t>
            </a:r>
            <a:endParaRPr lang="en-US" sz="1600" dirty="0"/>
          </a:p>
        </p:txBody>
      </p:sp>
      <p:sp>
        <p:nvSpPr>
          <p:cNvPr id="5" name="Shape 2"/>
          <p:cNvSpPr/>
          <p:nvPr/>
        </p:nvSpPr>
        <p:spPr>
          <a:xfrm>
            <a:off x="457200" y="1783080"/>
            <a:ext cx="2606040" cy="2377440"/>
          </a:xfrm>
          <a:prstGeom prst="roundRect">
            <a:avLst>
              <a:gd name="adj" fmla="val 3077"/>
            </a:avLst>
          </a:prstGeom>
          <a:solidFill>
            <a:srgbClr val="1B2127"/>
          </a:solidFill>
          <a:ln w="9525">
            <a:solidFill>
              <a:srgbClr val="2E3842"/>
            </a:solidFill>
            <a:prstDash val="solid"/>
          </a:ln>
        </p:spPr>
      </p:sp>
      <p:sp>
        <p:nvSpPr>
          <p:cNvPr id="6" name="Shape 3"/>
          <p:cNvSpPr/>
          <p:nvPr/>
        </p:nvSpPr>
        <p:spPr>
          <a:xfrm>
            <a:off x="731520" y="2057400"/>
            <a:ext cx="457200" cy="457200"/>
          </a:xfrm>
          <a:prstGeom prst="ellipse">
            <a:avLst/>
          </a:prstGeom>
          <a:solidFill>
            <a:srgbClr val="F5A623"/>
          </a:solidFill>
          <a:ln/>
        </p:spPr>
      </p:sp>
      <p:sp>
        <p:nvSpPr>
          <p:cNvPr id="7" name="Text 4"/>
          <p:cNvSpPr txBox="1"/>
          <p:nvPr/>
        </p:nvSpPr>
        <p:spPr>
          <a:xfrm>
            <a:off x="731520" y="2057400"/>
            <a:ext cx="457200" cy="457200"/>
          </a:xfrm>
          <a:prstGeom prst="rect">
            <a:avLst/>
          </a:prstGeom>
          <a:noFill/>
          <a:ln/>
        </p:spPr>
        <p:txBody>
          <a:bodyPr wrap="square" lIns="0" tIns="0" rIns="0" bIns="0" rtlCol="0" anchor="ctr"/>
          <a:lstStyle/>
          <a:p>
            <a:pPr algn="ctr" indent="0" marL="0">
              <a:buNone/>
            </a:pPr>
            <a:r>
              <a:rPr lang="en-US" sz="1400" b="1" dirty="0">
                <a:solidFill>
                  <a:srgbClr val="0F1316"/>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731520" y="2697480"/>
            <a:ext cx="2103120" cy="731520"/>
          </a:xfrm>
          <a:prstGeom prst="rect">
            <a:avLst/>
          </a:prstGeom>
          <a:noFill/>
          <a:ln/>
        </p:spPr>
        <p:txBody>
          <a:bodyPr wrap="square" lIns="0" tIns="0" rIns="0" bIns="0" rtlCol="0" anchor="t"/>
          <a:lstStyle/>
          <a:p>
            <a:pPr indent="0" marL="0">
              <a:buNone/>
            </a:pPr>
            <a:r>
              <a:rPr lang="en-US" sz="1800" b="1" dirty="0">
                <a:solidFill>
                  <a:srgbClr val="F3F5F7"/>
                </a:solidFill>
                <a:latin typeface="Cambria" pitchFamily="34" charset="0"/>
                <a:ea typeface="Cambria" pitchFamily="34" charset="-122"/>
                <a:cs typeface="Cambria" pitchFamily="34" charset="-120"/>
              </a:rPr>
              <a:t>Know what MCP is — and isn't</a:t>
            </a:r>
            <a:endParaRPr lang="en-US" sz="1800" dirty="0"/>
          </a:p>
        </p:txBody>
      </p:sp>
      <p:sp>
        <p:nvSpPr>
          <p:cNvPr id="9" name="Text 6"/>
          <p:cNvSpPr txBox="1"/>
          <p:nvPr/>
        </p:nvSpPr>
        <p:spPr>
          <a:xfrm>
            <a:off x="731520" y="3429000"/>
            <a:ext cx="2103120" cy="640080"/>
          </a:xfrm>
          <a:prstGeom prst="rect">
            <a:avLst/>
          </a:prstGeom>
          <a:noFill/>
          <a:ln/>
        </p:spPr>
        <p:txBody>
          <a:bodyPr wrap="square" lIns="0" tIns="0" rIns="0" bIns="0" rtlCol="0" anchor="t"/>
          <a:lstStyle/>
          <a:p>
            <a:pPr indent="0" marL="0">
              <a:buNone/>
            </a:pPr>
            <a:r>
              <a:rPr lang="en-US" sz="1300" dirty="0">
                <a:solidFill>
                  <a:srgbClr val="9AA6B2"/>
                </a:solidFill>
                <a:latin typeface="Calibri" pitchFamily="34" charset="0"/>
                <a:ea typeface="Calibri" pitchFamily="34" charset="-122"/>
                <a:cs typeface="Calibri" pitchFamily="34" charset="-120"/>
              </a:rPr>
              <a:t>tools, resources, prompts; the plug, not the appliance</a:t>
            </a:r>
            <a:endParaRPr lang="en-US" sz="1300" dirty="0"/>
          </a:p>
        </p:txBody>
      </p:sp>
      <p:sp>
        <p:nvSpPr>
          <p:cNvPr id="10" name="Shape 7"/>
          <p:cNvSpPr/>
          <p:nvPr/>
        </p:nvSpPr>
        <p:spPr>
          <a:xfrm>
            <a:off x="3246120" y="1783080"/>
            <a:ext cx="2606040" cy="2377440"/>
          </a:xfrm>
          <a:prstGeom prst="roundRect">
            <a:avLst>
              <a:gd name="adj" fmla="val 3077"/>
            </a:avLst>
          </a:prstGeom>
          <a:solidFill>
            <a:srgbClr val="1B2127"/>
          </a:solidFill>
          <a:ln w="9525">
            <a:solidFill>
              <a:srgbClr val="2E3842"/>
            </a:solidFill>
            <a:prstDash val="solid"/>
          </a:ln>
        </p:spPr>
      </p:sp>
      <p:sp>
        <p:nvSpPr>
          <p:cNvPr id="11" name="Shape 8"/>
          <p:cNvSpPr/>
          <p:nvPr/>
        </p:nvSpPr>
        <p:spPr>
          <a:xfrm>
            <a:off x="3520440" y="2057400"/>
            <a:ext cx="457200" cy="457200"/>
          </a:xfrm>
          <a:prstGeom prst="ellipse">
            <a:avLst/>
          </a:prstGeom>
          <a:solidFill>
            <a:srgbClr val="F5A623"/>
          </a:solidFill>
          <a:ln/>
        </p:spPr>
      </p:sp>
      <p:sp>
        <p:nvSpPr>
          <p:cNvPr id="12" name="Text 9"/>
          <p:cNvSpPr txBox="1"/>
          <p:nvPr/>
        </p:nvSpPr>
        <p:spPr>
          <a:xfrm>
            <a:off x="3520440" y="2057400"/>
            <a:ext cx="457200" cy="457200"/>
          </a:xfrm>
          <a:prstGeom prst="rect">
            <a:avLst/>
          </a:prstGeom>
          <a:noFill/>
          <a:ln/>
        </p:spPr>
        <p:txBody>
          <a:bodyPr wrap="square" lIns="0" tIns="0" rIns="0" bIns="0" rtlCol="0" anchor="ctr"/>
          <a:lstStyle/>
          <a:p>
            <a:pPr algn="ctr" indent="0" marL="0">
              <a:buNone/>
            </a:pPr>
            <a:r>
              <a:rPr lang="en-US" sz="1400" b="1" dirty="0">
                <a:solidFill>
                  <a:srgbClr val="0F1316"/>
                </a:solidFill>
                <a:latin typeface="Calibri" pitchFamily="34" charset="0"/>
                <a:ea typeface="Calibri" pitchFamily="34" charset="-122"/>
                <a:cs typeface="Calibri" pitchFamily="34" charset="-120"/>
              </a:rPr>
              <a:t>2</a:t>
            </a:r>
            <a:endParaRPr lang="en-US" sz="1400" dirty="0"/>
          </a:p>
        </p:txBody>
      </p:sp>
      <p:sp>
        <p:nvSpPr>
          <p:cNvPr id="13" name="Text 10"/>
          <p:cNvSpPr txBox="1"/>
          <p:nvPr/>
        </p:nvSpPr>
        <p:spPr>
          <a:xfrm>
            <a:off x="3520440" y="2697480"/>
            <a:ext cx="2103120" cy="731520"/>
          </a:xfrm>
          <a:prstGeom prst="rect">
            <a:avLst/>
          </a:prstGeom>
          <a:noFill/>
          <a:ln/>
        </p:spPr>
        <p:txBody>
          <a:bodyPr wrap="square" lIns="0" tIns="0" rIns="0" bIns="0" rtlCol="0" anchor="t"/>
          <a:lstStyle/>
          <a:p>
            <a:pPr indent="0" marL="0">
              <a:buNone/>
            </a:pPr>
            <a:r>
              <a:rPr lang="en-US" sz="1800" b="1" dirty="0">
                <a:solidFill>
                  <a:srgbClr val="F3F5F7"/>
                </a:solidFill>
                <a:latin typeface="Cambria" pitchFamily="34" charset="0"/>
                <a:ea typeface="Cambria" pitchFamily="34" charset="-122"/>
                <a:cs typeface="Cambria" pitchFamily="34" charset="-120"/>
              </a:rPr>
              <a:t>Ship a working MCP server</a:t>
            </a:r>
            <a:endParaRPr lang="en-US" sz="1800" dirty="0"/>
          </a:p>
        </p:txBody>
      </p:sp>
      <p:sp>
        <p:nvSpPr>
          <p:cNvPr id="14" name="Text 11"/>
          <p:cNvSpPr txBox="1"/>
          <p:nvPr/>
        </p:nvSpPr>
        <p:spPr>
          <a:xfrm>
            <a:off x="3520440" y="3429000"/>
            <a:ext cx="2103120" cy="640080"/>
          </a:xfrm>
          <a:prstGeom prst="rect">
            <a:avLst/>
          </a:prstGeom>
          <a:noFill/>
          <a:ln/>
        </p:spPr>
        <p:txBody>
          <a:bodyPr wrap="square" lIns="0" tIns="0" rIns="0" bIns="0" rtlCol="0" anchor="t"/>
          <a:lstStyle/>
          <a:p>
            <a:pPr indent="0" marL="0">
              <a:buNone/>
            </a:pPr>
            <a:r>
              <a:rPr lang="en-US" sz="1300" dirty="0">
                <a:solidFill>
                  <a:srgbClr val="9AA6B2"/>
                </a:solidFill>
                <a:latin typeface="Calibri" pitchFamily="34" charset="0"/>
                <a:ea typeface="Calibri" pitchFamily="34" charset="-122"/>
                <a:cs typeface="Calibri" pitchFamily="34" charset="-120"/>
              </a:rPr>
              <a:t>3 read-only tools over a trade-orders database, in one file</a:t>
            </a:r>
            <a:endParaRPr lang="en-US" sz="1300" dirty="0"/>
          </a:p>
        </p:txBody>
      </p:sp>
      <p:sp>
        <p:nvSpPr>
          <p:cNvPr id="15" name="Shape 12"/>
          <p:cNvSpPr/>
          <p:nvPr/>
        </p:nvSpPr>
        <p:spPr>
          <a:xfrm>
            <a:off x="6035040" y="1783080"/>
            <a:ext cx="2606040" cy="2377440"/>
          </a:xfrm>
          <a:prstGeom prst="roundRect">
            <a:avLst>
              <a:gd name="adj" fmla="val 3077"/>
            </a:avLst>
          </a:prstGeom>
          <a:solidFill>
            <a:srgbClr val="1B2127"/>
          </a:solidFill>
          <a:ln w="9525">
            <a:solidFill>
              <a:srgbClr val="2E3842"/>
            </a:solidFill>
            <a:prstDash val="solid"/>
          </a:ln>
        </p:spPr>
      </p:sp>
      <p:sp>
        <p:nvSpPr>
          <p:cNvPr id="16" name="Shape 13"/>
          <p:cNvSpPr/>
          <p:nvPr/>
        </p:nvSpPr>
        <p:spPr>
          <a:xfrm>
            <a:off x="6309360" y="2057400"/>
            <a:ext cx="457200" cy="457200"/>
          </a:xfrm>
          <a:prstGeom prst="ellipse">
            <a:avLst/>
          </a:prstGeom>
          <a:solidFill>
            <a:srgbClr val="F5A623"/>
          </a:solidFill>
          <a:ln/>
        </p:spPr>
      </p:sp>
      <p:sp>
        <p:nvSpPr>
          <p:cNvPr id="17" name="Text 14"/>
          <p:cNvSpPr txBox="1"/>
          <p:nvPr/>
        </p:nvSpPr>
        <p:spPr>
          <a:xfrm>
            <a:off x="6309360" y="2057400"/>
            <a:ext cx="457200" cy="457200"/>
          </a:xfrm>
          <a:prstGeom prst="rect">
            <a:avLst/>
          </a:prstGeom>
          <a:noFill/>
          <a:ln/>
        </p:spPr>
        <p:txBody>
          <a:bodyPr wrap="square" lIns="0" tIns="0" rIns="0" bIns="0" rtlCol="0" anchor="ctr"/>
          <a:lstStyle/>
          <a:p>
            <a:pPr algn="ctr" indent="0" marL="0">
              <a:buNone/>
            </a:pPr>
            <a:r>
              <a:rPr lang="en-US" sz="1400" b="1" dirty="0">
                <a:solidFill>
                  <a:srgbClr val="0F1316"/>
                </a:solidFill>
                <a:latin typeface="Calibri" pitchFamily="34" charset="0"/>
                <a:ea typeface="Calibri" pitchFamily="34" charset="-122"/>
                <a:cs typeface="Calibri" pitchFamily="34" charset="-120"/>
              </a:rPr>
              <a:t>3</a:t>
            </a:r>
            <a:endParaRPr lang="en-US" sz="1400" dirty="0"/>
          </a:p>
        </p:txBody>
      </p:sp>
      <p:sp>
        <p:nvSpPr>
          <p:cNvPr id="18" name="Text 15"/>
          <p:cNvSpPr txBox="1"/>
          <p:nvPr/>
        </p:nvSpPr>
        <p:spPr>
          <a:xfrm>
            <a:off x="6309360" y="2697480"/>
            <a:ext cx="2103120" cy="731520"/>
          </a:xfrm>
          <a:prstGeom prst="rect">
            <a:avLst/>
          </a:prstGeom>
          <a:noFill/>
          <a:ln/>
        </p:spPr>
        <p:txBody>
          <a:bodyPr wrap="square" lIns="0" tIns="0" rIns="0" bIns="0" rtlCol="0" anchor="t"/>
          <a:lstStyle/>
          <a:p>
            <a:pPr indent="0" marL="0">
              <a:buNone/>
            </a:pPr>
            <a:r>
              <a:rPr lang="en-US" sz="1800" b="1" dirty="0">
                <a:solidFill>
                  <a:srgbClr val="F3F5F7"/>
                </a:solidFill>
                <a:latin typeface="Cambria" pitchFamily="34" charset="0"/>
                <a:ea typeface="Cambria" pitchFamily="34" charset="-122"/>
                <a:cs typeface="Cambria" pitchFamily="34" charset="-120"/>
              </a:rPr>
              <a:t>Plug it in twice</a:t>
            </a:r>
            <a:endParaRPr lang="en-US" sz="1800" dirty="0"/>
          </a:p>
        </p:txBody>
      </p:sp>
      <p:sp>
        <p:nvSpPr>
          <p:cNvPr id="19" name="Text 16"/>
          <p:cNvSpPr txBox="1"/>
          <p:nvPr/>
        </p:nvSpPr>
        <p:spPr>
          <a:xfrm>
            <a:off x="6309360" y="3429000"/>
            <a:ext cx="2103120" cy="640080"/>
          </a:xfrm>
          <a:prstGeom prst="rect">
            <a:avLst/>
          </a:prstGeom>
          <a:noFill/>
          <a:ln/>
        </p:spPr>
        <p:txBody>
          <a:bodyPr wrap="square" lIns="0" tIns="0" rIns="0" bIns="0" rtlCol="0" anchor="t"/>
          <a:lstStyle/>
          <a:p>
            <a:pPr indent="0" marL="0">
              <a:buNone/>
            </a:pPr>
            <a:r>
              <a:rPr lang="en-US" sz="1300" dirty="0">
                <a:solidFill>
                  <a:srgbClr val="9AA6B2"/>
                </a:solidFill>
                <a:latin typeface="Calibri" pitchFamily="34" charset="0"/>
                <a:ea typeface="Calibri" pitchFamily="34" charset="-122"/>
                <a:cs typeface="Calibri" pitchFamily="34" charset="-120"/>
              </a:rPr>
              <a:t>into Claude Desktop, and into the agent we built in Episode 1</a:t>
            </a:r>
            <a:endParaRPr lang="en-US" sz="1300" dirty="0"/>
          </a:p>
        </p:txBody>
      </p:sp>
      <p:sp>
        <p:nvSpPr>
          <p:cNvPr id="20" name="Text 17"/>
          <p:cNvSpPr txBox="1"/>
          <p:nvPr/>
        </p:nvSpPr>
        <p:spPr>
          <a:xfrm>
            <a:off x="457200" y="4709160"/>
            <a:ext cx="5486400" cy="274320"/>
          </a:xfrm>
          <a:prstGeom prst="rect">
            <a:avLst/>
          </a:prstGeom>
          <a:noFill/>
          <a:ln/>
        </p:spPr>
        <p:txBody>
          <a:bodyPr wrap="square" lIns="0" tIns="0" rIns="0" bIns="0" rtlCol="0" anchor="ctr"/>
          <a:lstStyle/>
          <a:p>
            <a:pPr indent="0" marL="0">
              <a:buNone/>
            </a:pPr>
            <a:r>
              <a:rPr lang="en-US" sz="1000" dirty="0">
                <a:solidFill>
                  <a:srgbClr val="9AA6B2"/>
                </a:solidFill>
                <a:latin typeface="Calibri" pitchFamily="34" charset="0"/>
                <a:ea typeface="Calibri" pitchFamily="34" charset="-122"/>
                <a:cs typeface="Calibri" pitchFamily="34" charset="-120"/>
              </a:rPr>
              <a:t>Arthashastra Learning · The Agentic Enterprise · Ep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316"/>
        </a:solidFill>
      </p:bgPr>
    </p:bg>
    <p:spTree>
      <p:nvGrpSpPr>
        <p:cNvPr id="1" name=""/>
        <p:cNvGrpSpPr/>
        <p:nvPr/>
      </p:nvGrpSpPr>
      <p:grpSpPr>
        <a:xfrm>
          <a:off x="0" y="0"/>
          <a:ext cx="0" cy="0"/>
          <a:chOff x="0" y="0"/>
          <a:chExt cx="0" cy="0"/>
        </a:xfrm>
      </p:grpSpPr>
      <p:sp>
        <p:nvSpPr>
          <p:cNvPr id="3"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F3F5F7"/>
                </a:solidFill>
                <a:latin typeface="Cambria" pitchFamily="34" charset="0"/>
                <a:ea typeface="Cambria" pitchFamily="34" charset="-122"/>
                <a:cs typeface="Cambria" pitchFamily="34" charset="-120"/>
              </a:rPr>
              <a:t>The problem: N agents × M systems</a:t>
            </a:r>
            <a:endParaRPr lang="en-US" sz="3000" dirty="0"/>
          </a:p>
        </p:txBody>
      </p:sp>
      <p:sp>
        <p:nvSpPr>
          <p:cNvPr id="4" name="Text 1"/>
          <p:cNvSpPr txBox="1"/>
          <p:nvPr/>
        </p:nvSpPr>
        <p:spPr>
          <a:xfrm>
            <a:off x="457200" y="1188720"/>
            <a:ext cx="3657600" cy="274320"/>
          </a:xfrm>
          <a:prstGeom prst="rect">
            <a:avLst/>
          </a:prstGeom>
          <a:noFill/>
          <a:ln/>
        </p:spPr>
        <p:txBody>
          <a:bodyPr wrap="square" lIns="0" tIns="0" rIns="0" bIns="0" rtlCol="0" anchor="ctr"/>
          <a:lstStyle/>
          <a:p>
            <a:pPr indent="0" marL="0">
              <a:buNone/>
            </a:pPr>
            <a:r>
              <a:rPr lang="en-US" sz="1100" b="1" spc="200" kern="0" dirty="0">
                <a:solidFill>
                  <a:srgbClr val="E5533D"/>
                </a:solidFill>
                <a:latin typeface="Calibri" pitchFamily="34" charset="0"/>
                <a:ea typeface="Calibri" pitchFamily="34" charset="-122"/>
                <a:cs typeface="Calibri" pitchFamily="34" charset="-120"/>
              </a:rPr>
              <a:t>BEFORE</a:t>
            </a:r>
            <a:endParaRPr lang="en-US" sz="1100" dirty="0"/>
          </a:p>
        </p:txBody>
      </p:sp>
      <p:sp>
        <p:nvSpPr>
          <p:cNvPr id="5" name="Shape 2"/>
          <p:cNvSpPr/>
          <p:nvPr/>
        </p:nvSpPr>
        <p:spPr>
          <a:xfrm>
            <a:off x="457200" y="1554480"/>
            <a:ext cx="1188720" cy="502920"/>
          </a:xfrm>
          <a:prstGeom prst="roundRect">
            <a:avLst>
              <a:gd name="adj" fmla="val 14545"/>
            </a:avLst>
          </a:prstGeom>
          <a:solidFill>
            <a:srgbClr val="232B33"/>
          </a:solidFill>
          <a:ln w="9525">
            <a:solidFill>
              <a:srgbClr val="2E3842"/>
            </a:solidFill>
            <a:prstDash val="solid"/>
          </a:ln>
        </p:spPr>
      </p:sp>
      <p:sp>
        <p:nvSpPr>
          <p:cNvPr id="6" name="Text 3"/>
          <p:cNvSpPr txBox="1"/>
          <p:nvPr/>
        </p:nvSpPr>
        <p:spPr>
          <a:xfrm>
            <a:off x="457200" y="1554480"/>
            <a:ext cx="1188720" cy="502920"/>
          </a:xfrm>
          <a:prstGeom prst="rect">
            <a:avLst/>
          </a:prstGeom>
          <a:noFill/>
          <a:ln/>
        </p:spPr>
        <p:txBody>
          <a:bodyPr wrap="square" lIns="0" tIns="0" rIns="0" bIns="0" rtlCol="0" anchor="ctr"/>
          <a:lstStyle/>
          <a:p>
            <a:pPr algn="ctr" indent="0" marL="0">
              <a:buNone/>
            </a:pPr>
            <a:r>
              <a:rPr lang="en-US" sz="1200" b="1" dirty="0">
                <a:solidFill>
                  <a:srgbClr val="F3F5F7"/>
                </a:solidFill>
                <a:latin typeface="Calibri" pitchFamily="34" charset="0"/>
                <a:ea typeface="Calibri" pitchFamily="34" charset="-122"/>
                <a:cs typeface="Calibri" pitchFamily="34" charset="-120"/>
              </a:rPr>
              <a:t>Agent A</a:t>
            </a:r>
            <a:endParaRPr lang="en-US" sz="1200" dirty="0"/>
          </a:p>
        </p:txBody>
      </p:sp>
      <p:sp>
        <p:nvSpPr>
          <p:cNvPr id="7" name="Shape 4"/>
          <p:cNvSpPr/>
          <p:nvPr/>
        </p:nvSpPr>
        <p:spPr>
          <a:xfrm>
            <a:off x="457200" y="2331720"/>
            <a:ext cx="1188720" cy="502920"/>
          </a:xfrm>
          <a:prstGeom prst="roundRect">
            <a:avLst>
              <a:gd name="adj" fmla="val 14545"/>
            </a:avLst>
          </a:prstGeom>
          <a:solidFill>
            <a:srgbClr val="232B33"/>
          </a:solidFill>
          <a:ln w="9525">
            <a:solidFill>
              <a:srgbClr val="2E3842"/>
            </a:solidFill>
            <a:prstDash val="solid"/>
          </a:ln>
        </p:spPr>
      </p:sp>
      <p:sp>
        <p:nvSpPr>
          <p:cNvPr id="8" name="Text 5"/>
          <p:cNvSpPr txBox="1"/>
          <p:nvPr/>
        </p:nvSpPr>
        <p:spPr>
          <a:xfrm>
            <a:off x="457200" y="2331720"/>
            <a:ext cx="1188720" cy="502920"/>
          </a:xfrm>
          <a:prstGeom prst="rect">
            <a:avLst/>
          </a:prstGeom>
          <a:noFill/>
          <a:ln/>
        </p:spPr>
        <p:txBody>
          <a:bodyPr wrap="square" lIns="0" tIns="0" rIns="0" bIns="0" rtlCol="0" anchor="ctr"/>
          <a:lstStyle/>
          <a:p>
            <a:pPr algn="ctr" indent="0" marL="0">
              <a:buNone/>
            </a:pPr>
            <a:r>
              <a:rPr lang="en-US" sz="1200" b="1" dirty="0">
                <a:solidFill>
                  <a:srgbClr val="F3F5F7"/>
                </a:solidFill>
                <a:latin typeface="Calibri" pitchFamily="34" charset="0"/>
                <a:ea typeface="Calibri" pitchFamily="34" charset="-122"/>
                <a:cs typeface="Calibri" pitchFamily="34" charset="-120"/>
              </a:rPr>
              <a:t>Agent B</a:t>
            </a:r>
            <a:endParaRPr lang="en-US" sz="1200" dirty="0"/>
          </a:p>
        </p:txBody>
      </p:sp>
      <p:sp>
        <p:nvSpPr>
          <p:cNvPr id="9" name="Shape 6"/>
          <p:cNvSpPr/>
          <p:nvPr/>
        </p:nvSpPr>
        <p:spPr>
          <a:xfrm>
            <a:off x="457200" y="3108960"/>
            <a:ext cx="1188720" cy="502920"/>
          </a:xfrm>
          <a:prstGeom prst="roundRect">
            <a:avLst>
              <a:gd name="adj" fmla="val 14545"/>
            </a:avLst>
          </a:prstGeom>
          <a:solidFill>
            <a:srgbClr val="232B33"/>
          </a:solidFill>
          <a:ln w="9525">
            <a:solidFill>
              <a:srgbClr val="2E3842"/>
            </a:solidFill>
            <a:prstDash val="solid"/>
          </a:ln>
        </p:spPr>
      </p:sp>
      <p:sp>
        <p:nvSpPr>
          <p:cNvPr id="10" name="Text 7"/>
          <p:cNvSpPr txBox="1"/>
          <p:nvPr/>
        </p:nvSpPr>
        <p:spPr>
          <a:xfrm>
            <a:off x="457200" y="3108960"/>
            <a:ext cx="1188720" cy="502920"/>
          </a:xfrm>
          <a:prstGeom prst="rect">
            <a:avLst/>
          </a:prstGeom>
          <a:noFill/>
          <a:ln/>
        </p:spPr>
        <p:txBody>
          <a:bodyPr wrap="square" lIns="0" tIns="0" rIns="0" bIns="0" rtlCol="0" anchor="ctr"/>
          <a:lstStyle/>
          <a:p>
            <a:pPr algn="ctr" indent="0" marL="0">
              <a:buNone/>
            </a:pPr>
            <a:r>
              <a:rPr lang="en-US" sz="1200" b="1" dirty="0">
                <a:solidFill>
                  <a:srgbClr val="F3F5F7"/>
                </a:solidFill>
                <a:latin typeface="Calibri" pitchFamily="34" charset="0"/>
                <a:ea typeface="Calibri" pitchFamily="34" charset="-122"/>
                <a:cs typeface="Calibri" pitchFamily="34" charset="-120"/>
              </a:rPr>
              <a:t>Agent C</a:t>
            </a:r>
            <a:endParaRPr lang="en-US" sz="1200" dirty="0"/>
          </a:p>
        </p:txBody>
      </p:sp>
      <p:sp>
        <p:nvSpPr>
          <p:cNvPr id="11" name="Shape 8"/>
          <p:cNvSpPr/>
          <p:nvPr/>
        </p:nvSpPr>
        <p:spPr>
          <a:xfrm>
            <a:off x="2926080" y="1554480"/>
            <a:ext cx="1188720" cy="502920"/>
          </a:xfrm>
          <a:prstGeom prst="roundRect">
            <a:avLst>
              <a:gd name="adj" fmla="val 14545"/>
            </a:avLst>
          </a:prstGeom>
          <a:solidFill>
            <a:srgbClr val="232B33"/>
          </a:solidFill>
          <a:ln w="9525">
            <a:solidFill>
              <a:srgbClr val="2E3842"/>
            </a:solidFill>
            <a:prstDash val="solid"/>
          </a:ln>
        </p:spPr>
      </p:sp>
      <p:sp>
        <p:nvSpPr>
          <p:cNvPr id="12" name="Text 9"/>
          <p:cNvSpPr txBox="1"/>
          <p:nvPr/>
        </p:nvSpPr>
        <p:spPr>
          <a:xfrm>
            <a:off x="2926080" y="1554480"/>
            <a:ext cx="1188720" cy="502920"/>
          </a:xfrm>
          <a:prstGeom prst="rect">
            <a:avLst/>
          </a:prstGeom>
          <a:noFill/>
          <a:ln/>
        </p:spPr>
        <p:txBody>
          <a:bodyPr wrap="square" lIns="0" tIns="0" rIns="0" bIns="0" rtlCol="0" anchor="ctr"/>
          <a:lstStyle/>
          <a:p>
            <a:pPr algn="ctr" indent="0" marL="0">
              <a:buNone/>
            </a:pPr>
            <a:r>
              <a:rPr lang="en-US" sz="1200" b="1" dirty="0">
                <a:solidFill>
                  <a:srgbClr val="F3F5F7"/>
                </a:solidFill>
                <a:latin typeface="Calibri" pitchFamily="34" charset="0"/>
                <a:ea typeface="Calibri" pitchFamily="34" charset="-122"/>
                <a:cs typeface="Calibri" pitchFamily="34" charset="-120"/>
              </a:rPr>
              <a:t>ERP</a:t>
            </a:r>
            <a:endParaRPr lang="en-US" sz="1200" dirty="0"/>
          </a:p>
        </p:txBody>
      </p:sp>
      <p:sp>
        <p:nvSpPr>
          <p:cNvPr id="13" name="Shape 10"/>
          <p:cNvSpPr/>
          <p:nvPr/>
        </p:nvSpPr>
        <p:spPr>
          <a:xfrm>
            <a:off x="2926080" y="2331720"/>
            <a:ext cx="1188720" cy="502920"/>
          </a:xfrm>
          <a:prstGeom prst="roundRect">
            <a:avLst>
              <a:gd name="adj" fmla="val 14545"/>
            </a:avLst>
          </a:prstGeom>
          <a:solidFill>
            <a:srgbClr val="232B33"/>
          </a:solidFill>
          <a:ln w="9525">
            <a:solidFill>
              <a:srgbClr val="2E3842"/>
            </a:solidFill>
            <a:prstDash val="solid"/>
          </a:ln>
        </p:spPr>
      </p:sp>
      <p:sp>
        <p:nvSpPr>
          <p:cNvPr id="14" name="Text 11"/>
          <p:cNvSpPr txBox="1"/>
          <p:nvPr/>
        </p:nvSpPr>
        <p:spPr>
          <a:xfrm>
            <a:off x="2926080" y="2331720"/>
            <a:ext cx="1188720" cy="502920"/>
          </a:xfrm>
          <a:prstGeom prst="rect">
            <a:avLst/>
          </a:prstGeom>
          <a:noFill/>
          <a:ln/>
        </p:spPr>
        <p:txBody>
          <a:bodyPr wrap="square" lIns="0" tIns="0" rIns="0" bIns="0" rtlCol="0" anchor="ctr"/>
          <a:lstStyle/>
          <a:p>
            <a:pPr algn="ctr" indent="0" marL="0">
              <a:buNone/>
            </a:pPr>
            <a:r>
              <a:rPr lang="en-US" sz="1200" b="1" dirty="0">
                <a:solidFill>
                  <a:srgbClr val="F3F5F7"/>
                </a:solidFill>
                <a:latin typeface="Calibri" pitchFamily="34" charset="0"/>
                <a:ea typeface="Calibri" pitchFamily="34" charset="-122"/>
                <a:cs typeface="Calibri" pitchFamily="34" charset="-120"/>
              </a:rPr>
              <a:t>CRM</a:t>
            </a:r>
            <a:endParaRPr lang="en-US" sz="1200" dirty="0"/>
          </a:p>
        </p:txBody>
      </p:sp>
      <p:sp>
        <p:nvSpPr>
          <p:cNvPr id="15" name="Shape 12"/>
          <p:cNvSpPr/>
          <p:nvPr/>
        </p:nvSpPr>
        <p:spPr>
          <a:xfrm>
            <a:off x="2926080" y="3108960"/>
            <a:ext cx="1188720" cy="502920"/>
          </a:xfrm>
          <a:prstGeom prst="roundRect">
            <a:avLst>
              <a:gd name="adj" fmla="val 14545"/>
            </a:avLst>
          </a:prstGeom>
          <a:solidFill>
            <a:srgbClr val="232B33"/>
          </a:solidFill>
          <a:ln w="9525">
            <a:solidFill>
              <a:srgbClr val="2E3842"/>
            </a:solidFill>
            <a:prstDash val="solid"/>
          </a:ln>
        </p:spPr>
      </p:sp>
      <p:sp>
        <p:nvSpPr>
          <p:cNvPr id="16" name="Text 13"/>
          <p:cNvSpPr txBox="1"/>
          <p:nvPr/>
        </p:nvSpPr>
        <p:spPr>
          <a:xfrm>
            <a:off x="2926080" y="3108960"/>
            <a:ext cx="1188720" cy="502920"/>
          </a:xfrm>
          <a:prstGeom prst="rect">
            <a:avLst/>
          </a:prstGeom>
          <a:noFill/>
          <a:ln/>
        </p:spPr>
        <p:txBody>
          <a:bodyPr wrap="square" lIns="0" tIns="0" rIns="0" bIns="0" rtlCol="0" anchor="ctr"/>
          <a:lstStyle/>
          <a:p>
            <a:pPr algn="ctr" indent="0" marL="0">
              <a:buNone/>
            </a:pPr>
            <a:r>
              <a:rPr lang="en-US" sz="1200" b="1" dirty="0">
                <a:solidFill>
                  <a:srgbClr val="F3F5F7"/>
                </a:solidFill>
                <a:latin typeface="Calibri" pitchFamily="34" charset="0"/>
                <a:ea typeface="Calibri" pitchFamily="34" charset="-122"/>
                <a:cs typeface="Calibri" pitchFamily="34" charset="-120"/>
              </a:rPr>
              <a:t>OMS</a:t>
            </a:r>
            <a:endParaRPr lang="en-US" sz="1200" dirty="0"/>
          </a:p>
        </p:txBody>
      </p:sp>
      <p:sp>
        <p:nvSpPr>
          <p:cNvPr id="17" name="Shape 14"/>
          <p:cNvSpPr/>
          <p:nvPr/>
        </p:nvSpPr>
        <p:spPr>
          <a:xfrm>
            <a:off x="1645920" y="1805940"/>
            <a:ext cx="1280160" cy="0"/>
          </a:xfrm>
          <a:prstGeom prst="line">
            <a:avLst/>
          </a:prstGeom>
          <a:noFill/>
          <a:ln w="12700">
            <a:solidFill>
              <a:srgbClr val="E5533D"/>
            </a:solidFill>
            <a:prstDash val="solid"/>
          </a:ln>
        </p:spPr>
      </p:sp>
      <p:sp>
        <p:nvSpPr>
          <p:cNvPr id="18" name="Shape 15"/>
          <p:cNvSpPr/>
          <p:nvPr/>
        </p:nvSpPr>
        <p:spPr>
          <a:xfrm>
            <a:off x="1645920" y="1805940"/>
            <a:ext cx="1280160" cy="777240"/>
          </a:xfrm>
          <a:prstGeom prst="line">
            <a:avLst/>
          </a:prstGeom>
          <a:noFill/>
          <a:ln w="12700">
            <a:solidFill>
              <a:srgbClr val="E5533D"/>
            </a:solidFill>
            <a:prstDash val="solid"/>
          </a:ln>
        </p:spPr>
      </p:sp>
      <p:sp>
        <p:nvSpPr>
          <p:cNvPr id="19" name="Shape 16"/>
          <p:cNvSpPr/>
          <p:nvPr/>
        </p:nvSpPr>
        <p:spPr>
          <a:xfrm>
            <a:off x="1645920" y="1805940"/>
            <a:ext cx="1280160" cy="1554480"/>
          </a:xfrm>
          <a:prstGeom prst="line">
            <a:avLst/>
          </a:prstGeom>
          <a:noFill/>
          <a:ln w="12700">
            <a:solidFill>
              <a:srgbClr val="E5533D"/>
            </a:solidFill>
            <a:prstDash val="solid"/>
          </a:ln>
        </p:spPr>
      </p:sp>
      <p:sp>
        <p:nvSpPr>
          <p:cNvPr id="20" name="Shape 17"/>
          <p:cNvSpPr/>
          <p:nvPr/>
        </p:nvSpPr>
        <p:spPr>
          <a:xfrm flipV="1">
            <a:off x="1645920" y="1805940"/>
            <a:ext cx="1280160" cy="777240"/>
          </a:xfrm>
          <a:prstGeom prst="line">
            <a:avLst/>
          </a:prstGeom>
          <a:noFill/>
          <a:ln w="12700">
            <a:solidFill>
              <a:srgbClr val="E5533D"/>
            </a:solidFill>
            <a:prstDash val="solid"/>
          </a:ln>
        </p:spPr>
      </p:sp>
      <p:sp>
        <p:nvSpPr>
          <p:cNvPr id="21" name="Shape 18"/>
          <p:cNvSpPr/>
          <p:nvPr/>
        </p:nvSpPr>
        <p:spPr>
          <a:xfrm>
            <a:off x="1645920" y="2583180"/>
            <a:ext cx="1280160" cy="0"/>
          </a:xfrm>
          <a:prstGeom prst="line">
            <a:avLst/>
          </a:prstGeom>
          <a:noFill/>
          <a:ln w="12700">
            <a:solidFill>
              <a:srgbClr val="E5533D"/>
            </a:solidFill>
            <a:prstDash val="solid"/>
          </a:ln>
        </p:spPr>
      </p:sp>
      <p:sp>
        <p:nvSpPr>
          <p:cNvPr id="22" name="Shape 19"/>
          <p:cNvSpPr/>
          <p:nvPr/>
        </p:nvSpPr>
        <p:spPr>
          <a:xfrm>
            <a:off x="1645920" y="2583180"/>
            <a:ext cx="1280160" cy="777240"/>
          </a:xfrm>
          <a:prstGeom prst="line">
            <a:avLst/>
          </a:prstGeom>
          <a:noFill/>
          <a:ln w="12700">
            <a:solidFill>
              <a:srgbClr val="E5533D"/>
            </a:solidFill>
            <a:prstDash val="solid"/>
          </a:ln>
        </p:spPr>
      </p:sp>
      <p:sp>
        <p:nvSpPr>
          <p:cNvPr id="23" name="Shape 20"/>
          <p:cNvSpPr/>
          <p:nvPr/>
        </p:nvSpPr>
        <p:spPr>
          <a:xfrm flipV="1">
            <a:off x="1645920" y="1805940"/>
            <a:ext cx="1280160" cy="1554480"/>
          </a:xfrm>
          <a:prstGeom prst="line">
            <a:avLst/>
          </a:prstGeom>
          <a:noFill/>
          <a:ln w="12700">
            <a:solidFill>
              <a:srgbClr val="E5533D"/>
            </a:solidFill>
            <a:prstDash val="solid"/>
          </a:ln>
        </p:spPr>
      </p:sp>
      <p:sp>
        <p:nvSpPr>
          <p:cNvPr id="24" name="Shape 21"/>
          <p:cNvSpPr/>
          <p:nvPr/>
        </p:nvSpPr>
        <p:spPr>
          <a:xfrm flipV="1">
            <a:off x="1645920" y="2583180"/>
            <a:ext cx="1280160" cy="777240"/>
          </a:xfrm>
          <a:prstGeom prst="line">
            <a:avLst/>
          </a:prstGeom>
          <a:noFill/>
          <a:ln w="12700">
            <a:solidFill>
              <a:srgbClr val="E5533D"/>
            </a:solidFill>
            <a:prstDash val="solid"/>
          </a:ln>
        </p:spPr>
      </p:sp>
      <p:sp>
        <p:nvSpPr>
          <p:cNvPr id="25" name="Shape 22"/>
          <p:cNvSpPr/>
          <p:nvPr/>
        </p:nvSpPr>
        <p:spPr>
          <a:xfrm>
            <a:off x="1645920" y="3360420"/>
            <a:ext cx="1280160" cy="0"/>
          </a:xfrm>
          <a:prstGeom prst="line">
            <a:avLst/>
          </a:prstGeom>
          <a:noFill/>
          <a:ln w="12700">
            <a:solidFill>
              <a:srgbClr val="E5533D"/>
            </a:solidFill>
            <a:prstDash val="solid"/>
          </a:ln>
        </p:spPr>
      </p:sp>
      <p:sp>
        <p:nvSpPr>
          <p:cNvPr id="26" name="Text 23"/>
          <p:cNvSpPr txBox="1"/>
          <p:nvPr/>
        </p:nvSpPr>
        <p:spPr>
          <a:xfrm>
            <a:off x="457200" y="3931920"/>
            <a:ext cx="3657600" cy="274320"/>
          </a:xfrm>
          <a:prstGeom prst="rect">
            <a:avLst/>
          </a:prstGeom>
          <a:noFill/>
          <a:ln/>
        </p:spPr>
        <p:txBody>
          <a:bodyPr wrap="square" lIns="0" tIns="0" rIns="0" bIns="0" rtlCol="0" anchor="ctr"/>
          <a:lstStyle/>
          <a:p>
            <a:pPr indent="0" marL="0">
              <a:buNone/>
            </a:pPr>
            <a:r>
              <a:rPr lang="en-US" sz="1200" dirty="0">
                <a:solidFill>
                  <a:srgbClr val="9AA6B2"/>
                </a:solidFill>
                <a:latin typeface="Calibri" pitchFamily="34" charset="0"/>
                <a:ea typeface="Calibri" pitchFamily="34" charset="-122"/>
                <a:cs typeface="Calibri" pitchFamily="34" charset="-120"/>
              </a:rPr>
              <a:t>9 custom integrations</a:t>
            </a:r>
            <a:endParaRPr lang="en-US" sz="1200" dirty="0"/>
          </a:p>
        </p:txBody>
      </p:sp>
      <p:sp>
        <p:nvSpPr>
          <p:cNvPr id="27" name="Text 24"/>
          <p:cNvSpPr txBox="1"/>
          <p:nvPr/>
        </p:nvSpPr>
        <p:spPr>
          <a:xfrm>
            <a:off x="4846320" y="1188720"/>
            <a:ext cx="3657600" cy="274320"/>
          </a:xfrm>
          <a:prstGeom prst="rect">
            <a:avLst/>
          </a:prstGeom>
          <a:noFill/>
          <a:ln/>
        </p:spPr>
        <p:txBody>
          <a:bodyPr wrap="square" lIns="0" tIns="0" rIns="0" bIns="0" rtlCol="0" anchor="ctr"/>
          <a:lstStyle/>
          <a:p>
            <a:pPr indent="0" marL="0">
              <a:buNone/>
            </a:pPr>
            <a:r>
              <a:rPr lang="en-US" sz="1100" b="1" spc="200" kern="0" dirty="0">
                <a:solidFill>
                  <a:srgbClr val="4FB3BF"/>
                </a:solidFill>
                <a:latin typeface="Calibri" pitchFamily="34" charset="0"/>
                <a:ea typeface="Calibri" pitchFamily="34" charset="-122"/>
                <a:cs typeface="Calibri" pitchFamily="34" charset="-120"/>
              </a:rPr>
              <a:t>AFTER</a:t>
            </a:r>
            <a:endParaRPr lang="en-US" sz="1100" dirty="0"/>
          </a:p>
        </p:txBody>
      </p:sp>
      <p:sp>
        <p:nvSpPr>
          <p:cNvPr id="28" name="Shape 25"/>
          <p:cNvSpPr/>
          <p:nvPr/>
        </p:nvSpPr>
        <p:spPr>
          <a:xfrm>
            <a:off x="4846320" y="1554480"/>
            <a:ext cx="1097280" cy="502920"/>
          </a:xfrm>
          <a:prstGeom prst="roundRect">
            <a:avLst>
              <a:gd name="adj" fmla="val 14545"/>
            </a:avLst>
          </a:prstGeom>
          <a:solidFill>
            <a:srgbClr val="232B33"/>
          </a:solidFill>
          <a:ln w="9525">
            <a:solidFill>
              <a:srgbClr val="2E3842"/>
            </a:solidFill>
            <a:prstDash val="solid"/>
          </a:ln>
        </p:spPr>
      </p:sp>
      <p:sp>
        <p:nvSpPr>
          <p:cNvPr id="29" name="Text 26"/>
          <p:cNvSpPr txBox="1"/>
          <p:nvPr/>
        </p:nvSpPr>
        <p:spPr>
          <a:xfrm>
            <a:off x="4846320" y="1554480"/>
            <a:ext cx="1097280" cy="502920"/>
          </a:xfrm>
          <a:prstGeom prst="rect">
            <a:avLst/>
          </a:prstGeom>
          <a:noFill/>
          <a:ln/>
        </p:spPr>
        <p:txBody>
          <a:bodyPr wrap="square" lIns="0" tIns="0" rIns="0" bIns="0" rtlCol="0" anchor="ctr"/>
          <a:lstStyle/>
          <a:p>
            <a:pPr algn="ctr" indent="0" marL="0">
              <a:buNone/>
            </a:pPr>
            <a:r>
              <a:rPr lang="en-US" sz="1200" b="1" dirty="0">
                <a:solidFill>
                  <a:srgbClr val="F3F5F7"/>
                </a:solidFill>
                <a:latin typeface="Calibri" pitchFamily="34" charset="0"/>
                <a:ea typeface="Calibri" pitchFamily="34" charset="-122"/>
                <a:cs typeface="Calibri" pitchFamily="34" charset="-120"/>
              </a:rPr>
              <a:t>Agent A</a:t>
            </a:r>
            <a:endParaRPr lang="en-US" sz="1200" dirty="0"/>
          </a:p>
        </p:txBody>
      </p:sp>
      <p:sp>
        <p:nvSpPr>
          <p:cNvPr id="30" name="Shape 27"/>
          <p:cNvSpPr/>
          <p:nvPr/>
        </p:nvSpPr>
        <p:spPr>
          <a:xfrm>
            <a:off x="4846320" y="2331720"/>
            <a:ext cx="1097280" cy="502920"/>
          </a:xfrm>
          <a:prstGeom prst="roundRect">
            <a:avLst>
              <a:gd name="adj" fmla="val 14545"/>
            </a:avLst>
          </a:prstGeom>
          <a:solidFill>
            <a:srgbClr val="232B33"/>
          </a:solidFill>
          <a:ln w="9525">
            <a:solidFill>
              <a:srgbClr val="2E3842"/>
            </a:solidFill>
            <a:prstDash val="solid"/>
          </a:ln>
        </p:spPr>
      </p:sp>
      <p:sp>
        <p:nvSpPr>
          <p:cNvPr id="31" name="Text 28"/>
          <p:cNvSpPr txBox="1"/>
          <p:nvPr/>
        </p:nvSpPr>
        <p:spPr>
          <a:xfrm>
            <a:off x="4846320" y="2331720"/>
            <a:ext cx="1097280" cy="502920"/>
          </a:xfrm>
          <a:prstGeom prst="rect">
            <a:avLst/>
          </a:prstGeom>
          <a:noFill/>
          <a:ln/>
        </p:spPr>
        <p:txBody>
          <a:bodyPr wrap="square" lIns="0" tIns="0" rIns="0" bIns="0" rtlCol="0" anchor="ctr"/>
          <a:lstStyle/>
          <a:p>
            <a:pPr algn="ctr" indent="0" marL="0">
              <a:buNone/>
            </a:pPr>
            <a:r>
              <a:rPr lang="en-US" sz="1200" b="1" dirty="0">
                <a:solidFill>
                  <a:srgbClr val="F3F5F7"/>
                </a:solidFill>
                <a:latin typeface="Calibri" pitchFamily="34" charset="0"/>
                <a:ea typeface="Calibri" pitchFamily="34" charset="-122"/>
                <a:cs typeface="Calibri" pitchFamily="34" charset="-120"/>
              </a:rPr>
              <a:t>Agent B</a:t>
            </a:r>
            <a:endParaRPr lang="en-US" sz="1200" dirty="0"/>
          </a:p>
        </p:txBody>
      </p:sp>
      <p:sp>
        <p:nvSpPr>
          <p:cNvPr id="32" name="Shape 29"/>
          <p:cNvSpPr/>
          <p:nvPr/>
        </p:nvSpPr>
        <p:spPr>
          <a:xfrm>
            <a:off x="4846320" y="3108960"/>
            <a:ext cx="1097280" cy="502920"/>
          </a:xfrm>
          <a:prstGeom prst="roundRect">
            <a:avLst>
              <a:gd name="adj" fmla="val 14545"/>
            </a:avLst>
          </a:prstGeom>
          <a:solidFill>
            <a:srgbClr val="232B33"/>
          </a:solidFill>
          <a:ln w="9525">
            <a:solidFill>
              <a:srgbClr val="2E3842"/>
            </a:solidFill>
            <a:prstDash val="solid"/>
          </a:ln>
        </p:spPr>
      </p:sp>
      <p:sp>
        <p:nvSpPr>
          <p:cNvPr id="33" name="Text 30"/>
          <p:cNvSpPr txBox="1"/>
          <p:nvPr/>
        </p:nvSpPr>
        <p:spPr>
          <a:xfrm>
            <a:off x="4846320" y="3108960"/>
            <a:ext cx="1097280" cy="502920"/>
          </a:xfrm>
          <a:prstGeom prst="rect">
            <a:avLst/>
          </a:prstGeom>
          <a:noFill/>
          <a:ln/>
        </p:spPr>
        <p:txBody>
          <a:bodyPr wrap="square" lIns="0" tIns="0" rIns="0" bIns="0" rtlCol="0" anchor="ctr"/>
          <a:lstStyle/>
          <a:p>
            <a:pPr algn="ctr" indent="0" marL="0">
              <a:buNone/>
            </a:pPr>
            <a:r>
              <a:rPr lang="en-US" sz="1200" b="1" dirty="0">
                <a:solidFill>
                  <a:srgbClr val="F3F5F7"/>
                </a:solidFill>
                <a:latin typeface="Calibri" pitchFamily="34" charset="0"/>
                <a:ea typeface="Calibri" pitchFamily="34" charset="-122"/>
                <a:cs typeface="Calibri" pitchFamily="34" charset="-120"/>
              </a:rPr>
              <a:t>Agent C</a:t>
            </a:r>
            <a:endParaRPr lang="en-US" sz="1200" dirty="0"/>
          </a:p>
        </p:txBody>
      </p:sp>
      <p:sp>
        <p:nvSpPr>
          <p:cNvPr id="34" name="Shape 31"/>
          <p:cNvSpPr/>
          <p:nvPr/>
        </p:nvSpPr>
        <p:spPr>
          <a:xfrm>
            <a:off x="6309360" y="1554480"/>
            <a:ext cx="822960" cy="2057400"/>
          </a:xfrm>
          <a:prstGeom prst="roundRect">
            <a:avLst>
              <a:gd name="adj" fmla="val 8889"/>
            </a:avLst>
          </a:prstGeom>
          <a:solidFill>
            <a:srgbClr val="232B33"/>
          </a:solidFill>
          <a:ln w="19050">
            <a:solidFill>
              <a:srgbClr val="4FB3BF"/>
            </a:solidFill>
            <a:prstDash val="solid"/>
          </a:ln>
        </p:spPr>
      </p:sp>
      <p:sp>
        <p:nvSpPr>
          <p:cNvPr id="35" name="Text 32"/>
          <p:cNvSpPr txBox="1"/>
          <p:nvPr/>
        </p:nvSpPr>
        <p:spPr>
          <a:xfrm>
            <a:off x="6309360" y="1554480"/>
            <a:ext cx="822960" cy="2057400"/>
          </a:xfrm>
          <a:prstGeom prst="rect">
            <a:avLst/>
          </a:prstGeom>
          <a:noFill/>
          <a:ln/>
        </p:spPr>
        <p:txBody>
          <a:bodyPr wrap="square" lIns="0" tIns="0" rIns="0" bIns="0" rtlCol="0" anchor="ctr"/>
          <a:lstStyle/>
          <a:p>
            <a:pPr algn="ctr" indent="0" marL="0">
              <a:buNone/>
            </a:pPr>
            <a:r>
              <a:rPr lang="en-US" sz="1400" b="1" dirty="0">
                <a:solidFill>
                  <a:srgbClr val="4FB3BF"/>
                </a:solidFill>
                <a:latin typeface="Cambria" pitchFamily="34" charset="0"/>
                <a:ea typeface="Cambria" pitchFamily="34" charset="-122"/>
                <a:cs typeface="Cambria" pitchFamily="34" charset="-120"/>
              </a:rPr>
              <a:t>MCP</a:t>
            </a:r>
            <a:endParaRPr lang="en-US" sz="1400" dirty="0"/>
          </a:p>
        </p:txBody>
      </p:sp>
      <p:sp>
        <p:nvSpPr>
          <p:cNvPr id="36" name="Shape 33"/>
          <p:cNvSpPr/>
          <p:nvPr/>
        </p:nvSpPr>
        <p:spPr>
          <a:xfrm>
            <a:off x="7498080" y="1554480"/>
            <a:ext cx="1188720" cy="502920"/>
          </a:xfrm>
          <a:prstGeom prst="roundRect">
            <a:avLst>
              <a:gd name="adj" fmla="val 14545"/>
            </a:avLst>
          </a:prstGeom>
          <a:solidFill>
            <a:srgbClr val="232B33"/>
          </a:solidFill>
          <a:ln w="9525">
            <a:solidFill>
              <a:srgbClr val="2E3842"/>
            </a:solidFill>
            <a:prstDash val="solid"/>
          </a:ln>
        </p:spPr>
      </p:sp>
      <p:sp>
        <p:nvSpPr>
          <p:cNvPr id="37" name="Text 34"/>
          <p:cNvSpPr txBox="1"/>
          <p:nvPr/>
        </p:nvSpPr>
        <p:spPr>
          <a:xfrm>
            <a:off x="7498080" y="1554480"/>
            <a:ext cx="1188720" cy="502920"/>
          </a:xfrm>
          <a:prstGeom prst="rect">
            <a:avLst/>
          </a:prstGeom>
          <a:noFill/>
          <a:ln/>
        </p:spPr>
        <p:txBody>
          <a:bodyPr wrap="square" lIns="0" tIns="0" rIns="0" bIns="0" rtlCol="0" anchor="ctr"/>
          <a:lstStyle/>
          <a:p>
            <a:pPr algn="ctr" indent="0" marL="0">
              <a:buNone/>
            </a:pPr>
            <a:r>
              <a:rPr lang="en-US" sz="1100" b="1" dirty="0">
                <a:solidFill>
                  <a:srgbClr val="F3F5F7"/>
                </a:solidFill>
                <a:latin typeface="Calibri" pitchFamily="34" charset="0"/>
                <a:ea typeface="Calibri" pitchFamily="34" charset="-122"/>
                <a:cs typeface="Calibri" pitchFamily="34" charset="-120"/>
              </a:rPr>
              <a:t>ERP server</a:t>
            </a:r>
            <a:endParaRPr lang="en-US" sz="1100" dirty="0"/>
          </a:p>
        </p:txBody>
      </p:sp>
      <p:sp>
        <p:nvSpPr>
          <p:cNvPr id="38" name="Shape 35"/>
          <p:cNvSpPr/>
          <p:nvPr/>
        </p:nvSpPr>
        <p:spPr>
          <a:xfrm>
            <a:off x="7498080" y="2331720"/>
            <a:ext cx="1188720" cy="502920"/>
          </a:xfrm>
          <a:prstGeom prst="roundRect">
            <a:avLst>
              <a:gd name="adj" fmla="val 14545"/>
            </a:avLst>
          </a:prstGeom>
          <a:solidFill>
            <a:srgbClr val="232B33"/>
          </a:solidFill>
          <a:ln w="9525">
            <a:solidFill>
              <a:srgbClr val="2E3842"/>
            </a:solidFill>
            <a:prstDash val="solid"/>
          </a:ln>
        </p:spPr>
      </p:sp>
      <p:sp>
        <p:nvSpPr>
          <p:cNvPr id="39" name="Text 36"/>
          <p:cNvSpPr txBox="1"/>
          <p:nvPr/>
        </p:nvSpPr>
        <p:spPr>
          <a:xfrm>
            <a:off x="7498080" y="2331720"/>
            <a:ext cx="1188720" cy="502920"/>
          </a:xfrm>
          <a:prstGeom prst="rect">
            <a:avLst/>
          </a:prstGeom>
          <a:noFill/>
          <a:ln/>
        </p:spPr>
        <p:txBody>
          <a:bodyPr wrap="square" lIns="0" tIns="0" rIns="0" bIns="0" rtlCol="0" anchor="ctr"/>
          <a:lstStyle/>
          <a:p>
            <a:pPr algn="ctr" indent="0" marL="0">
              <a:buNone/>
            </a:pPr>
            <a:r>
              <a:rPr lang="en-US" sz="1100" b="1" dirty="0">
                <a:solidFill>
                  <a:srgbClr val="F3F5F7"/>
                </a:solidFill>
                <a:latin typeface="Calibri" pitchFamily="34" charset="0"/>
                <a:ea typeface="Calibri" pitchFamily="34" charset="-122"/>
                <a:cs typeface="Calibri" pitchFamily="34" charset="-120"/>
              </a:rPr>
              <a:t>CRM server</a:t>
            </a:r>
            <a:endParaRPr lang="en-US" sz="1100" dirty="0"/>
          </a:p>
        </p:txBody>
      </p:sp>
      <p:sp>
        <p:nvSpPr>
          <p:cNvPr id="40" name="Shape 37"/>
          <p:cNvSpPr/>
          <p:nvPr/>
        </p:nvSpPr>
        <p:spPr>
          <a:xfrm>
            <a:off x="7498080" y="3108960"/>
            <a:ext cx="1188720" cy="502920"/>
          </a:xfrm>
          <a:prstGeom prst="roundRect">
            <a:avLst>
              <a:gd name="adj" fmla="val 14545"/>
            </a:avLst>
          </a:prstGeom>
          <a:solidFill>
            <a:srgbClr val="232B33"/>
          </a:solidFill>
          <a:ln w="9525">
            <a:solidFill>
              <a:srgbClr val="2E3842"/>
            </a:solidFill>
            <a:prstDash val="solid"/>
          </a:ln>
        </p:spPr>
      </p:sp>
      <p:sp>
        <p:nvSpPr>
          <p:cNvPr id="41" name="Text 38"/>
          <p:cNvSpPr txBox="1"/>
          <p:nvPr/>
        </p:nvSpPr>
        <p:spPr>
          <a:xfrm>
            <a:off x="7498080" y="3108960"/>
            <a:ext cx="1188720" cy="502920"/>
          </a:xfrm>
          <a:prstGeom prst="rect">
            <a:avLst/>
          </a:prstGeom>
          <a:noFill/>
          <a:ln/>
        </p:spPr>
        <p:txBody>
          <a:bodyPr wrap="square" lIns="0" tIns="0" rIns="0" bIns="0" rtlCol="0" anchor="ctr"/>
          <a:lstStyle/>
          <a:p>
            <a:pPr algn="ctr" indent="0" marL="0">
              <a:buNone/>
            </a:pPr>
            <a:r>
              <a:rPr lang="en-US" sz="1100" b="1" dirty="0">
                <a:solidFill>
                  <a:srgbClr val="F3F5F7"/>
                </a:solidFill>
                <a:latin typeface="Calibri" pitchFamily="34" charset="0"/>
                <a:ea typeface="Calibri" pitchFamily="34" charset="-122"/>
                <a:cs typeface="Calibri" pitchFamily="34" charset="-120"/>
              </a:rPr>
              <a:t>OMS server</a:t>
            </a:r>
            <a:endParaRPr lang="en-US" sz="1100" dirty="0"/>
          </a:p>
        </p:txBody>
      </p:sp>
      <p:sp>
        <p:nvSpPr>
          <p:cNvPr id="42" name="Shape 39"/>
          <p:cNvSpPr/>
          <p:nvPr/>
        </p:nvSpPr>
        <p:spPr>
          <a:xfrm>
            <a:off x="5943600" y="1805940"/>
            <a:ext cx="365760" cy="0"/>
          </a:xfrm>
          <a:prstGeom prst="line">
            <a:avLst/>
          </a:prstGeom>
          <a:noFill/>
          <a:ln w="12700">
            <a:solidFill>
              <a:srgbClr val="4FB3BF"/>
            </a:solidFill>
            <a:prstDash val="solid"/>
          </a:ln>
        </p:spPr>
      </p:sp>
      <p:sp>
        <p:nvSpPr>
          <p:cNvPr id="43" name="Shape 40"/>
          <p:cNvSpPr/>
          <p:nvPr/>
        </p:nvSpPr>
        <p:spPr>
          <a:xfrm>
            <a:off x="7132320" y="1805940"/>
            <a:ext cx="365760" cy="0"/>
          </a:xfrm>
          <a:prstGeom prst="line">
            <a:avLst/>
          </a:prstGeom>
          <a:noFill/>
          <a:ln w="12700">
            <a:solidFill>
              <a:srgbClr val="4FB3BF"/>
            </a:solidFill>
            <a:prstDash val="solid"/>
          </a:ln>
        </p:spPr>
      </p:sp>
      <p:sp>
        <p:nvSpPr>
          <p:cNvPr id="44" name="Shape 41"/>
          <p:cNvSpPr/>
          <p:nvPr/>
        </p:nvSpPr>
        <p:spPr>
          <a:xfrm>
            <a:off x="5943600" y="2583180"/>
            <a:ext cx="365760" cy="0"/>
          </a:xfrm>
          <a:prstGeom prst="line">
            <a:avLst/>
          </a:prstGeom>
          <a:noFill/>
          <a:ln w="12700">
            <a:solidFill>
              <a:srgbClr val="4FB3BF"/>
            </a:solidFill>
            <a:prstDash val="solid"/>
          </a:ln>
        </p:spPr>
      </p:sp>
      <p:sp>
        <p:nvSpPr>
          <p:cNvPr id="45" name="Shape 42"/>
          <p:cNvSpPr/>
          <p:nvPr/>
        </p:nvSpPr>
        <p:spPr>
          <a:xfrm>
            <a:off x="7132320" y="2583180"/>
            <a:ext cx="365760" cy="0"/>
          </a:xfrm>
          <a:prstGeom prst="line">
            <a:avLst/>
          </a:prstGeom>
          <a:noFill/>
          <a:ln w="12700">
            <a:solidFill>
              <a:srgbClr val="4FB3BF"/>
            </a:solidFill>
            <a:prstDash val="solid"/>
          </a:ln>
        </p:spPr>
      </p:sp>
      <p:sp>
        <p:nvSpPr>
          <p:cNvPr id="46" name="Shape 43"/>
          <p:cNvSpPr/>
          <p:nvPr/>
        </p:nvSpPr>
        <p:spPr>
          <a:xfrm>
            <a:off x="5943600" y="3360420"/>
            <a:ext cx="365760" cy="0"/>
          </a:xfrm>
          <a:prstGeom prst="line">
            <a:avLst/>
          </a:prstGeom>
          <a:noFill/>
          <a:ln w="12700">
            <a:solidFill>
              <a:srgbClr val="4FB3BF"/>
            </a:solidFill>
            <a:prstDash val="solid"/>
          </a:ln>
        </p:spPr>
      </p:sp>
      <p:sp>
        <p:nvSpPr>
          <p:cNvPr id="47" name="Shape 44"/>
          <p:cNvSpPr/>
          <p:nvPr/>
        </p:nvSpPr>
        <p:spPr>
          <a:xfrm>
            <a:off x="7132320" y="3360420"/>
            <a:ext cx="365760" cy="0"/>
          </a:xfrm>
          <a:prstGeom prst="line">
            <a:avLst/>
          </a:prstGeom>
          <a:noFill/>
          <a:ln w="12700">
            <a:solidFill>
              <a:srgbClr val="4FB3BF"/>
            </a:solidFill>
            <a:prstDash val="solid"/>
          </a:ln>
        </p:spPr>
      </p:sp>
      <p:sp>
        <p:nvSpPr>
          <p:cNvPr id="48" name="Text 45"/>
          <p:cNvSpPr txBox="1"/>
          <p:nvPr/>
        </p:nvSpPr>
        <p:spPr>
          <a:xfrm>
            <a:off x="4846320" y="3931920"/>
            <a:ext cx="3657600" cy="274320"/>
          </a:xfrm>
          <a:prstGeom prst="rect">
            <a:avLst/>
          </a:prstGeom>
          <a:noFill/>
          <a:ln/>
        </p:spPr>
        <p:txBody>
          <a:bodyPr wrap="square" lIns="0" tIns="0" rIns="0" bIns="0" rtlCol="0" anchor="ctr"/>
          <a:lstStyle/>
          <a:p>
            <a:pPr indent="0" marL="0">
              <a:buNone/>
            </a:pPr>
            <a:r>
              <a:rPr lang="en-US" sz="1200" dirty="0">
                <a:solidFill>
                  <a:srgbClr val="9AA6B2"/>
                </a:solidFill>
                <a:latin typeface="Calibri" pitchFamily="34" charset="0"/>
                <a:ea typeface="Calibri" pitchFamily="34" charset="-122"/>
                <a:cs typeface="Calibri" pitchFamily="34" charset="-120"/>
              </a:rPr>
              <a:t>3 servers, any client</a:t>
            </a:r>
            <a:endParaRPr lang="en-US" sz="1200" dirty="0"/>
          </a:p>
        </p:txBody>
      </p:sp>
      <p:sp>
        <p:nvSpPr>
          <p:cNvPr id="49" name="Text 46"/>
          <p:cNvSpPr txBox="1"/>
          <p:nvPr/>
        </p:nvSpPr>
        <p:spPr>
          <a:xfrm>
            <a:off x="457200" y="4709160"/>
            <a:ext cx="5486400" cy="274320"/>
          </a:xfrm>
          <a:prstGeom prst="rect">
            <a:avLst/>
          </a:prstGeom>
          <a:noFill/>
          <a:ln/>
        </p:spPr>
        <p:txBody>
          <a:bodyPr wrap="square" lIns="0" tIns="0" rIns="0" bIns="0" rtlCol="0" anchor="ctr"/>
          <a:lstStyle/>
          <a:p>
            <a:pPr indent="0" marL="0">
              <a:buNone/>
            </a:pPr>
            <a:r>
              <a:rPr lang="en-US" sz="1000" dirty="0">
                <a:solidFill>
                  <a:srgbClr val="9AA6B2"/>
                </a:solidFill>
                <a:latin typeface="Calibri" pitchFamily="34" charset="0"/>
                <a:ea typeface="Calibri" pitchFamily="34" charset="-122"/>
                <a:cs typeface="Calibri" pitchFamily="34" charset="-120"/>
              </a:rPr>
              <a:t>MCP is USB-C for tools: one plug, any device.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316"/>
        </a:solidFill>
      </p:bgPr>
    </p:bg>
    <p:spTree>
      <p:nvGrpSpPr>
        <p:cNvPr id="1" name=""/>
        <p:cNvGrpSpPr/>
        <p:nvPr/>
      </p:nvGrpSpPr>
      <p:grpSpPr>
        <a:xfrm>
          <a:off x="0" y="0"/>
          <a:ext cx="0" cy="0"/>
          <a:chOff x="0" y="0"/>
          <a:chExt cx="0" cy="0"/>
        </a:xfrm>
      </p:grpSpPr>
      <p:sp>
        <p:nvSpPr>
          <p:cNvPr id="3"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F3F5F7"/>
                </a:solidFill>
                <a:latin typeface="Cambria" pitchFamily="34" charset="0"/>
                <a:ea typeface="Cambria" pitchFamily="34" charset="-122"/>
                <a:cs typeface="Cambria" pitchFamily="34" charset="-120"/>
              </a:rPr>
              <a:t>What MCP is</a:t>
            </a:r>
            <a:endParaRPr lang="en-US" sz="3000" dirty="0"/>
          </a:p>
        </p:txBody>
      </p:sp>
      <p:sp>
        <p:nvSpPr>
          <p:cNvPr id="4" name="Shape 1"/>
          <p:cNvSpPr/>
          <p:nvPr/>
        </p:nvSpPr>
        <p:spPr>
          <a:xfrm>
            <a:off x="457200" y="1280160"/>
            <a:ext cx="2194560" cy="1005840"/>
          </a:xfrm>
          <a:prstGeom prst="roundRect">
            <a:avLst>
              <a:gd name="adj" fmla="val 7273"/>
            </a:avLst>
          </a:prstGeom>
          <a:solidFill>
            <a:srgbClr val="232B33"/>
          </a:solidFill>
          <a:ln w="9525">
            <a:solidFill>
              <a:srgbClr val="2E3842"/>
            </a:solidFill>
            <a:prstDash val="solid"/>
          </a:ln>
        </p:spPr>
      </p:sp>
      <p:sp>
        <p:nvSpPr>
          <p:cNvPr id="5" name="Text 2"/>
          <p:cNvSpPr txBox="1"/>
          <p:nvPr/>
        </p:nvSpPr>
        <p:spPr>
          <a:xfrm>
            <a:off x="457200" y="1280160"/>
            <a:ext cx="2194560" cy="1005840"/>
          </a:xfrm>
          <a:prstGeom prst="rect">
            <a:avLst/>
          </a:prstGeom>
          <a:noFill/>
          <a:ln/>
        </p:spPr>
        <p:txBody>
          <a:bodyPr wrap="square" lIns="0" tIns="0" rIns="0" bIns="0" rtlCol="0" anchor="ctr"/>
          <a:lstStyle/>
          <a:p>
            <a:pPr algn="ctr" indent="0" marL="0">
              <a:buNone/>
            </a:pPr>
            <a:r>
              <a:rPr lang="en-US" sz="1200" b="1" dirty="0">
                <a:solidFill>
                  <a:srgbClr val="F3F5F7"/>
                </a:solidFill>
                <a:latin typeface="Calibri" pitchFamily="34" charset="0"/>
                <a:ea typeface="Calibri" pitchFamily="34" charset="-122"/>
                <a:cs typeface="Calibri" pitchFamily="34" charset="-120"/>
              </a:rPr>
              <a:t>MCP client</a:t>
            </a:r>
            <a:endParaRPr lang="en-US" sz="1200" dirty="0"/>
          </a:p>
          <a:p>
            <a:pPr algn="ctr" indent="0" marL="0">
              <a:buNone/>
            </a:pPr>
            <a:r>
              <a:rPr lang="en-US" sz="1200" b="1" dirty="0">
                <a:solidFill>
                  <a:srgbClr val="F3F5F7"/>
                </a:solidFill>
                <a:latin typeface="Calibri" pitchFamily="34" charset="0"/>
                <a:ea typeface="Calibri" pitchFamily="34" charset="-122"/>
                <a:cs typeface="Calibri" pitchFamily="34" charset="-120"/>
              </a:rPr>
              <a:t>(Claude, Cursor, your agent)</a:t>
            </a:r>
            <a:endParaRPr lang="en-US" sz="1200" dirty="0"/>
          </a:p>
        </p:txBody>
      </p:sp>
      <p:sp>
        <p:nvSpPr>
          <p:cNvPr id="6" name="Shape 3"/>
          <p:cNvSpPr/>
          <p:nvPr/>
        </p:nvSpPr>
        <p:spPr>
          <a:xfrm>
            <a:off x="2651760" y="1783080"/>
            <a:ext cx="1371600" cy="0"/>
          </a:xfrm>
          <a:prstGeom prst="line">
            <a:avLst/>
          </a:prstGeom>
          <a:noFill/>
          <a:ln w="19050">
            <a:solidFill>
              <a:srgbClr val="F5A623"/>
            </a:solidFill>
            <a:prstDash val="solid"/>
            <a:headEnd type="triangle"/>
            <a:tailEnd type="triangle"/>
          </a:ln>
        </p:spPr>
      </p:sp>
      <p:sp>
        <p:nvSpPr>
          <p:cNvPr id="7" name="Text 4"/>
          <p:cNvSpPr txBox="1"/>
          <p:nvPr/>
        </p:nvSpPr>
        <p:spPr>
          <a:xfrm>
            <a:off x="2651760" y="1417320"/>
            <a:ext cx="1371600" cy="274320"/>
          </a:xfrm>
          <a:prstGeom prst="rect">
            <a:avLst/>
          </a:prstGeom>
          <a:noFill/>
          <a:ln/>
        </p:spPr>
        <p:txBody>
          <a:bodyPr wrap="square" lIns="0" tIns="0" rIns="0" bIns="0" rtlCol="0" anchor="ctr"/>
          <a:lstStyle/>
          <a:p>
            <a:pPr algn="ctr" indent="0" marL="0">
              <a:buNone/>
            </a:pPr>
            <a:r>
              <a:rPr lang="en-US" sz="1000" dirty="0">
                <a:solidFill>
                  <a:srgbClr val="F5A623"/>
                </a:solidFill>
                <a:latin typeface="Courier New" pitchFamily="34" charset="0"/>
                <a:ea typeface="Courier New" pitchFamily="34" charset="-122"/>
                <a:cs typeface="Courier New" pitchFamily="34" charset="-120"/>
              </a:rPr>
              <a:t>JSON-RPC 2.0</a:t>
            </a:r>
            <a:endParaRPr lang="en-US" sz="1000" dirty="0"/>
          </a:p>
        </p:txBody>
      </p:sp>
      <p:sp>
        <p:nvSpPr>
          <p:cNvPr id="8" name="Text 5"/>
          <p:cNvSpPr txBox="1"/>
          <p:nvPr/>
        </p:nvSpPr>
        <p:spPr>
          <a:xfrm>
            <a:off x="2560320" y="1874520"/>
            <a:ext cx="1554480" cy="274320"/>
          </a:xfrm>
          <a:prstGeom prst="rect">
            <a:avLst/>
          </a:prstGeom>
          <a:noFill/>
          <a:ln/>
        </p:spPr>
        <p:txBody>
          <a:bodyPr wrap="square" lIns="0" tIns="0" rIns="0" bIns="0" rtlCol="0" anchor="ctr"/>
          <a:lstStyle/>
          <a:p>
            <a:pPr algn="ctr" indent="0" marL="0">
              <a:buNone/>
            </a:pPr>
            <a:r>
              <a:rPr lang="en-US" sz="1000" dirty="0">
                <a:solidFill>
                  <a:srgbClr val="9AA6B2"/>
                </a:solidFill>
                <a:latin typeface="Calibri" pitchFamily="34" charset="0"/>
                <a:ea typeface="Calibri" pitchFamily="34" charset="-122"/>
                <a:cs typeface="Calibri" pitchFamily="34" charset="-120"/>
              </a:rPr>
              <a:t>stdio · Streamable HTTP</a:t>
            </a:r>
            <a:endParaRPr lang="en-US" sz="1000" dirty="0"/>
          </a:p>
        </p:txBody>
      </p:sp>
      <p:sp>
        <p:nvSpPr>
          <p:cNvPr id="9" name="Shape 6"/>
          <p:cNvSpPr/>
          <p:nvPr/>
        </p:nvSpPr>
        <p:spPr>
          <a:xfrm>
            <a:off x="4023360" y="1280160"/>
            <a:ext cx="2194560" cy="1005840"/>
          </a:xfrm>
          <a:prstGeom prst="roundRect">
            <a:avLst>
              <a:gd name="adj" fmla="val 7273"/>
            </a:avLst>
          </a:prstGeom>
          <a:solidFill>
            <a:srgbClr val="232B33"/>
          </a:solidFill>
          <a:ln w="9525">
            <a:solidFill>
              <a:srgbClr val="2E3842"/>
            </a:solidFill>
            <a:prstDash val="solid"/>
          </a:ln>
        </p:spPr>
      </p:sp>
      <p:sp>
        <p:nvSpPr>
          <p:cNvPr id="10" name="Text 7"/>
          <p:cNvSpPr txBox="1"/>
          <p:nvPr/>
        </p:nvSpPr>
        <p:spPr>
          <a:xfrm>
            <a:off x="4023360" y="1280160"/>
            <a:ext cx="2194560" cy="1005840"/>
          </a:xfrm>
          <a:prstGeom prst="rect">
            <a:avLst/>
          </a:prstGeom>
          <a:noFill/>
          <a:ln/>
        </p:spPr>
        <p:txBody>
          <a:bodyPr wrap="square" lIns="0" tIns="0" rIns="0" bIns="0" rtlCol="0" anchor="ctr"/>
          <a:lstStyle/>
          <a:p>
            <a:pPr algn="ctr" indent="0" marL="0">
              <a:buNone/>
            </a:pPr>
            <a:r>
              <a:rPr lang="en-US" sz="1200" b="1" dirty="0">
                <a:solidFill>
                  <a:srgbClr val="F3F5F7"/>
                </a:solidFill>
                <a:latin typeface="Calibri" pitchFamily="34" charset="0"/>
                <a:ea typeface="Calibri" pitchFamily="34" charset="-122"/>
                <a:cs typeface="Calibri" pitchFamily="34" charset="-120"/>
              </a:rPr>
              <a:t>MCP server</a:t>
            </a:r>
            <a:endParaRPr lang="en-US" sz="1200" dirty="0"/>
          </a:p>
          <a:p>
            <a:pPr algn="ctr" indent="0" marL="0">
              <a:buNone/>
            </a:pPr>
            <a:r>
              <a:rPr lang="en-US" sz="1200" b="1" dirty="0">
                <a:solidFill>
                  <a:srgbClr val="F3F5F7"/>
                </a:solidFill>
                <a:latin typeface="Calibri" pitchFamily="34" charset="0"/>
                <a:ea typeface="Calibri" pitchFamily="34" charset="-122"/>
                <a:cs typeface="Calibri" pitchFamily="34" charset="-120"/>
              </a:rPr>
              <a:t>(one per system)</a:t>
            </a:r>
            <a:endParaRPr lang="en-US" sz="1200" dirty="0"/>
          </a:p>
        </p:txBody>
      </p:sp>
      <p:sp>
        <p:nvSpPr>
          <p:cNvPr id="11" name="Shape 8"/>
          <p:cNvSpPr/>
          <p:nvPr/>
        </p:nvSpPr>
        <p:spPr>
          <a:xfrm>
            <a:off x="6217920" y="1783080"/>
            <a:ext cx="548640" cy="0"/>
          </a:xfrm>
          <a:prstGeom prst="line">
            <a:avLst/>
          </a:prstGeom>
          <a:noFill/>
          <a:ln w="19050">
            <a:solidFill>
              <a:srgbClr val="2E3842"/>
            </a:solidFill>
            <a:prstDash val="solid"/>
            <a:tailEnd type="triangle"/>
          </a:ln>
        </p:spPr>
      </p:sp>
      <p:sp>
        <p:nvSpPr>
          <p:cNvPr id="12" name="Shape 9"/>
          <p:cNvSpPr/>
          <p:nvPr/>
        </p:nvSpPr>
        <p:spPr>
          <a:xfrm>
            <a:off x="6766560" y="1280160"/>
            <a:ext cx="1920240" cy="1005840"/>
          </a:xfrm>
          <a:prstGeom prst="roundRect">
            <a:avLst>
              <a:gd name="adj" fmla="val 7273"/>
            </a:avLst>
          </a:prstGeom>
          <a:solidFill>
            <a:srgbClr val="1B2127"/>
          </a:solidFill>
          <a:ln w="9525">
            <a:solidFill>
              <a:srgbClr val="2E3842"/>
            </a:solidFill>
            <a:prstDash val="solid"/>
          </a:ln>
        </p:spPr>
      </p:sp>
      <p:sp>
        <p:nvSpPr>
          <p:cNvPr id="13" name="Text 10"/>
          <p:cNvSpPr txBox="1"/>
          <p:nvPr/>
        </p:nvSpPr>
        <p:spPr>
          <a:xfrm>
            <a:off x="6766560" y="1280160"/>
            <a:ext cx="1920240" cy="1005840"/>
          </a:xfrm>
          <a:prstGeom prst="rect">
            <a:avLst/>
          </a:prstGeom>
          <a:noFill/>
          <a:ln/>
        </p:spPr>
        <p:txBody>
          <a:bodyPr wrap="square" lIns="0" tIns="0" rIns="0" bIns="0" rtlCol="0" anchor="ctr"/>
          <a:lstStyle/>
          <a:p>
            <a:pPr algn="ctr" indent="0" marL="0">
              <a:buNone/>
            </a:pPr>
            <a:r>
              <a:rPr lang="en-US" sz="1200" dirty="0">
                <a:solidFill>
                  <a:srgbClr val="9AA6B2"/>
                </a:solidFill>
                <a:latin typeface="Calibri" pitchFamily="34" charset="0"/>
                <a:ea typeface="Calibri" pitchFamily="34" charset="-122"/>
                <a:cs typeface="Calibri" pitchFamily="34" charset="-120"/>
              </a:rPr>
              <a:t>Your data source</a:t>
            </a:r>
            <a:endParaRPr lang="en-US" sz="1200" dirty="0"/>
          </a:p>
          <a:p>
            <a:pPr algn="ctr" indent="0" marL="0">
              <a:buNone/>
            </a:pPr>
            <a:r>
              <a:rPr lang="en-US" sz="1200" dirty="0">
                <a:solidFill>
                  <a:srgbClr val="9AA6B2"/>
                </a:solidFill>
                <a:latin typeface="Calibri" pitchFamily="34" charset="0"/>
                <a:ea typeface="Calibri" pitchFamily="34" charset="-122"/>
                <a:cs typeface="Calibri" pitchFamily="34" charset="-120"/>
              </a:rPr>
              <a:t>(DB, API, files)</a:t>
            </a:r>
            <a:endParaRPr lang="en-US" sz="1200" dirty="0"/>
          </a:p>
        </p:txBody>
      </p:sp>
      <p:sp>
        <p:nvSpPr>
          <p:cNvPr id="14" name="Text 11"/>
          <p:cNvSpPr txBox="1"/>
          <p:nvPr/>
        </p:nvSpPr>
        <p:spPr>
          <a:xfrm>
            <a:off x="457200" y="2560320"/>
            <a:ext cx="8229600" cy="274320"/>
          </a:xfrm>
          <a:prstGeom prst="rect">
            <a:avLst/>
          </a:prstGeom>
          <a:noFill/>
          <a:ln/>
        </p:spPr>
        <p:txBody>
          <a:bodyPr wrap="square" lIns="0" tIns="0" rIns="0" bIns="0" rtlCol="0" anchor="ctr"/>
          <a:lstStyle/>
          <a:p>
            <a:pPr indent="0" marL="0">
              <a:buNone/>
            </a:pPr>
            <a:r>
              <a:rPr lang="en-US" sz="1100" spc="200" kern="0" dirty="0">
                <a:solidFill>
                  <a:srgbClr val="F5A623"/>
                </a:solidFill>
                <a:latin typeface="Calibri" pitchFamily="34" charset="0"/>
                <a:ea typeface="Calibri" pitchFamily="34" charset="-122"/>
                <a:cs typeface="Calibri" pitchFamily="34" charset="-120"/>
              </a:rPr>
              <a:t>A SERVER EXPOSES THREE THINGS</a:t>
            </a:r>
            <a:endParaRPr lang="en-US" sz="1100" dirty="0"/>
          </a:p>
        </p:txBody>
      </p:sp>
      <p:sp>
        <p:nvSpPr>
          <p:cNvPr id="15" name="Shape 12"/>
          <p:cNvSpPr/>
          <p:nvPr/>
        </p:nvSpPr>
        <p:spPr>
          <a:xfrm>
            <a:off x="457200" y="2926080"/>
            <a:ext cx="2606040" cy="1417320"/>
          </a:xfrm>
          <a:prstGeom prst="roundRect">
            <a:avLst>
              <a:gd name="adj" fmla="val 5161"/>
            </a:avLst>
          </a:prstGeom>
          <a:solidFill>
            <a:srgbClr val="232B33"/>
          </a:solidFill>
          <a:ln w="9525">
            <a:solidFill>
              <a:srgbClr val="2E3842"/>
            </a:solidFill>
            <a:prstDash val="solid"/>
          </a:ln>
        </p:spPr>
      </p:sp>
      <p:sp>
        <p:nvSpPr>
          <p:cNvPr id="16" name="Text 13"/>
          <p:cNvSpPr txBox="1"/>
          <p:nvPr/>
        </p:nvSpPr>
        <p:spPr>
          <a:xfrm>
            <a:off x="685800" y="3063240"/>
            <a:ext cx="1645920" cy="365760"/>
          </a:xfrm>
          <a:prstGeom prst="rect">
            <a:avLst/>
          </a:prstGeom>
          <a:noFill/>
          <a:ln/>
        </p:spPr>
        <p:txBody>
          <a:bodyPr wrap="square" lIns="0" tIns="0" rIns="0" bIns="0" rtlCol="0" anchor="ctr"/>
          <a:lstStyle/>
          <a:p>
            <a:pPr indent="0" marL="0">
              <a:buNone/>
            </a:pPr>
            <a:r>
              <a:rPr lang="en-US" sz="1800" b="1" dirty="0">
                <a:solidFill>
                  <a:srgbClr val="F5A623"/>
                </a:solidFill>
                <a:latin typeface="Cambria" pitchFamily="34" charset="0"/>
                <a:ea typeface="Cambria" pitchFamily="34" charset="-122"/>
                <a:cs typeface="Cambria" pitchFamily="34" charset="-120"/>
              </a:rPr>
              <a:t>Tools</a:t>
            </a:r>
            <a:endParaRPr lang="en-US" sz="1800" dirty="0"/>
          </a:p>
        </p:txBody>
      </p:sp>
      <p:sp>
        <p:nvSpPr>
          <p:cNvPr id="17" name="Text 14"/>
          <p:cNvSpPr txBox="1"/>
          <p:nvPr/>
        </p:nvSpPr>
        <p:spPr>
          <a:xfrm>
            <a:off x="2286000" y="3108960"/>
            <a:ext cx="594360" cy="274320"/>
          </a:xfrm>
          <a:prstGeom prst="rect">
            <a:avLst/>
          </a:prstGeom>
          <a:noFill/>
          <a:ln/>
        </p:spPr>
        <p:txBody>
          <a:bodyPr wrap="square" lIns="0" tIns="0" rIns="0" bIns="0" rtlCol="0" anchor="ctr"/>
          <a:lstStyle/>
          <a:p>
            <a:pPr algn="r" indent="0" marL="0">
              <a:buNone/>
            </a:pPr>
            <a:r>
              <a:rPr lang="en-US" sz="900" b="1" spc="100" kern="0" dirty="0">
                <a:solidFill>
                  <a:srgbClr val="F5A623"/>
                </a:solidFill>
                <a:latin typeface="Calibri" pitchFamily="34" charset="0"/>
                <a:ea typeface="Calibri" pitchFamily="34" charset="-122"/>
                <a:cs typeface="Calibri" pitchFamily="34" charset="-120"/>
              </a:rPr>
              <a:t>today</a:t>
            </a:r>
            <a:endParaRPr lang="en-US" sz="900" dirty="0"/>
          </a:p>
        </p:txBody>
      </p:sp>
      <p:sp>
        <p:nvSpPr>
          <p:cNvPr id="18" name="Text 15"/>
          <p:cNvSpPr txBox="1"/>
          <p:nvPr/>
        </p:nvSpPr>
        <p:spPr>
          <a:xfrm>
            <a:off x="685800" y="3474720"/>
            <a:ext cx="2194560" cy="777240"/>
          </a:xfrm>
          <a:prstGeom prst="rect">
            <a:avLst/>
          </a:prstGeom>
          <a:noFill/>
          <a:ln/>
        </p:spPr>
        <p:txBody>
          <a:bodyPr wrap="square" lIns="0" tIns="0" rIns="0" bIns="0" rtlCol="0" anchor="t"/>
          <a:lstStyle/>
          <a:p>
            <a:pPr indent="0" marL="0">
              <a:buNone/>
            </a:pPr>
            <a:r>
              <a:rPr lang="en-US" sz="1200" dirty="0">
                <a:solidFill>
                  <a:srgbClr val="9AA6B2"/>
                </a:solidFill>
                <a:latin typeface="Calibri" pitchFamily="34" charset="0"/>
                <a:ea typeface="Calibri" pitchFamily="34" charset="-122"/>
                <a:cs typeface="Calibri" pitchFamily="34" charset="-120"/>
              </a:rPr>
              <a:t>actions the model can call — functions with a schema</a:t>
            </a:r>
            <a:endParaRPr lang="en-US" sz="1200" dirty="0"/>
          </a:p>
        </p:txBody>
      </p:sp>
      <p:sp>
        <p:nvSpPr>
          <p:cNvPr id="19" name="Shape 16"/>
          <p:cNvSpPr/>
          <p:nvPr/>
        </p:nvSpPr>
        <p:spPr>
          <a:xfrm>
            <a:off x="3246120" y="2926080"/>
            <a:ext cx="2606040" cy="1417320"/>
          </a:xfrm>
          <a:prstGeom prst="roundRect">
            <a:avLst>
              <a:gd name="adj" fmla="val 5161"/>
            </a:avLst>
          </a:prstGeom>
          <a:solidFill>
            <a:srgbClr val="1B2127"/>
          </a:solidFill>
          <a:ln w="9525">
            <a:solidFill>
              <a:srgbClr val="2E3842"/>
            </a:solidFill>
            <a:prstDash val="solid"/>
          </a:ln>
        </p:spPr>
      </p:sp>
      <p:sp>
        <p:nvSpPr>
          <p:cNvPr id="20" name="Text 17"/>
          <p:cNvSpPr txBox="1"/>
          <p:nvPr/>
        </p:nvSpPr>
        <p:spPr>
          <a:xfrm>
            <a:off x="3474720" y="3063240"/>
            <a:ext cx="1645920" cy="365760"/>
          </a:xfrm>
          <a:prstGeom prst="rect">
            <a:avLst/>
          </a:prstGeom>
          <a:noFill/>
          <a:ln/>
        </p:spPr>
        <p:txBody>
          <a:bodyPr wrap="square" lIns="0" tIns="0" rIns="0" bIns="0" rtlCol="0" anchor="ctr"/>
          <a:lstStyle/>
          <a:p>
            <a:pPr indent="0" marL="0">
              <a:buNone/>
            </a:pPr>
            <a:r>
              <a:rPr lang="en-US" sz="1800" b="1" dirty="0">
                <a:solidFill>
                  <a:srgbClr val="F3F5F7"/>
                </a:solidFill>
                <a:latin typeface="Cambria" pitchFamily="34" charset="0"/>
                <a:ea typeface="Cambria" pitchFamily="34" charset="-122"/>
                <a:cs typeface="Cambria" pitchFamily="34" charset="-120"/>
              </a:rPr>
              <a:t>Resources</a:t>
            </a:r>
            <a:endParaRPr lang="en-US" sz="1800" dirty="0"/>
          </a:p>
        </p:txBody>
      </p:sp>
      <p:sp>
        <p:nvSpPr>
          <p:cNvPr id="21" name="Text 18"/>
          <p:cNvSpPr txBox="1"/>
          <p:nvPr/>
        </p:nvSpPr>
        <p:spPr>
          <a:xfrm>
            <a:off x="5074920" y="3108960"/>
            <a:ext cx="594360" cy="274320"/>
          </a:xfrm>
          <a:prstGeom prst="rect">
            <a:avLst/>
          </a:prstGeom>
          <a:noFill/>
          <a:ln/>
        </p:spPr>
        <p:txBody>
          <a:bodyPr wrap="square" lIns="0" tIns="0" rIns="0" bIns="0" rtlCol="0" anchor="ctr"/>
          <a:lstStyle/>
          <a:p>
            <a:pPr algn="r" indent="0" marL="0">
              <a:buNone/>
            </a:pPr>
            <a:r>
              <a:rPr lang="en-US" sz="900" b="1" spc="100" kern="0" dirty="0">
                <a:solidFill>
                  <a:srgbClr val="9AA6B2"/>
                </a:solidFill>
                <a:latin typeface="Calibri" pitchFamily="34" charset="0"/>
                <a:ea typeface="Calibri" pitchFamily="34" charset="-122"/>
                <a:cs typeface="Calibri" pitchFamily="34" charset="-120"/>
              </a:rPr>
              <a:t>later</a:t>
            </a:r>
            <a:endParaRPr lang="en-US" sz="900" dirty="0"/>
          </a:p>
        </p:txBody>
      </p:sp>
      <p:sp>
        <p:nvSpPr>
          <p:cNvPr id="22" name="Text 19"/>
          <p:cNvSpPr txBox="1"/>
          <p:nvPr/>
        </p:nvSpPr>
        <p:spPr>
          <a:xfrm>
            <a:off x="3474720" y="3474720"/>
            <a:ext cx="2194560" cy="777240"/>
          </a:xfrm>
          <a:prstGeom prst="rect">
            <a:avLst/>
          </a:prstGeom>
          <a:noFill/>
          <a:ln/>
        </p:spPr>
        <p:txBody>
          <a:bodyPr wrap="square" lIns="0" tIns="0" rIns="0" bIns="0" rtlCol="0" anchor="t"/>
          <a:lstStyle/>
          <a:p>
            <a:pPr indent="0" marL="0">
              <a:buNone/>
            </a:pPr>
            <a:r>
              <a:rPr lang="en-US" sz="1200" dirty="0">
                <a:solidFill>
                  <a:srgbClr val="9AA6B2"/>
                </a:solidFill>
                <a:latin typeface="Calibri" pitchFamily="34" charset="0"/>
                <a:ea typeface="Calibri" pitchFamily="34" charset="-122"/>
                <a:cs typeface="Calibri" pitchFamily="34" charset="-120"/>
              </a:rPr>
              <a:t>data the client can read — files, records, URIs</a:t>
            </a:r>
            <a:endParaRPr lang="en-US" sz="1200" dirty="0"/>
          </a:p>
        </p:txBody>
      </p:sp>
      <p:sp>
        <p:nvSpPr>
          <p:cNvPr id="23" name="Shape 20"/>
          <p:cNvSpPr/>
          <p:nvPr/>
        </p:nvSpPr>
        <p:spPr>
          <a:xfrm>
            <a:off x="6035040" y="2926080"/>
            <a:ext cx="2606040" cy="1417320"/>
          </a:xfrm>
          <a:prstGeom prst="roundRect">
            <a:avLst>
              <a:gd name="adj" fmla="val 5161"/>
            </a:avLst>
          </a:prstGeom>
          <a:solidFill>
            <a:srgbClr val="1B2127"/>
          </a:solidFill>
          <a:ln w="9525">
            <a:solidFill>
              <a:srgbClr val="2E3842"/>
            </a:solidFill>
            <a:prstDash val="solid"/>
          </a:ln>
        </p:spPr>
      </p:sp>
      <p:sp>
        <p:nvSpPr>
          <p:cNvPr id="24" name="Text 21"/>
          <p:cNvSpPr txBox="1"/>
          <p:nvPr/>
        </p:nvSpPr>
        <p:spPr>
          <a:xfrm>
            <a:off x="6263640" y="3063240"/>
            <a:ext cx="1645920" cy="365760"/>
          </a:xfrm>
          <a:prstGeom prst="rect">
            <a:avLst/>
          </a:prstGeom>
          <a:noFill/>
          <a:ln/>
        </p:spPr>
        <p:txBody>
          <a:bodyPr wrap="square" lIns="0" tIns="0" rIns="0" bIns="0" rtlCol="0" anchor="ctr"/>
          <a:lstStyle/>
          <a:p>
            <a:pPr indent="0" marL="0">
              <a:buNone/>
            </a:pPr>
            <a:r>
              <a:rPr lang="en-US" sz="1800" b="1" dirty="0">
                <a:solidFill>
                  <a:srgbClr val="F3F5F7"/>
                </a:solidFill>
                <a:latin typeface="Cambria" pitchFamily="34" charset="0"/>
                <a:ea typeface="Cambria" pitchFamily="34" charset="-122"/>
                <a:cs typeface="Cambria" pitchFamily="34" charset="-120"/>
              </a:rPr>
              <a:t>Prompts</a:t>
            </a:r>
            <a:endParaRPr lang="en-US" sz="1800" dirty="0"/>
          </a:p>
        </p:txBody>
      </p:sp>
      <p:sp>
        <p:nvSpPr>
          <p:cNvPr id="25" name="Text 22"/>
          <p:cNvSpPr txBox="1"/>
          <p:nvPr/>
        </p:nvSpPr>
        <p:spPr>
          <a:xfrm>
            <a:off x="7863840" y="3108960"/>
            <a:ext cx="594360" cy="274320"/>
          </a:xfrm>
          <a:prstGeom prst="rect">
            <a:avLst/>
          </a:prstGeom>
          <a:noFill/>
          <a:ln/>
        </p:spPr>
        <p:txBody>
          <a:bodyPr wrap="square" lIns="0" tIns="0" rIns="0" bIns="0" rtlCol="0" anchor="ctr"/>
          <a:lstStyle/>
          <a:p>
            <a:pPr algn="r" indent="0" marL="0">
              <a:buNone/>
            </a:pPr>
            <a:r>
              <a:rPr lang="en-US" sz="900" b="1" spc="100" kern="0" dirty="0">
                <a:solidFill>
                  <a:srgbClr val="9AA6B2"/>
                </a:solidFill>
                <a:latin typeface="Calibri" pitchFamily="34" charset="0"/>
                <a:ea typeface="Calibri" pitchFamily="34" charset="-122"/>
                <a:cs typeface="Calibri" pitchFamily="34" charset="-120"/>
              </a:rPr>
              <a:t>later</a:t>
            </a:r>
            <a:endParaRPr lang="en-US" sz="900" dirty="0"/>
          </a:p>
        </p:txBody>
      </p:sp>
      <p:sp>
        <p:nvSpPr>
          <p:cNvPr id="26" name="Text 23"/>
          <p:cNvSpPr txBox="1"/>
          <p:nvPr/>
        </p:nvSpPr>
        <p:spPr>
          <a:xfrm>
            <a:off x="6263640" y="3474720"/>
            <a:ext cx="2194560" cy="777240"/>
          </a:xfrm>
          <a:prstGeom prst="rect">
            <a:avLst/>
          </a:prstGeom>
          <a:noFill/>
          <a:ln/>
        </p:spPr>
        <p:txBody>
          <a:bodyPr wrap="square" lIns="0" tIns="0" rIns="0" bIns="0" rtlCol="0" anchor="t"/>
          <a:lstStyle/>
          <a:p>
            <a:pPr indent="0" marL="0">
              <a:buNone/>
            </a:pPr>
            <a:r>
              <a:rPr lang="en-US" sz="1200" dirty="0">
                <a:solidFill>
                  <a:srgbClr val="9AA6B2"/>
                </a:solidFill>
                <a:latin typeface="Calibri" pitchFamily="34" charset="0"/>
                <a:ea typeface="Calibri" pitchFamily="34" charset="-122"/>
                <a:cs typeface="Calibri" pitchFamily="34" charset="-120"/>
              </a:rPr>
              <a:t>reusable templates the client can offer the user</a:t>
            </a:r>
            <a:endParaRPr lang="en-US" sz="1200" dirty="0"/>
          </a:p>
        </p:txBody>
      </p:sp>
      <p:sp>
        <p:nvSpPr>
          <p:cNvPr id="27" name="Text 24"/>
          <p:cNvSpPr txBox="1"/>
          <p:nvPr/>
        </p:nvSpPr>
        <p:spPr>
          <a:xfrm>
            <a:off x="457200" y="4709160"/>
            <a:ext cx="5486400" cy="274320"/>
          </a:xfrm>
          <a:prstGeom prst="rect">
            <a:avLst/>
          </a:prstGeom>
          <a:noFill/>
          <a:ln/>
        </p:spPr>
        <p:txBody>
          <a:bodyPr wrap="square" lIns="0" tIns="0" rIns="0" bIns="0" rtlCol="0" anchor="ctr"/>
          <a:lstStyle/>
          <a:p>
            <a:pPr indent="0" marL="0">
              <a:buNone/>
            </a:pPr>
            <a:r>
              <a:rPr lang="en-US" sz="1000" dirty="0">
                <a:solidFill>
                  <a:srgbClr val="9AA6B2"/>
                </a:solidFill>
                <a:latin typeface="Calibri" pitchFamily="34" charset="0"/>
                <a:ea typeface="Calibri" pitchFamily="34" charset="-122"/>
                <a:cs typeface="Calibri" pitchFamily="34" charset="-120"/>
              </a:rPr>
              <a:t>Arthashastra Learning · The Agentic Enterprise · Ep 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316"/>
        </a:solidFill>
      </p:bgPr>
    </p:bg>
    <p:spTree>
      <p:nvGrpSpPr>
        <p:cNvPr id="1" name=""/>
        <p:cNvGrpSpPr/>
        <p:nvPr/>
      </p:nvGrpSpPr>
      <p:grpSpPr>
        <a:xfrm>
          <a:off x="0" y="0"/>
          <a:ext cx="0" cy="0"/>
          <a:chOff x="0" y="0"/>
          <a:chExt cx="0" cy="0"/>
        </a:xfrm>
      </p:grpSpPr>
      <p:sp>
        <p:nvSpPr>
          <p:cNvPr id="3"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F3F5F7"/>
                </a:solidFill>
                <a:latin typeface="Cambria" pitchFamily="34" charset="0"/>
                <a:ea typeface="Cambria" pitchFamily="34" charset="-122"/>
                <a:cs typeface="Cambria" pitchFamily="34" charset="-120"/>
              </a:rPr>
              <a:t>What MCP is NOT</a:t>
            </a:r>
            <a:endParaRPr lang="en-US" sz="3000" dirty="0"/>
          </a:p>
        </p:txBody>
      </p:sp>
      <p:sp>
        <p:nvSpPr>
          <p:cNvPr id="4" name="Shape 1"/>
          <p:cNvSpPr/>
          <p:nvPr/>
        </p:nvSpPr>
        <p:spPr>
          <a:xfrm>
            <a:off x="457200" y="1280160"/>
            <a:ext cx="2606040" cy="2286000"/>
          </a:xfrm>
          <a:prstGeom prst="roundRect">
            <a:avLst>
              <a:gd name="adj" fmla="val 3200"/>
            </a:avLst>
          </a:prstGeom>
          <a:solidFill>
            <a:srgbClr val="1B2127"/>
          </a:solidFill>
          <a:ln w="9525">
            <a:solidFill>
              <a:srgbClr val="2E3842"/>
            </a:solidFill>
            <a:prstDash val="solid"/>
          </a:ln>
        </p:spPr>
      </p:sp>
      <p:sp>
        <p:nvSpPr>
          <p:cNvPr id="5" name="Shape 2"/>
          <p:cNvSpPr/>
          <p:nvPr/>
        </p:nvSpPr>
        <p:spPr>
          <a:xfrm>
            <a:off x="731520" y="1508760"/>
            <a:ext cx="457200" cy="457200"/>
          </a:xfrm>
          <a:prstGeom prst="ellipse">
            <a:avLst/>
          </a:prstGeom>
          <a:solidFill>
            <a:srgbClr val="E5533D"/>
          </a:solidFill>
          <a:ln/>
        </p:spPr>
      </p:sp>
      <p:sp>
        <p:nvSpPr>
          <p:cNvPr id="6" name="Text 3"/>
          <p:cNvSpPr txBox="1"/>
          <p:nvPr/>
        </p:nvSpPr>
        <p:spPr>
          <a:xfrm>
            <a:off x="731520" y="1508760"/>
            <a:ext cx="457200" cy="457200"/>
          </a:xfrm>
          <a:prstGeom prst="rect">
            <a:avLst/>
          </a:prstGeom>
          <a:noFill/>
          <a:ln/>
        </p:spPr>
        <p:txBody>
          <a:bodyPr wrap="square" lIns="0" tIns="0" rIns="0" bIns="0" rtlCol="0" anchor="ctr"/>
          <a:lstStyle/>
          <a:p>
            <a:pPr algn="ctr" indent="0" marL="0">
              <a:buNone/>
            </a:pPr>
            <a:r>
              <a:rPr lang="en-US" sz="1600" b="1" dirty="0">
                <a:solidFill>
                  <a:srgbClr val="0F1316"/>
                </a:solidFill>
                <a:latin typeface="Calibri" pitchFamily="34" charset="0"/>
                <a:ea typeface="Calibri" pitchFamily="34" charset="-122"/>
                <a:cs typeface="Calibri" pitchFamily="34" charset="-120"/>
              </a:rPr>
              <a:t>✕</a:t>
            </a:r>
            <a:endParaRPr lang="en-US" sz="1600" dirty="0"/>
          </a:p>
        </p:txBody>
      </p:sp>
      <p:sp>
        <p:nvSpPr>
          <p:cNvPr id="7" name="Text 4"/>
          <p:cNvSpPr txBox="1"/>
          <p:nvPr/>
        </p:nvSpPr>
        <p:spPr>
          <a:xfrm>
            <a:off x="731520" y="2103120"/>
            <a:ext cx="2103120" cy="457200"/>
          </a:xfrm>
          <a:prstGeom prst="rect">
            <a:avLst/>
          </a:prstGeom>
          <a:noFill/>
          <a:ln/>
        </p:spPr>
        <p:txBody>
          <a:bodyPr wrap="square" lIns="0" tIns="0" rIns="0" bIns="0" rtlCol="0" anchor="t"/>
          <a:lstStyle/>
          <a:p>
            <a:pPr indent="0" marL="0">
              <a:buNone/>
            </a:pPr>
            <a:r>
              <a:rPr lang="en-US" sz="1600" b="1" dirty="0">
                <a:solidFill>
                  <a:srgbClr val="F3F5F7"/>
                </a:solidFill>
                <a:latin typeface="Cambria" pitchFamily="34" charset="0"/>
                <a:ea typeface="Cambria" pitchFamily="34" charset="-122"/>
                <a:cs typeface="Cambria" pitchFamily="34" charset="-120"/>
              </a:rPr>
              <a:t>An agent framework</a:t>
            </a:r>
            <a:endParaRPr lang="en-US" sz="1600" dirty="0"/>
          </a:p>
        </p:txBody>
      </p:sp>
      <p:sp>
        <p:nvSpPr>
          <p:cNvPr id="8" name="Text 5"/>
          <p:cNvSpPr txBox="1"/>
          <p:nvPr/>
        </p:nvSpPr>
        <p:spPr>
          <a:xfrm>
            <a:off x="731520" y="2606040"/>
            <a:ext cx="2103120" cy="914400"/>
          </a:xfrm>
          <a:prstGeom prst="rect">
            <a:avLst/>
          </a:prstGeom>
          <a:noFill/>
          <a:ln/>
        </p:spPr>
        <p:txBody>
          <a:bodyPr wrap="square" lIns="0" tIns="0" rIns="0" bIns="0" rtlCol="0" anchor="t"/>
          <a:lstStyle/>
          <a:p>
            <a:pPr indent="0" marL="0">
              <a:buNone/>
            </a:pPr>
            <a:r>
              <a:rPr lang="en-US" sz="1200" dirty="0">
                <a:solidFill>
                  <a:srgbClr val="9AA6B2"/>
                </a:solidFill>
                <a:latin typeface="Calibri" pitchFamily="34" charset="0"/>
                <a:ea typeface="Calibri" pitchFamily="34" charset="-122"/>
                <a:cs typeface="Calibri" pitchFamily="34" charset="-120"/>
              </a:rPr>
              <a:t>No loop, no planning, no memory. Your agent still owns all of that.</a:t>
            </a:r>
            <a:endParaRPr lang="en-US" sz="1200" dirty="0"/>
          </a:p>
        </p:txBody>
      </p:sp>
      <p:sp>
        <p:nvSpPr>
          <p:cNvPr id="9" name="Shape 6"/>
          <p:cNvSpPr/>
          <p:nvPr/>
        </p:nvSpPr>
        <p:spPr>
          <a:xfrm>
            <a:off x="3246120" y="1280160"/>
            <a:ext cx="2606040" cy="2286000"/>
          </a:xfrm>
          <a:prstGeom prst="roundRect">
            <a:avLst>
              <a:gd name="adj" fmla="val 3200"/>
            </a:avLst>
          </a:prstGeom>
          <a:solidFill>
            <a:srgbClr val="1B2127"/>
          </a:solidFill>
          <a:ln w="9525">
            <a:solidFill>
              <a:srgbClr val="2E3842"/>
            </a:solidFill>
            <a:prstDash val="solid"/>
          </a:ln>
        </p:spPr>
      </p:sp>
      <p:sp>
        <p:nvSpPr>
          <p:cNvPr id="10" name="Shape 7"/>
          <p:cNvSpPr/>
          <p:nvPr/>
        </p:nvSpPr>
        <p:spPr>
          <a:xfrm>
            <a:off x="3520440" y="1508760"/>
            <a:ext cx="457200" cy="457200"/>
          </a:xfrm>
          <a:prstGeom prst="ellipse">
            <a:avLst/>
          </a:prstGeom>
          <a:solidFill>
            <a:srgbClr val="E5533D"/>
          </a:solidFill>
          <a:ln/>
        </p:spPr>
      </p:sp>
      <p:sp>
        <p:nvSpPr>
          <p:cNvPr id="11" name="Text 8"/>
          <p:cNvSpPr txBox="1"/>
          <p:nvPr/>
        </p:nvSpPr>
        <p:spPr>
          <a:xfrm>
            <a:off x="3520440" y="1508760"/>
            <a:ext cx="457200" cy="457200"/>
          </a:xfrm>
          <a:prstGeom prst="rect">
            <a:avLst/>
          </a:prstGeom>
          <a:noFill/>
          <a:ln/>
        </p:spPr>
        <p:txBody>
          <a:bodyPr wrap="square" lIns="0" tIns="0" rIns="0" bIns="0" rtlCol="0" anchor="ctr"/>
          <a:lstStyle/>
          <a:p>
            <a:pPr algn="ctr" indent="0" marL="0">
              <a:buNone/>
            </a:pPr>
            <a:r>
              <a:rPr lang="en-US" sz="1600" b="1" dirty="0">
                <a:solidFill>
                  <a:srgbClr val="0F1316"/>
                </a:solidFill>
                <a:latin typeface="Calibri" pitchFamily="34" charset="0"/>
                <a:ea typeface="Calibri" pitchFamily="34" charset="-122"/>
                <a:cs typeface="Calibri" pitchFamily="34" charset="-120"/>
              </a:rPr>
              <a:t>✕</a:t>
            </a:r>
            <a:endParaRPr lang="en-US" sz="1600" dirty="0"/>
          </a:p>
        </p:txBody>
      </p:sp>
      <p:sp>
        <p:nvSpPr>
          <p:cNvPr id="12" name="Text 9"/>
          <p:cNvSpPr txBox="1"/>
          <p:nvPr/>
        </p:nvSpPr>
        <p:spPr>
          <a:xfrm>
            <a:off x="3520440" y="2103120"/>
            <a:ext cx="2103120" cy="457200"/>
          </a:xfrm>
          <a:prstGeom prst="rect">
            <a:avLst/>
          </a:prstGeom>
          <a:noFill/>
          <a:ln/>
        </p:spPr>
        <p:txBody>
          <a:bodyPr wrap="square" lIns="0" tIns="0" rIns="0" bIns="0" rtlCol="0" anchor="t"/>
          <a:lstStyle/>
          <a:p>
            <a:pPr indent="0" marL="0">
              <a:buNone/>
            </a:pPr>
            <a:r>
              <a:rPr lang="en-US" sz="1600" b="1" dirty="0">
                <a:solidFill>
                  <a:srgbClr val="F3F5F7"/>
                </a:solidFill>
                <a:latin typeface="Cambria" pitchFamily="34" charset="0"/>
                <a:ea typeface="Cambria" pitchFamily="34" charset="-122"/>
                <a:cs typeface="Cambria" pitchFamily="34" charset="-120"/>
              </a:rPr>
              <a:t>An orchestrator</a:t>
            </a:r>
            <a:endParaRPr lang="en-US" sz="1600" dirty="0"/>
          </a:p>
        </p:txBody>
      </p:sp>
      <p:sp>
        <p:nvSpPr>
          <p:cNvPr id="13" name="Text 10"/>
          <p:cNvSpPr txBox="1"/>
          <p:nvPr/>
        </p:nvSpPr>
        <p:spPr>
          <a:xfrm>
            <a:off x="3520440" y="2606040"/>
            <a:ext cx="2103120" cy="914400"/>
          </a:xfrm>
          <a:prstGeom prst="rect">
            <a:avLst/>
          </a:prstGeom>
          <a:noFill/>
          <a:ln/>
        </p:spPr>
        <p:txBody>
          <a:bodyPr wrap="square" lIns="0" tIns="0" rIns="0" bIns="0" rtlCol="0" anchor="t"/>
          <a:lstStyle/>
          <a:p>
            <a:pPr indent="0" marL="0">
              <a:buNone/>
            </a:pPr>
            <a:r>
              <a:rPr lang="en-US" sz="1200" dirty="0">
                <a:solidFill>
                  <a:srgbClr val="9AA6B2"/>
                </a:solidFill>
                <a:latin typeface="Calibri" pitchFamily="34" charset="0"/>
                <a:ea typeface="Calibri" pitchFamily="34" charset="-122"/>
                <a:cs typeface="Calibri" pitchFamily="34" charset="-120"/>
              </a:rPr>
              <a:t>It doesn't decide which server to call or in what order. The model does.</a:t>
            </a:r>
            <a:endParaRPr lang="en-US" sz="1200" dirty="0"/>
          </a:p>
        </p:txBody>
      </p:sp>
      <p:sp>
        <p:nvSpPr>
          <p:cNvPr id="14" name="Shape 11"/>
          <p:cNvSpPr/>
          <p:nvPr/>
        </p:nvSpPr>
        <p:spPr>
          <a:xfrm>
            <a:off x="6035040" y="1280160"/>
            <a:ext cx="2606040" cy="2286000"/>
          </a:xfrm>
          <a:prstGeom prst="roundRect">
            <a:avLst>
              <a:gd name="adj" fmla="val 3200"/>
            </a:avLst>
          </a:prstGeom>
          <a:solidFill>
            <a:srgbClr val="1B2127"/>
          </a:solidFill>
          <a:ln w="9525">
            <a:solidFill>
              <a:srgbClr val="2E3842"/>
            </a:solidFill>
            <a:prstDash val="solid"/>
          </a:ln>
        </p:spPr>
      </p:sp>
      <p:sp>
        <p:nvSpPr>
          <p:cNvPr id="15" name="Shape 12"/>
          <p:cNvSpPr/>
          <p:nvPr/>
        </p:nvSpPr>
        <p:spPr>
          <a:xfrm>
            <a:off x="6309360" y="1508760"/>
            <a:ext cx="457200" cy="457200"/>
          </a:xfrm>
          <a:prstGeom prst="ellipse">
            <a:avLst/>
          </a:prstGeom>
          <a:solidFill>
            <a:srgbClr val="E5533D"/>
          </a:solidFill>
          <a:ln/>
        </p:spPr>
      </p:sp>
      <p:sp>
        <p:nvSpPr>
          <p:cNvPr id="16" name="Text 13"/>
          <p:cNvSpPr txBox="1"/>
          <p:nvPr/>
        </p:nvSpPr>
        <p:spPr>
          <a:xfrm>
            <a:off x="6309360" y="1508760"/>
            <a:ext cx="457200" cy="457200"/>
          </a:xfrm>
          <a:prstGeom prst="rect">
            <a:avLst/>
          </a:prstGeom>
          <a:noFill/>
          <a:ln/>
        </p:spPr>
        <p:txBody>
          <a:bodyPr wrap="square" lIns="0" tIns="0" rIns="0" bIns="0" rtlCol="0" anchor="ctr"/>
          <a:lstStyle/>
          <a:p>
            <a:pPr algn="ctr" indent="0" marL="0">
              <a:buNone/>
            </a:pPr>
            <a:r>
              <a:rPr lang="en-US" sz="1600" b="1" dirty="0">
                <a:solidFill>
                  <a:srgbClr val="0F1316"/>
                </a:solidFill>
                <a:latin typeface="Calibri" pitchFamily="34" charset="0"/>
                <a:ea typeface="Calibri" pitchFamily="34" charset="-122"/>
                <a:cs typeface="Calibri" pitchFamily="34" charset="-120"/>
              </a:rPr>
              <a:t>✕</a:t>
            </a:r>
            <a:endParaRPr lang="en-US" sz="1600" dirty="0"/>
          </a:p>
        </p:txBody>
      </p:sp>
      <p:sp>
        <p:nvSpPr>
          <p:cNvPr id="17" name="Text 14"/>
          <p:cNvSpPr txBox="1"/>
          <p:nvPr/>
        </p:nvSpPr>
        <p:spPr>
          <a:xfrm>
            <a:off x="6309360" y="2103120"/>
            <a:ext cx="2103120" cy="457200"/>
          </a:xfrm>
          <a:prstGeom prst="rect">
            <a:avLst/>
          </a:prstGeom>
          <a:noFill/>
          <a:ln/>
        </p:spPr>
        <p:txBody>
          <a:bodyPr wrap="square" lIns="0" tIns="0" rIns="0" bIns="0" rtlCol="0" anchor="t"/>
          <a:lstStyle/>
          <a:p>
            <a:pPr indent="0" marL="0">
              <a:buNone/>
            </a:pPr>
            <a:r>
              <a:rPr lang="en-US" sz="1600" b="1" dirty="0">
                <a:solidFill>
                  <a:srgbClr val="F3F5F7"/>
                </a:solidFill>
                <a:latin typeface="Cambria" pitchFamily="34" charset="0"/>
                <a:ea typeface="Cambria" pitchFamily="34" charset="-122"/>
                <a:cs typeface="Cambria" pitchFamily="34" charset="-120"/>
              </a:rPr>
              <a:t>Authorization</a:t>
            </a:r>
            <a:endParaRPr lang="en-US" sz="1600" dirty="0"/>
          </a:p>
        </p:txBody>
      </p:sp>
      <p:sp>
        <p:nvSpPr>
          <p:cNvPr id="18" name="Text 15"/>
          <p:cNvSpPr txBox="1"/>
          <p:nvPr/>
        </p:nvSpPr>
        <p:spPr>
          <a:xfrm>
            <a:off x="6309360" y="2606040"/>
            <a:ext cx="2103120" cy="914400"/>
          </a:xfrm>
          <a:prstGeom prst="rect">
            <a:avLst/>
          </a:prstGeom>
          <a:noFill/>
          <a:ln/>
        </p:spPr>
        <p:txBody>
          <a:bodyPr wrap="square" lIns="0" tIns="0" rIns="0" bIns="0" rtlCol="0" anchor="t"/>
          <a:lstStyle/>
          <a:p>
            <a:pPr indent="0" marL="0">
              <a:buNone/>
            </a:pPr>
            <a:r>
              <a:rPr lang="en-US" sz="1200" dirty="0">
                <a:solidFill>
                  <a:srgbClr val="9AA6B2"/>
                </a:solidFill>
                <a:latin typeface="Calibri" pitchFamily="34" charset="0"/>
                <a:ea typeface="Calibri" pitchFamily="34" charset="-122"/>
                <a:cs typeface="Calibri" pitchFamily="34" charset="-120"/>
              </a:rPr>
              <a:t>OAuth is in the spec for HTTP transports. Who may do what is still your code and your policy.</a:t>
            </a:r>
            <a:endParaRPr lang="en-US" sz="1200" dirty="0"/>
          </a:p>
        </p:txBody>
      </p:sp>
      <p:sp>
        <p:nvSpPr>
          <p:cNvPr id="19" name="Shape 16"/>
          <p:cNvSpPr/>
          <p:nvPr/>
        </p:nvSpPr>
        <p:spPr>
          <a:xfrm>
            <a:off x="457200" y="3749040"/>
            <a:ext cx="8229600" cy="731520"/>
          </a:xfrm>
          <a:prstGeom prst="roundRect">
            <a:avLst>
              <a:gd name="adj" fmla="val 10000"/>
            </a:avLst>
          </a:prstGeom>
          <a:solidFill>
            <a:srgbClr val="232B33"/>
          </a:solidFill>
          <a:ln w="9525">
            <a:solidFill>
              <a:srgbClr val="2E3842"/>
            </a:solidFill>
            <a:prstDash val="solid"/>
          </a:ln>
        </p:spPr>
      </p:sp>
      <p:sp>
        <p:nvSpPr>
          <p:cNvPr id="20" name="Text 17"/>
          <p:cNvSpPr txBox="1"/>
          <p:nvPr/>
        </p:nvSpPr>
        <p:spPr>
          <a:xfrm>
            <a:off x="685800" y="3749040"/>
            <a:ext cx="7772400" cy="731520"/>
          </a:xfrm>
          <a:prstGeom prst="rect">
            <a:avLst/>
          </a:prstGeom>
          <a:noFill/>
          <a:ln/>
        </p:spPr>
        <p:txBody>
          <a:bodyPr wrap="square" lIns="0" tIns="0" rIns="0" bIns="0" rtlCol="0" anchor="ctr"/>
          <a:lstStyle/>
          <a:p>
            <a:pPr indent="0" marL="0">
              <a:buNone/>
            </a:pPr>
            <a:r>
              <a:rPr lang="en-US" sz="1400" i="1" dirty="0">
                <a:solidFill>
                  <a:srgbClr val="F5A623"/>
                </a:solidFill>
                <a:latin typeface="Calibri" pitchFamily="34" charset="0"/>
                <a:ea typeface="Calibri" pitchFamily="34" charset="-122"/>
                <a:cs typeface="Calibri" pitchFamily="34" charset="-120"/>
              </a:rPr>
              <a:t>MCP is the plug, not the appliance. It standardises how tools are described and called — nothing more.</a:t>
            </a:r>
            <a:endParaRPr lang="en-US" sz="1400" dirty="0"/>
          </a:p>
        </p:txBody>
      </p:sp>
      <p:sp>
        <p:nvSpPr>
          <p:cNvPr id="21" name="Text 18"/>
          <p:cNvSpPr txBox="1"/>
          <p:nvPr/>
        </p:nvSpPr>
        <p:spPr>
          <a:xfrm>
            <a:off x="457200" y="4709160"/>
            <a:ext cx="5486400" cy="274320"/>
          </a:xfrm>
          <a:prstGeom prst="rect">
            <a:avLst/>
          </a:prstGeom>
          <a:noFill/>
          <a:ln/>
        </p:spPr>
        <p:txBody>
          <a:bodyPr wrap="square" lIns="0" tIns="0" rIns="0" bIns="0" rtlCol="0" anchor="ctr"/>
          <a:lstStyle/>
          <a:p>
            <a:pPr indent="0" marL="0">
              <a:buNone/>
            </a:pPr>
            <a:r>
              <a:rPr lang="en-US" sz="1000" dirty="0">
                <a:solidFill>
                  <a:srgbClr val="9AA6B2"/>
                </a:solidFill>
                <a:latin typeface="Calibri" pitchFamily="34" charset="0"/>
                <a:ea typeface="Calibri" pitchFamily="34" charset="-122"/>
                <a:cs typeface="Calibri" pitchFamily="34" charset="-120"/>
              </a:rPr>
              <a:t>Arthashastra Learning · The Agentic Enterprise · Ep 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316"/>
        </a:solidFill>
      </p:bgPr>
    </p:bg>
    <p:spTree>
      <p:nvGrpSpPr>
        <p:cNvPr id="1" name=""/>
        <p:cNvGrpSpPr/>
        <p:nvPr/>
      </p:nvGrpSpPr>
      <p:grpSpPr>
        <a:xfrm>
          <a:off x="0" y="0"/>
          <a:ext cx="0" cy="0"/>
          <a:chOff x="0" y="0"/>
          <a:chExt cx="0" cy="0"/>
        </a:xfrm>
      </p:grpSpPr>
      <p:sp>
        <p:nvSpPr>
          <p:cNvPr id="3"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F3F5F7"/>
                </a:solidFill>
                <a:latin typeface="Cambria" pitchFamily="34" charset="0"/>
                <a:ea typeface="Cambria" pitchFamily="34" charset="-122"/>
                <a:cs typeface="Cambria" pitchFamily="34" charset="-120"/>
              </a:rPr>
              <a:t>The enterprise data source</a:t>
            </a:r>
            <a:endParaRPr lang="en-US" sz="3000" dirty="0"/>
          </a:p>
        </p:txBody>
      </p:sp>
      <p:sp>
        <p:nvSpPr>
          <p:cNvPr id="4" name="Text 1"/>
          <p:cNvSpPr txBox="1"/>
          <p:nvPr/>
        </p:nvSpPr>
        <p:spPr>
          <a:xfrm>
            <a:off x="457200" y="1097280"/>
            <a:ext cx="8229600" cy="365760"/>
          </a:xfrm>
          <a:prstGeom prst="rect">
            <a:avLst/>
          </a:prstGeom>
          <a:noFill/>
          <a:ln/>
        </p:spPr>
        <p:txBody>
          <a:bodyPr wrap="square" lIns="0" tIns="0" rIns="0" bIns="0" rtlCol="0" anchor="ctr"/>
          <a:lstStyle/>
          <a:p>
            <a:pPr indent="0" marL="0">
              <a:buNone/>
            </a:pPr>
            <a:r>
              <a:rPr lang="en-US" sz="1400" dirty="0">
                <a:solidFill>
                  <a:srgbClr val="9AA6B2"/>
                </a:solidFill>
                <a:latin typeface="Calibri" pitchFamily="34" charset="0"/>
                <a:ea typeface="Calibri" pitchFamily="34" charset="-122"/>
                <a:cs typeface="Calibri" pitchFamily="34" charset="-120"/>
              </a:rPr>
              <a:t>trade_orders.db — a stand-in for your ERP / OMS</a:t>
            </a:r>
            <a:endParaRPr lang="en-US" sz="1400" dirty="0"/>
          </a:p>
        </p:txBody>
      </p:sp>
      <p:sp>
        <p:nvSpPr>
          <p:cNvPr id="5" name="Shape 2"/>
          <p:cNvSpPr/>
          <p:nvPr/>
        </p:nvSpPr>
        <p:spPr>
          <a:xfrm>
            <a:off x="457200" y="1554480"/>
            <a:ext cx="5120640" cy="640080"/>
          </a:xfrm>
          <a:prstGeom prst="roundRect">
            <a:avLst>
              <a:gd name="adj" fmla="val 11429"/>
            </a:avLst>
          </a:prstGeom>
          <a:solidFill>
            <a:srgbClr val="1B2127"/>
          </a:solidFill>
          <a:ln w="9525">
            <a:solidFill>
              <a:srgbClr val="2E3842"/>
            </a:solidFill>
            <a:prstDash val="solid"/>
          </a:ln>
        </p:spPr>
      </p:sp>
      <p:sp>
        <p:nvSpPr>
          <p:cNvPr id="6" name="Text 3"/>
          <p:cNvSpPr txBox="1"/>
          <p:nvPr/>
        </p:nvSpPr>
        <p:spPr>
          <a:xfrm>
            <a:off x="640080" y="1554480"/>
            <a:ext cx="1280160" cy="640080"/>
          </a:xfrm>
          <a:prstGeom prst="rect">
            <a:avLst/>
          </a:prstGeom>
          <a:noFill/>
          <a:ln/>
        </p:spPr>
        <p:txBody>
          <a:bodyPr wrap="square" lIns="0" tIns="0" rIns="0" bIns="0" rtlCol="0" anchor="ctr"/>
          <a:lstStyle/>
          <a:p>
            <a:pPr indent="0" marL="0">
              <a:buNone/>
            </a:pPr>
            <a:r>
              <a:rPr lang="en-US" sz="1300" b="1" dirty="0">
                <a:solidFill>
                  <a:srgbClr val="F5A623"/>
                </a:solidFill>
                <a:latin typeface="Courier New" pitchFamily="34" charset="0"/>
                <a:ea typeface="Courier New" pitchFamily="34" charset="-122"/>
                <a:cs typeface="Courier New" pitchFamily="34" charset="-120"/>
              </a:rPr>
              <a:t>orders</a:t>
            </a:r>
            <a:endParaRPr lang="en-US" sz="1300" dirty="0"/>
          </a:p>
        </p:txBody>
      </p:sp>
      <p:sp>
        <p:nvSpPr>
          <p:cNvPr id="7" name="Text 4"/>
          <p:cNvSpPr txBox="1"/>
          <p:nvPr/>
        </p:nvSpPr>
        <p:spPr>
          <a:xfrm>
            <a:off x="1920240" y="1554480"/>
            <a:ext cx="2926080" cy="640080"/>
          </a:xfrm>
          <a:prstGeom prst="rect">
            <a:avLst/>
          </a:prstGeom>
          <a:noFill/>
          <a:ln/>
        </p:spPr>
        <p:txBody>
          <a:bodyPr wrap="square" lIns="0" tIns="0" rIns="0" bIns="0" rtlCol="0" anchor="ctr"/>
          <a:lstStyle/>
          <a:p>
            <a:pPr indent="0" marL="0">
              <a:buNone/>
            </a:pPr>
            <a:r>
              <a:rPr lang="en-US" sz="1000" dirty="0">
                <a:solidFill>
                  <a:srgbClr val="9AA6B2"/>
                </a:solidFill>
                <a:latin typeface="Calibri" pitchFamily="34" charset="0"/>
                <a:ea typeface="Calibri" pitchFamily="34" charset="-122"/>
                <a:cs typeface="Calibri" pitchFamily="34" charset="-120"/>
              </a:rPr>
              <a:t>order_id · customer_id · hs_code · qty_mt · value_usd · status</a:t>
            </a:r>
            <a:endParaRPr lang="en-US" sz="1000" dirty="0"/>
          </a:p>
        </p:txBody>
      </p:sp>
      <p:sp>
        <p:nvSpPr>
          <p:cNvPr id="8" name="Text 5"/>
          <p:cNvSpPr txBox="1"/>
          <p:nvPr/>
        </p:nvSpPr>
        <p:spPr>
          <a:xfrm>
            <a:off x="4846320" y="1554480"/>
            <a:ext cx="640080" cy="640080"/>
          </a:xfrm>
          <a:prstGeom prst="rect">
            <a:avLst/>
          </a:prstGeom>
          <a:noFill/>
          <a:ln/>
        </p:spPr>
        <p:txBody>
          <a:bodyPr wrap="square" lIns="0" tIns="0" rIns="0" bIns="0" rtlCol="0" anchor="ctr"/>
          <a:lstStyle/>
          <a:p>
            <a:pPr algn="r" indent="0" marL="0">
              <a:buNone/>
            </a:pPr>
            <a:r>
              <a:rPr lang="en-US" sz="1000" dirty="0">
                <a:solidFill>
                  <a:srgbClr val="4FB3BF"/>
                </a:solidFill>
                <a:latin typeface="Calibri" pitchFamily="34" charset="0"/>
                <a:ea typeface="Calibri" pitchFamily="34" charset="-122"/>
                <a:cs typeface="Calibri" pitchFamily="34" charset="-120"/>
              </a:rPr>
              <a:t>120 rows</a:t>
            </a:r>
            <a:endParaRPr lang="en-US" sz="1000" dirty="0"/>
          </a:p>
        </p:txBody>
      </p:sp>
      <p:sp>
        <p:nvSpPr>
          <p:cNvPr id="9" name="Shape 6"/>
          <p:cNvSpPr/>
          <p:nvPr/>
        </p:nvSpPr>
        <p:spPr>
          <a:xfrm>
            <a:off x="457200" y="2331720"/>
            <a:ext cx="5120640" cy="640080"/>
          </a:xfrm>
          <a:prstGeom prst="roundRect">
            <a:avLst>
              <a:gd name="adj" fmla="val 11429"/>
            </a:avLst>
          </a:prstGeom>
          <a:solidFill>
            <a:srgbClr val="1B2127"/>
          </a:solidFill>
          <a:ln w="9525">
            <a:solidFill>
              <a:srgbClr val="2E3842"/>
            </a:solidFill>
            <a:prstDash val="solid"/>
          </a:ln>
        </p:spPr>
      </p:sp>
      <p:sp>
        <p:nvSpPr>
          <p:cNvPr id="10" name="Text 7"/>
          <p:cNvSpPr txBox="1"/>
          <p:nvPr/>
        </p:nvSpPr>
        <p:spPr>
          <a:xfrm>
            <a:off x="640080" y="2331720"/>
            <a:ext cx="1280160" cy="640080"/>
          </a:xfrm>
          <a:prstGeom prst="rect">
            <a:avLst/>
          </a:prstGeom>
          <a:noFill/>
          <a:ln/>
        </p:spPr>
        <p:txBody>
          <a:bodyPr wrap="square" lIns="0" tIns="0" rIns="0" bIns="0" rtlCol="0" anchor="ctr"/>
          <a:lstStyle/>
          <a:p>
            <a:pPr indent="0" marL="0">
              <a:buNone/>
            </a:pPr>
            <a:r>
              <a:rPr lang="en-US" sz="1300" b="1" dirty="0">
                <a:solidFill>
                  <a:srgbClr val="F5A623"/>
                </a:solidFill>
                <a:latin typeface="Courier New" pitchFamily="34" charset="0"/>
                <a:ea typeface="Courier New" pitchFamily="34" charset="-122"/>
                <a:cs typeface="Courier New" pitchFamily="34" charset="-120"/>
              </a:rPr>
              <a:t>shipments</a:t>
            </a:r>
            <a:endParaRPr lang="en-US" sz="1300" dirty="0"/>
          </a:p>
        </p:txBody>
      </p:sp>
      <p:sp>
        <p:nvSpPr>
          <p:cNvPr id="11" name="Text 8"/>
          <p:cNvSpPr txBox="1"/>
          <p:nvPr/>
        </p:nvSpPr>
        <p:spPr>
          <a:xfrm>
            <a:off x="1920240" y="2331720"/>
            <a:ext cx="2926080" cy="640080"/>
          </a:xfrm>
          <a:prstGeom prst="rect">
            <a:avLst/>
          </a:prstGeom>
          <a:noFill/>
          <a:ln/>
        </p:spPr>
        <p:txBody>
          <a:bodyPr wrap="square" lIns="0" tIns="0" rIns="0" bIns="0" rtlCol="0" anchor="ctr"/>
          <a:lstStyle/>
          <a:p>
            <a:pPr indent="0" marL="0">
              <a:buNone/>
            </a:pPr>
            <a:r>
              <a:rPr lang="en-US" sz="1000" dirty="0">
                <a:solidFill>
                  <a:srgbClr val="9AA6B2"/>
                </a:solidFill>
                <a:latin typeface="Calibri" pitchFamily="34" charset="0"/>
                <a:ea typeface="Calibri" pitchFamily="34" charset="-122"/>
                <a:cs typeface="Calibri" pitchFamily="34" charset="-120"/>
              </a:rPr>
              <a:t>shipment_id · order_id · origin_port · dest_port · eta · status · delay_days</a:t>
            </a:r>
            <a:endParaRPr lang="en-US" sz="1000" dirty="0"/>
          </a:p>
        </p:txBody>
      </p:sp>
      <p:sp>
        <p:nvSpPr>
          <p:cNvPr id="12" name="Text 9"/>
          <p:cNvSpPr txBox="1"/>
          <p:nvPr/>
        </p:nvSpPr>
        <p:spPr>
          <a:xfrm>
            <a:off x="4846320" y="2331720"/>
            <a:ext cx="640080" cy="640080"/>
          </a:xfrm>
          <a:prstGeom prst="rect">
            <a:avLst/>
          </a:prstGeom>
          <a:noFill/>
          <a:ln/>
        </p:spPr>
        <p:txBody>
          <a:bodyPr wrap="square" lIns="0" tIns="0" rIns="0" bIns="0" rtlCol="0" anchor="ctr"/>
          <a:lstStyle/>
          <a:p>
            <a:pPr algn="r" indent="0" marL="0">
              <a:buNone/>
            </a:pPr>
            <a:r>
              <a:rPr lang="en-US" sz="1000" dirty="0">
                <a:solidFill>
                  <a:srgbClr val="4FB3BF"/>
                </a:solidFill>
                <a:latin typeface="Calibri" pitchFamily="34" charset="0"/>
                <a:ea typeface="Calibri" pitchFamily="34" charset="-122"/>
                <a:cs typeface="Calibri" pitchFamily="34" charset="-120"/>
              </a:rPr>
              <a:t>85 rows</a:t>
            </a:r>
            <a:endParaRPr lang="en-US" sz="1000" dirty="0"/>
          </a:p>
        </p:txBody>
      </p:sp>
      <p:sp>
        <p:nvSpPr>
          <p:cNvPr id="13" name="Shape 10"/>
          <p:cNvSpPr/>
          <p:nvPr/>
        </p:nvSpPr>
        <p:spPr>
          <a:xfrm>
            <a:off x="457200" y="3108960"/>
            <a:ext cx="5120640" cy="640080"/>
          </a:xfrm>
          <a:prstGeom prst="roundRect">
            <a:avLst>
              <a:gd name="adj" fmla="val 11429"/>
            </a:avLst>
          </a:prstGeom>
          <a:solidFill>
            <a:srgbClr val="1B2127"/>
          </a:solidFill>
          <a:ln w="9525">
            <a:solidFill>
              <a:srgbClr val="2E3842"/>
            </a:solidFill>
            <a:prstDash val="solid"/>
          </a:ln>
        </p:spPr>
      </p:sp>
      <p:sp>
        <p:nvSpPr>
          <p:cNvPr id="14" name="Text 11"/>
          <p:cNvSpPr txBox="1"/>
          <p:nvPr/>
        </p:nvSpPr>
        <p:spPr>
          <a:xfrm>
            <a:off x="640080" y="3108960"/>
            <a:ext cx="1280160" cy="640080"/>
          </a:xfrm>
          <a:prstGeom prst="rect">
            <a:avLst/>
          </a:prstGeom>
          <a:noFill/>
          <a:ln/>
        </p:spPr>
        <p:txBody>
          <a:bodyPr wrap="square" lIns="0" tIns="0" rIns="0" bIns="0" rtlCol="0" anchor="ctr"/>
          <a:lstStyle/>
          <a:p>
            <a:pPr indent="0" marL="0">
              <a:buNone/>
            </a:pPr>
            <a:r>
              <a:rPr lang="en-US" sz="1300" b="1" dirty="0">
                <a:solidFill>
                  <a:srgbClr val="F5A623"/>
                </a:solidFill>
                <a:latin typeface="Courier New" pitchFamily="34" charset="0"/>
                <a:ea typeface="Courier New" pitchFamily="34" charset="-122"/>
                <a:cs typeface="Courier New" pitchFamily="34" charset="-120"/>
              </a:rPr>
              <a:t>hs_codes</a:t>
            </a:r>
            <a:endParaRPr lang="en-US" sz="1300" dirty="0"/>
          </a:p>
        </p:txBody>
      </p:sp>
      <p:sp>
        <p:nvSpPr>
          <p:cNvPr id="15" name="Text 12"/>
          <p:cNvSpPr txBox="1"/>
          <p:nvPr/>
        </p:nvSpPr>
        <p:spPr>
          <a:xfrm>
            <a:off x="1920240" y="3108960"/>
            <a:ext cx="2926080" cy="640080"/>
          </a:xfrm>
          <a:prstGeom prst="rect">
            <a:avLst/>
          </a:prstGeom>
          <a:noFill/>
          <a:ln/>
        </p:spPr>
        <p:txBody>
          <a:bodyPr wrap="square" lIns="0" tIns="0" rIns="0" bIns="0" rtlCol="0" anchor="ctr"/>
          <a:lstStyle/>
          <a:p>
            <a:pPr indent="0" marL="0">
              <a:buNone/>
            </a:pPr>
            <a:r>
              <a:rPr lang="en-US" sz="1000" dirty="0">
                <a:solidFill>
                  <a:srgbClr val="9AA6B2"/>
                </a:solidFill>
                <a:latin typeface="Calibri" pitchFamily="34" charset="0"/>
                <a:ea typeface="Calibri" pitchFamily="34" charset="-122"/>
                <a:cs typeface="Calibri" pitchFamily="34" charset="-120"/>
              </a:rPr>
              <a:t>code · description · basic_duty_pct</a:t>
            </a:r>
            <a:endParaRPr lang="en-US" sz="1000" dirty="0"/>
          </a:p>
        </p:txBody>
      </p:sp>
      <p:sp>
        <p:nvSpPr>
          <p:cNvPr id="16" name="Text 13"/>
          <p:cNvSpPr txBox="1"/>
          <p:nvPr/>
        </p:nvSpPr>
        <p:spPr>
          <a:xfrm>
            <a:off x="4846320" y="3108960"/>
            <a:ext cx="640080" cy="640080"/>
          </a:xfrm>
          <a:prstGeom prst="rect">
            <a:avLst/>
          </a:prstGeom>
          <a:noFill/>
          <a:ln/>
        </p:spPr>
        <p:txBody>
          <a:bodyPr wrap="square" lIns="0" tIns="0" rIns="0" bIns="0" rtlCol="0" anchor="ctr"/>
          <a:lstStyle/>
          <a:p>
            <a:pPr algn="r" indent="0" marL="0">
              <a:buNone/>
            </a:pPr>
            <a:r>
              <a:rPr lang="en-US" sz="1000" dirty="0">
                <a:solidFill>
                  <a:srgbClr val="4FB3BF"/>
                </a:solidFill>
                <a:latin typeface="Calibri" pitchFamily="34" charset="0"/>
                <a:ea typeface="Calibri" pitchFamily="34" charset="-122"/>
                <a:cs typeface="Calibri" pitchFamily="34" charset="-120"/>
              </a:rPr>
              <a:t>10 rows</a:t>
            </a:r>
            <a:endParaRPr lang="en-US" sz="1000" dirty="0"/>
          </a:p>
        </p:txBody>
      </p:sp>
      <p:sp>
        <p:nvSpPr>
          <p:cNvPr id="17" name="Shape 14"/>
          <p:cNvSpPr/>
          <p:nvPr/>
        </p:nvSpPr>
        <p:spPr>
          <a:xfrm>
            <a:off x="6400800" y="1371600"/>
            <a:ext cx="2286000" cy="457200"/>
          </a:xfrm>
          <a:prstGeom prst="roundRect">
            <a:avLst>
              <a:gd name="adj" fmla="val 16000"/>
            </a:avLst>
          </a:prstGeom>
          <a:solidFill>
            <a:srgbClr val="1B2127"/>
          </a:solidFill>
          <a:ln w="9525">
            <a:solidFill>
              <a:srgbClr val="2E3842"/>
            </a:solidFill>
            <a:prstDash val="solid"/>
          </a:ln>
        </p:spPr>
      </p:sp>
      <p:sp>
        <p:nvSpPr>
          <p:cNvPr id="18" name="Text 15"/>
          <p:cNvSpPr txBox="1"/>
          <p:nvPr/>
        </p:nvSpPr>
        <p:spPr>
          <a:xfrm>
            <a:off x="6400800" y="1371600"/>
            <a:ext cx="2286000" cy="457200"/>
          </a:xfrm>
          <a:prstGeom prst="rect">
            <a:avLst/>
          </a:prstGeom>
          <a:noFill/>
          <a:ln/>
        </p:spPr>
        <p:txBody>
          <a:bodyPr wrap="square" lIns="0" tIns="0" rIns="0" bIns="0" rtlCol="0" anchor="ctr"/>
          <a:lstStyle/>
          <a:p>
            <a:pPr algn="ctr" indent="0" marL="0">
              <a:buNone/>
            </a:pPr>
            <a:r>
              <a:rPr lang="en-US" sz="1200" b="1" dirty="0">
                <a:solidFill>
                  <a:srgbClr val="F3F5F7"/>
                </a:solidFill>
                <a:latin typeface="Calibri" pitchFamily="34" charset="0"/>
                <a:ea typeface="Calibri" pitchFamily="34" charset="-122"/>
                <a:cs typeface="Calibri" pitchFamily="34" charset="-120"/>
              </a:rPr>
              <a:t>Agent</a:t>
            </a:r>
            <a:endParaRPr lang="en-US" sz="1200" dirty="0"/>
          </a:p>
        </p:txBody>
      </p:sp>
      <p:sp>
        <p:nvSpPr>
          <p:cNvPr id="19" name="Shape 16"/>
          <p:cNvSpPr/>
          <p:nvPr/>
        </p:nvSpPr>
        <p:spPr>
          <a:xfrm>
            <a:off x="7543800" y="1828800"/>
            <a:ext cx="0" cy="292608"/>
          </a:xfrm>
          <a:prstGeom prst="line">
            <a:avLst/>
          </a:prstGeom>
          <a:noFill/>
          <a:ln w="19050">
            <a:solidFill>
              <a:srgbClr val="2E3842"/>
            </a:solidFill>
            <a:prstDash val="solid"/>
            <a:tailEnd type="triangle"/>
          </a:ln>
        </p:spPr>
      </p:sp>
      <p:sp>
        <p:nvSpPr>
          <p:cNvPr id="20" name="Shape 17"/>
          <p:cNvSpPr/>
          <p:nvPr/>
        </p:nvSpPr>
        <p:spPr>
          <a:xfrm>
            <a:off x="6400800" y="2121408"/>
            <a:ext cx="2286000" cy="457200"/>
          </a:xfrm>
          <a:prstGeom prst="roundRect">
            <a:avLst>
              <a:gd name="adj" fmla="val 16000"/>
            </a:avLst>
          </a:prstGeom>
          <a:solidFill>
            <a:srgbClr val="1B2127"/>
          </a:solidFill>
          <a:ln w="9525">
            <a:solidFill>
              <a:srgbClr val="2E3842"/>
            </a:solidFill>
            <a:prstDash val="solid"/>
          </a:ln>
        </p:spPr>
      </p:sp>
      <p:sp>
        <p:nvSpPr>
          <p:cNvPr id="21" name="Text 18"/>
          <p:cNvSpPr txBox="1"/>
          <p:nvPr/>
        </p:nvSpPr>
        <p:spPr>
          <a:xfrm>
            <a:off x="6400800" y="2121408"/>
            <a:ext cx="2286000" cy="457200"/>
          </a:xfrm>
          <a:prstGeom prst="rect">
            <a:avLst/>
          </a:prstGeom>
          <a:noFill/>
          <a:ln/>
        </p:spPr>
        <p:txBody>
          <a:bodyPr wrap="square" lIns="0" tIns="0" rIns="0" bIns="0" rtlCol="0" anchor="ctr"/>
          <a:lstStyle/>
          <a:p>
            <a:pPr algn="ctr" indent="0" marL="0">
              <a:buNone/>
            </a:pPr>
            <a:r>
              <a:rPr lang="en-US" sz="1200" b="1" dirty="0">
                <a:solidFill>
                  <a:srgbClr val="F3F5F7"/>
                </a:solidFill>
                <a:latin typeface="Calibri" pitchFamily="34" charset="0"/>
                <a:ea typeface="Calibri" pitchFamily="34" charset="-122"/>
                <a:cs typeface="Calibri" pitchFamily="34" charset="-120"/>
              </a:rPr>
              <a:t>MCP client</a:t>
            </a:r>
            <a:endParaRPr lang="en-US" sz="1200" dirty="0"/>
          </a:p>
        </p:txBody>
      </p:sp>
      <p:sp>
        <p:nvSpPr>
          <p:cNvPr id="22" name="Shape 19"/>
          <p:cNvSpPr/>
          <p:nvPr/>
        </p:nvSpPr>
        <p:spPr>
          <a:xfrm>
            <a:off x="7543800" y="2578608"/>
            <a:ext cx="0" cy="292608"/>
          </a:xfrm>
          <a:prstGeom prst="line">
            <a:avLst/>
          </a:prstGeom>
          <a:noFill/>
          <a:ln w="19050">
            <a:solidFill>
              <a:srgbClr val="2E3842"/>
            </a:solidFill>
            <a:prstDash val="solid"/>
            <a:tailEnd type="triangle"/>
          </a:ln>
        </p:spPr>
      </p:sp>
      <p:sp>
        <p:nvSpPr>
          <p:cNvPr id="23" name="Shape 20"/>
          <p:cNvSpPr/>
          <p:nvPr/>
        </p:nvSpPr>
        <p:spPr>
          <a:xfrm>
            <a:off x="6400800" y="2871216"/>
            <a:ext cx="2286000" cy="457200"/>
          </a:xfrm>
          <a:prstGeom prst="roundRect">
            <a:avLst>
              <a:gd name="adj" fmla="val 16000"/>
            </a:avLst>
          </a:prstGeom>
          <a:solidFill>
            <a:srgbClr val="232B33"/>
          </a:solidFill>
          <a:ln w="9525">
            <a:solidFill>
              <a:srgbClr val="2E3842"/>
            </a:solidFill>
            <a:prstDash val="solid"/>
          </a:ln>
        </p:spPr>
      </p:sp>
      <p:sp>
        <p:nvSpPr>
          <p:cNvPr id="24" name="Text 21"/>
          <p:cNvSpPr txBox="1"/>
          <p:nvPr/>
        </p:nvSpPr>
        <p:spPr>
          <a:xfrm>
            <a:off x="6400800" y="2871216"/>
            <a:ext cx="2286000" cy="457200"/>
          </a:xfrm>
          <a:prstGeom prst="rect">
            <a:avLst/>
          </a:prstGeom>
          <a:noFill/>
          <a:ln/>
        </p:spPr>
        <p:txBody>
          <a:bodyPr wrap="square" lIns="0" tIns="0" rIns="0" bIns="0" rtlCol="0" anchor="ctr"/>
          <a:lstStyle/>
          <a:p>
            <a:pPr algn="ctr" indent="0" marL="0">
              <a:buNone/>
            </a:pPr>
            <a:r>
              <a:rPr lang="en-US" sz="1200" b="1" dirty="0">
                <a:solidFill>
                  <a:srgbClr val="F5A623"/>
                </a:solidFill>
                <a:latin typeface="Calibri" pitchFamily="34" charset="0"/>
                <a:ea typeface="Calibri" pitchFamily="34" charset="-122"/>
                <a:cs typeface="Calibri" pitchFamily="34" charset="-120"/>
              </a:rPr>
              <a:t>MCP server</a:t>
            </a:r>
            <a:endParaRPr lang="en-US" sz="1200" dirty="0"/>
          </a:p>
        </p:txBody>
      </p:sp>
      <p:sp>
        <p:nvSpPr>
          <p:cNvPr id="25" name="Shape 22"/>
          <p:cNvSpPr/>
          <p:nvPr/>
        </p:nvSpPr>
        <p:spPr>
          <a:xfrm>
            <a:off x="7543800" y="3328416"/>
            <a:ext cx="0" cy="292608"/>
          </a:xfrm>
          <a:prstGeom prst="line">
            <a:avLst/>
          </a:prstGeom>
          <a:noFill/>
          <a:ln w="19050">
            <a:solidFill>
              <a:srgbClr val="2E3842"/>
            </a:solidFill>
            <a:prstDash val="solid"/>
            <a:tailEnd type="triangle"/>
          </a:ln>
        </p:spPr>
      </p:sp>
      <p:sp>
        <p:nvSpPr>
          <p:cNvPr id="26" name="Shape 23"/>
          <p:cNvSpPr/>
          <p:nvPr/>
        </p:nvSpPr>
        <p:spPr>
          <a:xfrm>
            <a:off x="6400800" y="3621024"/>
            <a:ext cx="2286000" cy="457200"/>
          </a:xfrm>
          <a:prstGeom prst="roundRect">
            <a:avLst>
              <a:gd name="adj" fmla="val 16000"/>
            </a:avLst>
          </a:prstGeom>
          <a:solidFill>
            <a:srgbClr val="1B2127"/>
          </a:solidFill>
          <a:ln w="9525">
            <a:solidFill>
              <a:srgbClr val="2E3842"/>
            </a:solidFill>
            <a:prstDash val="solid"/>
          </a:ln>
        </p:spPr>
      </p:sp>
      <p:sp>
        <p:nvSpPr>
          <p:cNvPr id="27" name="Text 24"/>
          <p:cNvSpPr txBox="1"/>
          <p:nvPr/>
        </p:nvSpPr>
        <p:spPr>
          <a:xfrm>
            <a:off x="6400800" y="3621024"/>
            <a:ext cx="2286000" cy="457200"/>
          </a:xfrm>
          <a:prstGeom prst="rect">
            <a:avLst/>
          </a:prstGeom>
          <a:noFill/>
          <a:ln/>
        </p:spPr>
        <p:txBody>
          <a:bodyPr wrap="square" lIns="0" tIns="0" rIns="0" bIns="0" rtlCol="0" anchor="ctr"/>
          <a:lstStyle/>
          <a:p>
            <a:pPr algn="ctr" indent="0" marL="0">
              <a:buNone/>
            </a:pPr>
            <a:r>
              <a:rPr lang="en-US" sz="1200" b="1" dirty="0">
                <a:solidFill>
                  <a:srgbClr val="F3F5F7"/>
                </a:solidFill>
                <a:latin typeface="Calibri" pitchFamily="34" charset="0"/>
                <a:ea typeface="Calibri" pitchFamily="34" charset="-122"/>
                <a:cs typeface="Calibri" pitchFamily="34" charset="-120"/>
              </a:rPr>
              <a:t>SQLite</a:t>
            </a:r>
            <a:endParaRPr lang="en-US" sz="1200" dirty="0"/>
          </a:p>
        </p:txBody>
      </p:sp>
      <p:sp>
        <p:nvSpPr>
          <p:cNvPr id="28" name="Text 25"/>
          <p:cNvSpPr txBox="1"/>
          <p:nvPr/>
        </p:nvSpPr>
        <p:spPr>
          <a:xfrm>
            <a:off x="457200" y="3977640"/>
            <a:ext cx="5486400" cy="274320"/>
          </a:xfrm>
          <a:prstGeom prst="rect">
            <a:avLst/>
          </a:prstGeom>
          <a:noFill/>
          <a:ln/>
        </p:spPr>
        <p:txBody>
          <a:bodyPr wrap="square" lIns="0" tIns="0" rIns="0" bIns="0" rtlCol="0" anchor="ctr"/>
          <a:lstStyle/>
          <a:p>
            <a:pPr indent="0" marL="0">
              <a:buNone/>
            </a:pPr>
            <a:r>
              <a:rPr lang="en-US" sz="1100" dirty="0">
                <a:solidFill>
                  <a:srgbClr val="F3F5F7"/>
                </a:solidFill>
                <a:latin typeface="Courier New" pitchFamily="34" charset="0"/>
                <a:ea typeface="Courier New" pitchFamily="34" charset="-122"/>
                <a:cs typeface="Courier New" pitchFamily="34" charset="-120"/>
              </a:rPr>
              <a:t>python seed_db.py  →  trade_orders.db</a:t>
            </a:r>
            <a:endParaRPr lang="en-US" sz="1100" dirty="0"/>
          </a:p>
        </p:txBody>
      </p:sp>
      <p:sp>
        <p:nvSpPr>
          <p:cNvPr id="29" name="Text 26"/>
          <p:cNvSpPr txBox="1"/>
          <p:nvPr/>
        </p:nvSpPr>
        <p:spPr>
          <a:xfrm>
            <a:off x="457200" y="4709160"/>
            <a:ext cx="5486400" cy="274320"/>
          </a:xfrm>
          <a:prstGeom prst="rect">
            <a:avLst/>
          </a:prstGeom>
          <a:noFill/>
          <a:ln/>
        </p:spPr>
        <p:txBody>
          <a:bodyPr wrap="square" lIns="0" tIns="0" rIns="0" bIns="0" rtlCol="0" anchor="ctr"/>
          <a:lstStyle/>
          <a:p>
            <a:pPr indent="0" marL="0">
              <a:buNone/>
            </a:pPr>
            <a:r>
              <a:rPr lang="en-US" sz="1000" dirty="0">
                <a:solidFill>
                  <a:srgbClr val="9AA6B2"/>
                </a:solidFill>
                <a:latin typeface="Calibri" pitchFamily="34" charset="0"/>
                <a:ea typeface="Calibri" pitchFamily="34" charset="-122"/>
                <a:cs typeface="Calibri" pitchFamily="34" charset="-120"/>
              </a:rPr>
              <a:t>Arthashastra Learning · The Agentic Enterprise · Ep 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316"/>
        </a:solidFill>
      </p:bgPr>
    </p:bg>
    <p:spTree>
      <p:nvGrpSpPr>
        <p:cNvPr id="1" name=""/>
        <p:cNvGrpSpPr/>
        <p:nvPr/>
      </p:nvGrpSpPr>
      <p:grpSpPr>
        <a:xfrm>
          <a:off x="0" y="0"/>
          <a:ext cx="0" cy="0"/>
          <a:chOff x="0" y="0"/>
          <a:chExt cx="0" cy="0"/>
        </a:xfrm>
      </p:grpSpPr>
      <p:sp>
        <p:nvSpPr>
          <p:cNvPr id="3"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F3F5F7"/>
                </a:solidFill>
                <a:latin typeface="Cambria" pitchFamily="34" charset="0"/>
                <a:ea typeface="Cambria" pitchFamily="34" charset="-122"/>
                <a:cs typeface="Cambria" pitchFamily="34" charset="-120"/>
              </a:rPr>
              <a:t>Live code 1 · the server skeleton</a:t>
            </a:r>
            <a:endParaRPr lang="en-US" sz="3000" dirty="0"/>
          </a:p>
        </p:txBody>
      </p:sp>
      <p:sp>
        <p:nvSpPr>
          <p:cNvPr id="4" name="Shape 1"/>
          <p:cNvSpPr/>
          <p:nvPr/>
        </p:nvSpPr>
        <p:spPr>
          <a:xfrm>
            <a:off x="457200" y="1188720"/>
            <a:ext cx="5120640" cy="2377440"/>
          </a:xfrm>
          <a:prstGeom prst="roundRect">
            <a:avLst>
              <a:gd name="adj" fmla="val 3077"/>
            </a:avLst>
          </a:prstGeom>
          <a:solidFill>
            <a:srgbClr val="0B0E11"/>
          </a:solidFill>
          <a:ln w="9525">
            <a:solidFill>
              <a:srgbClr val="2E3842"/>
            </a:solidFill>
            <a:prstDash val="solid"/>
          </a:ln>
        </p:spPr>
      </p:sp>
      <p:sp>
        <p:nvSpPr>
          <p:cNvPr id="5" name="Text 2"/>
          <p:cNvSpPr txBox="1"/>
          <p:nvPr/>
        </p:nvSpPr>
        <p:spPr>
          <a:xfrm>
            <a:off x="640080" y="1325880"/>
            <a:ext cx="4754880" cy="2103120"/>
          </a:xfrm>
          <a:prstGeom prst="rect">
            <a:avLst/>
          </a:prstGeom>
          <a:noFill/>
          <a:ln/>
        </p:spPr>
        <p:txBody>
          <a:bodyPr wrap="square" lIns="0" tIns="0" rIns="0" bIns="0" rtlCol="0" anchor="t"/>
          <a:lstStyle/>
          <a:p>
            <a:pPr indent="0" marL="0">
              <a:buNone/>
            </a:pPr>
            <a:r>
              <a:rPr lang="en-US" sz="1300" dirty="0">
                <a:solidFill>
                  <a:srgbClr val="F3F5F7"/>
                </a:solidFill>
                <a:latin typeface="Courier New" pitchFamily="34" charset="0"/>
                <a:ea typeface="Courier New" pitchFamily="34" charset="-122"/>
                <a:cs typeface="Courier New" pitchFamily="34" charset="-120"/>
              </a:rPr>
              <a:t>from mcp.server.fastmcp import FastMCP</a:t>
            </a:r>
            <a:endParaRPr lang="en-US" sz="1300" dirty="0"/>
          </a:p>
          <a:p>
            <a:pPr indent="0" marL="0">
              <a:buNone/>
            </a:pPr>
            <a:endParaRPr lang="en-US" sz="1300" dirty="0"/>
          </a:p>
          <a:p>
            <a:pPr indent="0" marL="0">
              <a:buNone/>
            </a:pPr>
            <a:r>
              <a:rPr lang="en-US" sz="1300" dirty="0">
                <a:solidFill>
                  <a:srgbClr val="F5A623"/>
                </a:solidFill>
                <a:latin typeface="Courier New" pitchFamily="34" charset="0"/>
                <a:ea typeface="Courier New" pitchFamily="34" charset="-122"/>
                <a:cs typeface="Courier New" pitchFamily="34" charset="-120"/>
              </a:rPr>
              <a:t>mcp = FastMCP("trade-orders")</a:t>
            </a:r>
            <a:endParaRPr lang="en-US" sz="1300" dirty="0"/>
          </a:p>
          <a:p>
            <a:pPr indent="0" marL="0">
              <a:buNone/>
            </a:pPr>
            <a:endParaRPr lang="en-US" sz="1300" dirty="0"/>
          </a:p>
          <a:p>
            <a:pPr indent="0" marL="0">
              <a:buNone/>
            </a:pPr>
            <a:r>
              <a:rPr lang="en-US" sz="1300" dirty="0">
                <a:solidFill>
                  <a:srgbClr val="F3F5F7"/>
                </a:solidFill>
                <a:latin typeface="Courier New" pitchFamily="34" charset="0"/>
                <a:ea typeface="Courier New" pitchFamily="34" charset="-122"/>
                <a:cs typeface="Courier New" pitchFamily="34" charset="-120"/>
              </a:rPr>
              <a:t># ... tools go here ...</a:t>
            </a:r>
            <a:endParaRPr lang="en-US" sz="1300" dirty="0"/>
          </a:p>
          <a:p>
            <a:pPr indent="0" marL="0">
              <a:buNone/>
            </a:pPr>
            <a:endParaRPr lang="en-US" sz="1300" dirty="0"/>
          </a:p>
          <a:p>
            <a:pPr indent="0" marL="0">
              <a:buNone/>
            </a:pPr>
            <a:r>
              <a:rPr lang="en-US" sz="1300" dirty="0">
                <a:solidFill>
                  <a:srgbClr val="F3F5F7"/>
                </a:solidFill>
                <a:latin typeface="Courier New" pitchFamily="34" charset="0"/>
                <a:ea typeface="Courier New" pitchFamily="34" charset="-122"/>
                <a:cs typeface="Courier New" pitchFamily="34" charset="-120"/>
              </a:rPr>
              <a:t>if __name__ == "__main__":</a:t>
            </a:r>
            <a:endParaRPr lang="en-US" sz="1300" dirty="0"/>
          </a:p>
          <a:p>
            <a:pPr indent="0" marL="0">
              <a:buNone/>
            </a:pPr>
            <a:r>
              <a:rPr lang="en-US" sz="1300" dirty="0">
                <a:solidFill>
                  <a:srgbClr val="F5A623"/>
                </a:solidFill>
                <a:latin typeface="Courier New" pitchFamily="34" charset="0"/>
                <a:ea typeface="Courier New" pitchFamily="34" charset="-122"/>
                <a:cs typeface="Courier New" pitchFamily="34" charset="-120"/>
              </a:rPr>
              <a:t>    mcp.run()   # stdio transport by default</a:t>
            </a:r>
            <a:endParaRPr lang="en-US" sz="1300" dirty="0"/>
          </a:p>
        </p:txBody>
      </p:sp>
      <p:sp>
        <p:nvSpPr>
          <p:cNvPr id="6" name="Text 3"/>
          <p:cNvSpPr txBox="1"/>
          <p:nvPr/>
        </p:nvSpPr>
        <p:spPr>
          <a:xfrm>
            <a:off x="5852160" y="1188720"/>
            <a:ext cx="2834640" cy="274320"/>
          </a:xfrm>
          <a:prstGeom prst="rect">
            <a:avLst/>
          </a:prstGeom>
          <a:noFill/>
          <a:ln/>
        </p:spPr>
        <p:txBody>
          <a:bodyPr wrap="square" lIns="0" tIns="0" rIns="0" bIns="0" rtlCol="0" anchor="ctr"/>
          <a:lstStyle/>
          <a:p>
            <a:pPr indent="0" marL="0">
              <a:buNone/>
            </a:pPr>
            <a:r>
              <a:rPr lang="en-US" sz="1200" b="1" dirty="0">
                <a:solidFill>
                  <a:srgbClr val="4FB3BF"/>
                </a:solidFill>
                <a:latin typeface="Courier New" pitchFamily="34" charset="0"/>
                <a:ea typeface="Courier New" pitchFamily="34" charset="-122"/>
                <a:cs typeface="Courier New" pitchFamily="34" charset="-120"/>
              </a:rPr>
              <a:t>FastMCP</a:t>
            </a:r>
            <a:endParaRPr lang="en-US" sz="1200" dirty="0"/>
          </a:p>
        </p:txBody>
      </p:sp>
      <p:sp>
        <p:nvSpPr>
          <p:cNvPr id="7" name="Text 4"/>
          <p:cNvSpPr txBox="1"/>
          <p:nvPr/>
        </p:nvSpPr>
        <p:spPr>
          <a:xfrm>
            <a:off x="5852160" y="1481328"/>
            <a:ext cx="2834640" cy="502920"/>
          </a:xfrm>
          <a:prstGeom prst="rect">
            <a:avLst/>
          </a:prstGeom>
          <a:noFill/>
          <a:ln/>
        </p:spPr>
        <p:txBody>
          <a:bodyPr wrap="square" lIns="0" tIns="0" rIns="0" bIns="0" rtlCol="0" anchor="t"/>
          <a:lstStyle/>
          <a:p>
            <a:pPr indent="0" marL="0">
              <a:buNone/>
            </a:pPr>
            <a:r>
              <a:rPr lang="en-US" sz="1100" dirty="0">
                <a:solidFill>
                  <a:srgbClr val="9AA6B2"/>
                </a:solidFill>
                <a:latin typeface="Calibri" pitchFamily="34" charset="0"/>
                <a:ea typeface="Calibri" pitchFamily="34" charset="-122"/>
                <a:cs typeface="Calibri" pitchFamily="34" charset="-120"/>
              </a:rPr>
              <a:t>the high-level server class in the official Python SDK — decorators, not boilerplate</a:t>
            </a:r>
            <a:endParaRPr lang="en-US" sz="1100" dirty="0"/>
          </a:p>
        </p:txBody>
      </p:sp>
      <p:sp>
        <p:nvSpPr>
          <p:cNvPr id="8" name="Text 5"/>
          <p:cNvSpPr txBox="1"/>
          <p:nvPr/>
        </p:nvSpPr>
        <p:spPr>
          <a:xfrm>
            <a:off x="5852160" y="2011680"/>
            <a:ext cx="2834640" cy="274320"/>
          </a:xfrm>
          <a:prstGeom prst="rect">
            <a:avLst/>
          </a:prstGeom>
          <a:noFill/>
          <a:ln/>
        </p:spPr>
        <p:txBody>
          <a:bodyPr wrap="square" lIns="0" tIns="0" rIns="0" bIns="0" rtlCol="0" anchor="ctr"/>
          <a:lstStyle/>
          <a:p>
            <a:pPr indent="0" marL="0">
              <a:buNone/>
            </a:pPr>
            <a:r>
              <a:rPr lang="en-US" sz="1200" b="1" dirty="0">
                <a:solidFill>
                  <a:srgbClr val="4FB3BF"/>
                </a:solidFill>
                <a:latin typeface="Courier New" pitchFamily="34" charset="0"/>
                <a:ea typeface="Courier New" pitchFamily="34" charset="-122"/>
                <a:cs typeface="Courier New" pitchFamily="34" charset="-120"/>
              </a:rPr>
              <a:t>mcp.run()</a:t>
            </a:r>
            <a:endParaRPr lang="en-US" sz="1200" dirty="0"/>
          </a:p>
        </p:txBody>
      </p:sp>
      <p:sp>
        <p:nvSpPr>
          <p:cNvPr id="9" name="Text 6"/>
          <p:cNvSpPr txBox="1"/>
          <p:nvPr/>
        </p:nvSpPr>
        <p:spPr>
          <a:xfrm>
            <a:off x="5852160" y="2304288"/>
            <a:ext cx="2834640" cy="502920"/>
          </a:xfrm>
          <a:prstGeom prst="rect">
            <a:avLst/>
          </a:prstGeom>
          <a:noFill/>
          <a:ln/>
        </p:spPr>
        <p:txBody>
          <a:bodyPr wrap="square" lIns="0" tIns="0" rIns="0" bIns="0" rtlCol="0" anchor="t"/>
          <a:lstStyle/>
          <a:p>
            <a:pPr indent="0" marL="0">
              <a:buNone/>
            </a:pPr>
            <a:r>
              <a:rPr lang="en-US" sz="1100" dirty="0">
                <a:solidFill>
                  <a:srgbClr val="9AA6B2"/>
                </a:solidFill>
                <a:latin typeface="Calibri" pitchFamily="34" charset="0"/>
                <a:ea typeface="Calibri" pitchFamily="34" charset="-122"/>
                <a:cs typeface="Calibri" pitchFamily="34" charset="-120"/>
              </a:rPr>
              <a:t>speaks JSON-RPC over stdin/stdout. The client launches it as a subprocess.</a:t>
            </a:r>
            <a:endParaRPr lang="en-US" sz="1100" dirty="0"/>
          </a:p>
        </p:txBody>
      </p:sp>
      <p:sp>
        <p:nvSpPr>
          <p:cNvPr id="10" name="Text 7"/>
          <p:cNvSpPr txBox="1"/>
          <p:nvPr/>
        </p:nvSpPr>
        <p:spPr>
          <a:xfrm>
            <a:off x="5852160" y="2834640"/>
            <a:ext cx="2834640" cy="274320"/>
          </a:xfrm>
          <a:prstGeom prst="rect">
            <a:avLst/>
          </a:prstGeom>
          <a:noFill/>
          <a:ln/>
        </p:spPr>
        <p:txBody>
          <a:bodyPr wrap="square" lIns="0" tIns="0" rIns="0" bIns="0" rtlCol="0" anchor="ctr"/>
          <a:lstStyle/>
          <a:p>
            <a:pPr indent="0" marL="0">
              <a:buNone/>
            </a:pPr>
            <a:r>
              <a:rPr lang="en-US" sz="1200" b="1" dirty="0">
                <a:solidFill>
                  <a:srgbClr val="4FB3BF"/>
                </a:solidFill>
                <a:latin typeface="Courier New" pitchFamily="34" charset="0"/>
                <a:ea typeface="Courier New" pitchFamily="34" charset="-122"/>
                <a:cs typeface="Courier New" pitchFamily="34" charset="-120"/>
              </a:rPr>
              <a:t>No tools yet</a:t>
            </a:r>
            <a:endParaRPr lang="en-US" sz="1200" dirty="0"/>
          </a:p>
        </p:txBody>
      </p:sp>
      <p:sp>
        <p:nvSpPr>
          <p:cNvPr id="11" name="Text 8"/>
          <p:cNvSpPr txBox="1"/>
          <p:nvPr/>
        </p:nvSpPr>
        <p:spPr>
          <a:xfrm>
            <a:off x="5852160" y="3127248"/>
            <a:ext cx="2834640" cy="502920"/>
          </a:xfrm>
          <a:prstGeom prst="rect">
            <a:avLst/>
          </a:prstGeom>
          <a:noFill/>
          <a:ln/>
        </p:spPr>
        <p:txBody>
          <a:bodyPr wrap="square" lIns="0" tIns="0" rIns="0" bIns="0" rtlCol="0" anchor="t"/>
          <a:lstStyle/>
          <a:p>
            <a:pPr indent="0" marL="0">
              <a:buNone/>
            </a:pPr>
            <a:r>
              <a:rPr lang="en-US" sz="1100" dirty="0">
                <a:solidFill>
                  <a:srgbClr val="9AA6B2"/>
                </a:solidFill>
                <a:latin typeface="Calibri" pitchFamily="34" charset="0"/>
                <a:ea typeface="Calibri" pitchFamily="34" charset="-122"/>
                <a:cs typeface="Calibri" pitchFamily="34" charset="-120"/>
              </a:rPr>
              <a:t>a server with zero tools is valid — the client will list an empty set</a:t>
            </a:r>
            <a:endParaRPr lang="en-US" sz="1100" dirty="0"/>
          </a:p>
        </p:txBody>
      </p:sp>
      <p:sp>
        <p:nvSpPr>
          <p:cNvPr id="12" name="Text 9"/>
          <p:cNvSpPr txBox="1"/>
          <p:nvPr/>
        </p:nvSpPr>
        <p:spPr>
          <a:xfrm>
            <a:off x="457200" y="3794760"/>
            <a:ext cx="5120640" cy="274320"/>
          </a:xfrm>
          <a:prstGeom prst="rect">
            <a:avLst/>
          </a:prstGeom>
          <a:noFill/>
          <a:ln/>
        </p:spPr>
        <p:txBody>
          <a:bodyPr wrap="square" lIns="0" tIns="0" rIns="0" bIns="0" rtlCol="0" anchor="ctr"/>
          <a:lstStyle/>
          <a:p>
            <a:pPr indent="0" marL="0">
              <a:buNone/>
            </a:pPr>
            <a:r>
              <a:rPr lang="en-US" sz="1100" dirty="0">
                <a:solidFill>
                  <a:srgbClr val="9AA6B2"/>
                </a:solidFill>
                <a:latin typeface="Courier New" pitchFamily="34" charset="0"/>
                <a:ea typeface="Courier New" pitchFamily="34" charset="-122"/>
                <a:cs typeface="Courier New" pitchFamily="34" charset="-120"/>
              </a:rPr>
              <a:t>pip install mcp anthropic</a:t>
            </a:r>
            <a:endParaRPr lang="en-US" sz="1100" dirty="0"/>
          </a:p>
        </p:txBody>
      </p:sp>
      <p:sp>
        <p:nvSpPr>
          <p:cNvPr id="13" name="Text 10"/>
          <p:cNvSpPr txBox="1"/>
          <p:nvPr/>
        </p:nvSpPr>
        <p:spPr>
          <a:xfrm>
            <a:off x="457200" y="4709160"/>
            <a:ext cx="5486400" cy="274320"/>
          </a:xfrm>
          <a:prstGeom prst="rect">
            <a:avLst/>
          </a:prstGeom>
          <a:noFill/>
          <a:ln/>
        </p:spPr>
        <p:txBody>
          <a:bodyPr wrap="square" lIns="0" tIns="0" rIns="0" bIns="0" rtlCol="0" anchor="ctr"/>
          <a:lstStyle/>
          <a:p>
            <a:pPr indent="0" marL="0">
              <a:buNone/>
            </a:pPr>
            <a:r>
              <a:rPr lang="en-US" sz="1000" dirty="0">
                <a:solidFill>
                  <a:srgbClr val="9AA6B2"/>
                </a:solidFill>
                <a:latin typeface="Calibri" pitchFamily="34" charset="0"/>
                <a:ea typeface="Calibri" pitchFamily="34" charset="-122"/>
                <a:cs typeface="Calibri" pitchFamily="34" charset="-120"/>
              </a:rPr>
              <a:t>server_starter.py → server.py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316"/>
        </a:solidFill>
      </p:bgPr>
    </p:bg>
    <p:spTree>
      <p:nvGrpSpPr>
        <p:cNvPr id="1" name=""/>
        <p:cNvGrpSpPr/>
        <p:nvPr/>
      </p:nvGrpSpPr>
      <p:grpSpPr>
        <a:xfrm>
          <a:off x="0" y="0"/>
          <a:ext cx="0" cy="0"/>
          <a:chOff x="0" y="0"/>
          <a:chExt cx="0" cy="0"/>
        </a:xfrm>
      </p:grpSpPr>
      <p:sp>
        <p:nvSpPr>
          <p:cNvPr id="3"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F3F5F7"/>
                </a:solidFill>
                <a:latin typeface="Cambria" pitchFamily="34" charset="0"/>
                <a:ea typeface="Cambria" pitchFamily="34" charset="-122"/>
                <a:cs typeface="Cambria" pitchFamily="34" charset="-120"/>
              </a:rPr>
              <a:t>Live code 2 · three tools</a:t>
            </a:r>
            <a:endParaRPr lang="en-US" sz="3000" dirty="0"/>
          </a:p>
        </p:txBody>
      </p:sp>
      <p:sp>
        <p:nvSpPr>
          <p:cNvPr id="4" name="Shape 1"/>
          <p:cNvSpPr/>
          <p:nvPr/>
        </p:nvSpPr>
        <p:spPr>
          <a:xfrm>
            <a:off x="457200" y="1143000"/>
            <a:ext cx="5394960" cy="3291840"/>
          </a:xfrm>
          <a:prstGeom prst="roundRect">
            <a:avLst>
              <a:gd name="adj" fmla="val 2222"/>
            </a:avLst>
          </a:prstGeom>
          <a:solidFill>
            <a:srgbClr val="0B0E11"/>
          </a:solidFill>
          <a:ln w="9525">
            <a:solidFill>
              <a:srgbClr val="2E3842"/>
            </a:solidFill>
            <a:prstDash val="solid"/>
          </a:ln>
        </p:spPr>
      </p:sp>
      <p:sp>
        <p:nvSpPr>
          <p:cNvPr id="5" name="Text 2"/>
          <p:cNvSpPr txBox="1"/>
          <p:nvPr/>
        </p:nvSpPr>
        <p:spPr>
          <a:xfrm>
            <a:off x="640080" y="1280160"/>
            <a:ext cx="5029200" cy="3017520"/>
          </a:xfrm>
          <a:prstGeom prst="rect">
            <a:avLst/>
          </a:prstGeom>
          <a:noFill/>
          <a:ln/>
        </p:spPr>
        <p:txBody>
          <a:bodyPr wrap="square" lIns="0" tIns="0" rIns="0" bIns="0" rtlCol="0" anchor="t"/>
          <a:lstStyle/>
          <a:p>
            <a:pPr indent="0" marL="0">
              <a:buNone/>
            </a:pPr>
            <a:r>
              <a:rPr lang="en-US" sz="1000" dirty="0">
                <a:solidFill>
                  <a:srgbClr val="F5A623"/>
                </a:solidFill>
                <a:latin typeface="Courier New" pitchFamily="34" charset="0"/>
                <a:ea typeface="Courier New" pitchFamily="34" charset="-122"/>
                <a:cs typeface="Courier New" pitchFamily="34" charset="-120"/>
              </a:rPr>
              <a:t>@mcp.tool()</a:t>
            </a:r>
            <a:endParaRPr lang="en-US" sz="1000" dirty="0"/>
          </a:p>
          <a:p>
            <a:pPr indent="0" marL="0">
              <a:buNone/>
            </a:pPr>
            <a:r>
              <a:rPr lang="en-US" sz="1000" dirty="0">
                <a:solidFill>
                  <a:srgbClr val="F3F5F7"/>
                </a:solidFill>
                <a:latin typeface="Courier New" pitchFamily="34" charset="0"/>
                <a:ea typeface="Courier New" pitchFamily="34" charset="-122"/>
                <a:cs typeface="Courier New" pitchFamily="34" charset="-120"/>
              </a:rPr>
              <a:t>def get_order(order_id: str) -&gt; str:</a:t>
            </a:r>
            <a:endParaRPr lang="en-US" sz="1000" dirty="0"/>
          </a:p>
          <a:p>
            <a:pPr indent="0" marL="0">
              <a:buNone/>
            </a:pPr>
            <a:r>
              <a:rPr lang="en-US" sz="1000" dirty="0">
                <a:solidFill>
                  <a:srgbClr val="4FB3BF"/>
                </a:solidFill>
                <a:latin typeface="Courier New" pitchFamily="34" charset="0"/>
                <a:ea typeface="Courier New" pitchFamily="34" charset="-122"/>
                <a:cs typeface="Courier New" pitchFamily="34" charset="-120"/>
              </a:rPr>
              <a:t>    """Fetch one order by id (format 'A-7001') with its</a:t>
            </a:r>
            <a:endParaRPr lang="en-US" sz="1000" dirty="0"/>
          </a:p>
          <a:p>
            <a:pPr indent="0" marL="0">
              <a:buNone/>
            </a:pPr>
            <a:r>
              <a:rPr lang="en-US" sz="1000" dirty="0">
                <a:solidFill>
                  <a:srgbClr val="4FB3BF"/>
                </a:solidFill>
                <a:latin typeface="Courier New" pitchFamily="34" charset="0"/>
                <a:ea typeface="Courier New" pitchFamily="34" charset="-122"/>
                <a:cs typeface="Courier New" pitchFamily="34" charset="-120"/>
              </a:rPr>
              <a:t>    HS description and linked shipment. Use when the user</a:t>
            </a:r>
            <a:endParaRPr lang="en-US" sz="1000" dirty="0"/>
          </a:p>
          <a:p>
            <a:pPr indent="0" marL="0">
              <a:buNone/>
            </a:pPr>
            <a:r>
              <a:rPr lang="en-US" sz="1000" dirty="0">
                <a:solidFill>
                  <a:srgbClr val="4FB3BF"/>
                </a:solidFill>
                <a:latin typeface="Courier New" pitchFamily="34" charset="0"/>
                <a:ea typeface="Courier New" pitchFamily="34" charset="-122"/>
                <a:cs typeface="Courier New" pitchFamily="34" charset="-120"/>
              </a:rPr>
              <a:t>    names a specific order. Returns JSON."""</a:t>
            </a:r>
            <a:endParaRPr lang="en-US" sz="1000" dirty="0"/>
          </a:p>
          <a:p>
            <a:pPr indent="0" marL="0">
              <a:buNone/>
            </a:pPr>
            <a:r>
              <a:rPr lang="en-US" sz="1000" dirty="0">
                <a:solidFill>
                  <a:srgbClr val="F3F5F7"/>
                </a:solidFill>
                <a:latin typeface="Courier New" pitchFamily="34" charset="0"/>
                <a:ea typeface="Courier New" pitchFamily="34" charset="-122"/>
                <a:cs typeface="Courier New" pitchFamily="34" charset="-120"/>
              </a:rPr>
              <a:t>    rows = _query("SELECT ... WHERE o.order_id = ?",</a:t>
            </a:r>
            <a:endParaRPr lang="en-US" sz="1000" dirty="0"/>
          </a:p>
          <a:p>
            <a:pPr indent="0" marL="0">
              <a:buNone/>
            </a:pPr>
            <a:r>
              <a:rPr lang="en-US" sz="1000" dirty="0">
                <a:solidFill>
                  <a:srgbClr val="F3F5F7"/>
                </a:solidFill>
                <a:latin typeface="Courier New" pitchFamily="34" charset="0"/>
                <a:ea typeface="Courier New" pitchFamily="34" charset="-122"/>
                <a:cs typeface="Courier New" pitchFamily="34" charset="-120"/>
              </a:rPr>
              <a:t>                  (order_id.strip().upper(),))</a:t>
            </a:r>
            <a:endParaRPr lang="en-US" sz="1000" dirty="0"/>
          </a:p>
          <a:p>
            <a:pPr indent="0" marL="0">
              <a:buNone/>
            </a:pPr>
            <a:r>
              <a:rPr lang="en-US" sz="1000" dirty="0">
                <a:solidFill>
                  <a:srgbClr val="F3F5F7"/>
                </a:solidFill>
                <a:latin typeface="Courier New" pitchFamily="34" charset="0"/>
                <a:ea typeface="Courier New" pitchFamily="34" charset="-122"/>
                <a:cs typeface="Courier New" pitchFamily="34" charset="-120"/>
              </a:rPr>
              <a:t>    return json.dumps(rows[0] if rows else</a:t>
            </a:r>
            <a:endParaRPr lang="en-US" sz="1000" dirty="0"/>
          </a:p>
          <a:p>
            <a:pPr indent="0" marL="0">
              <a:buNone/>
            </a:pPr>
            <a:r>
              <a:rPr lang="en-US" sz="1000" dirty="0">
                <a:solidFill>
                  <a:srgbClr val="F3F5F7"/>
                </a:solidFill>
                <a:latin typeface="Courier New" pitchFamily="34" charset="0"/>
                <a:ea typeface="Courier New" pitchFamily="34" charset="-122"/>
                <a:cs typeface="Courier New" pitchFamily="34" charset="-120"/>
              </a:rPr>
              <a:t>                      {"error": f"order {order_id} not found"})</a:t>
            </a:r>
            <a:endParaRPr lang="en-US" sz="1000" dirty="0"/>
          </a:p>
          <a:p>
            <a:pPr indent="0" marL="0">
              <a:buNone/>
            </a:pPr>
            <a:endParaRPr lang="en-US" sz="1000" dirty="0"/>
          </a:p>
          <a:p>
            <a:pPr indent="0" marL="0">
              <a:buNone/>
            </a:pPr>
            <a:r>
              <a:rPr lang="en-US" sz="1000" dirty="0">
                <a:solidFill>
                  <a:srgbClr val="F5A623"/>
                </a:solidFill>
                <a:latin typeface="Courier New" pitchFamily="34" charset="0"/>
                <a:ea typeface="Courier New" pitchFamily="34" charset="-122"/>
                <a:cs typeface="Courier New" pitchFamily="34" charset="-120"/>
              </a:rPr>
              <a:t>@mcp.tool()</a:t>
            </a:r>
            <a:endParaRPr lang="en-US" sz="1000" dirty="0"/>
          </a:p>
          <a:p>
            <a:pPr indent="0" marL="0">
              <a:buNone/>
            </a:pPr>
            <a:r>
              <a:rPr lang="en-US" sz="1000" dirty="0">
                <a:solidFill>
                  <a:srgbClr val="F3F5F7"/>
                </a:solidFill>
                <a:latin typeface="Courier New" pitchFamily="34" charset="0"/>
                <a:ea typeface="Courier New" pitchFamily="34" charset="-122"/>
                <a:cs typeface="Courier New" pitchFamily="34" charset="-120"/>
              </a:rPr>
              <a:t>def search_shipments(status="", dest_port="",</a:t>
            </a:r>
            <a:endParaRPr lang="en-US" sz="1000" dirty="0"/>
          </a:p>
          <a:p>
            <a:pPr indent="0" marL="0">
              <a:buNone/>
            </a:pPr>
            <a:r>
              <a:rPr lang="en-US" sz="1000" dirty="0">
                <a:solidFill>
                  <a:srgbClr val="F3F5F7"/>
                </a:solidFill>
                <a:latin typeface="Courier New" pitchFamily="34" charset="0"/>
                <a:ea typeface="Courier New" pitchFamily="34" charset="-122"/>
                <a:cs typeface="Courier New" pitchFamily="34" charset="-120"/>
              </a:rPr>
              <a:t>                     min_delay_days=0, limit=10) -&gt; str:</a:t>
            </a:r>
            <a:endParaRPr lang="en-US" sz="1000" dirty="0"/>
          </a:p>
          <a:p>
            <a:pPr indent="0" marL="0">
              <a:buNone/>
            </a:pPr>
            <a:r>
              <a:rPr lang="en-US" sz="1000" dirty="0">
                <a:solidFill>
                  <a:srgbClr val="E5533D"/>
                </a:solidFill>
                <a:latin typeface="Courier New" pitchFamily="34" charset="0"/>
                <a:ea typeface="Courier New" pitchFamily="34" charset="-122"/>
                <a:cs typeface="Courier New" pitchFamily="34" charset="-120"/>
              </a:rPr>
              <a:t>    limit = max(1, min(int(limit), MAX_ROWS))   # cap it</a:t>
            </a:r>
            <a:endParaRPr lang="en-US" sz="1000" dirty="0"/>
          </a:p>
          <a:p>
            <a:pPr indent="0" marL="0">
              <a:buNone/>
            </a:pPr>
            <a:r>
              <a:rPr lang="en-US" sz="1000" dirty="0">
                <a:solidFill>
                  <a:srgbClr val="F3F5F7"/>
                </a:solidFill>
                <a:latin typeface="Courier New" pitchFamily="34" charset="0"/>
                <a:ea typeface="Courier New" pitchFamily="34" charset="-122"/>
                <a:cs typeface="Courier New" pitchFamily="34" charset="-120"/>
              </a:rPr>
              <a:t>    ...</a:t>
            </a:r>
            <a:endParaRPr lang="en-US" sz="1000" dirty="0"/>
          </a:p>
        </p:txBody>
      </p:sp>
      <p:sp>
        <p:nvSpPr>
          <p:cNvPr id="6" name="Text 3"/>
          <p:cNvSpPr txBox="1"/>
          <p:nvPr/>
        </p:nvSpPr>
        <p:spPr>
          <a:xfrm>
            <a:off x="6080760" y="1143000"/>
            <a:ext cx="2606040" cy="274320"/>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Signature = schema</a:t>
            </a:r>
            <a:endParaRPr lang="en-US" sz="1100" dirty="0"/>
          </a:p>
        </p:txBody>
      </p:sp>
      <p:sp>
        <p:nvSpPr>
          <p:cNvPr id="7" name="Text 4"/>
          <p:cNvSpPr txBox="1"/>
          <p:nvPr/>
        </p:nvSpPr>
        <p:spPr>
          <a:xfrm>
            <a:off x="6080760" y="1435608"/>
            <a:ext cx="2606040" cy="777240"/>
          </a:xfrm>
          <a:prstGeom prst="rect">
            <a:avLst/>
          </a:prstGeom>
          <a:noFill/>
          <a:ln/>
        </p:spPr>
        <p:txBody>
          <a:bodyPr wrap="square" lIns="0" tIns="0" rIns="0" bIns="0" rtlCol="0" anchor="t"/>
          <a:lstStyle/>
          <a:p>
            <a:pPr indent="0" marL="0">
              <a:buNone/>
            </a:pPr>
            <a:r>
              <a:rPr lang="en-US" sz="1100" dirty="0">
                <a:solidFill>
                  <a:srgbClr val="9AA6B2"/>
                </a:solidFill>
                <a:latin typeface="Calibri" pitchFamily="34" charset="0"/>
                <a:ea typeface="Calibri" pitchFamily="34" charset="-122"/>
                <a:cs typeface="Calibri" pitchFamily="34" charset="-120"/>
              </a:rPr>
              <a:t>type hints become the JSON schema the client sends to the model</a:t>
            </a:r>
            <a:endParaRPr lang="en-US" sz="1100" dirty="0"/>
          </a:p>
        </p:txBody>
      </p:sp>
      <p:sp>
        <p:nvSpPr>
          <p:cNvPr id="8" name="Text 5"/>
          <p:cNvSpPr txBox="1"/>
          <p:nvPr/>
        </p:nvSpPr>
        <p:spPr>
          <a:xfrm>
            <a:off x="6080760" y="2240280"/>
            <a:ext cx="2606040" cy="274320"/>
          </a:xfrm>
          <a:prstGeom prst="rect">
            <a:avLst/>
          </a:prstGeom>
          <a:noFill/>
          <a:ln/>
        </p:spPr>
        <p:txBody>
          <a:bodyPr wrap="square" lIns="0" tIns="0" rIns="0" bIns="0" rtlCol="0" anchor="ctr"/>
          <a:lstStyle/>
          <a:p>
            <a:pPr indent="0" marL="0">
              <a:buNone/>
            </a:pPr>
            <a:r>
              <a:rPr lang="en-US" sz="1100" b="1" spc="100" kern="0" dirty="0">
                <a:solidFill>
                  <a:srgbClr val="4FB3BF"/>
                </a:solidFill>
                <a:latin typeface="Calibri" pitchFamily="34" charset="0"/>
                <a:ea typeface="Calibri" pitchFamily="34" charset="-122"/>
                <a:cs typeface="Calibri" pitchFamily="34" charset="-120"/>
              </a:rPr>
              <a:t>Docstring = description</a:t>
            </a:r>
            <a:endParaRPr lang="en-US" sz="1100" dirty="0"/>
          </a:p>
        </p:txBody>
      </p:sp>
      <p:sp>
        <p:nvSpPr>
          <p:cNvPr id="9" name="Text 6"/>
          <p:cNvSpPr txBox="1"/>
          <p:nvPr/>
        </p:nvSpPr>
        <p:spPr>
          <a:xfrm>
            <a:off x="6080760" y="2532888"/>
            <a:ext cx="2606040" cy="777240"/>
          </a:xfrm>
          <a:prstGeom prst="rect">
            <a:avLst/>
          </a:prstGeom>
          <a:noFill/>
          <a:ln/>
        </p:spPr>
        <p:txBody>
          <a:bodyPr wrap="square" lIns="0" tIns="0" rIns="0" bIns="0" rtlCol="0" anchor="t"/>
          <a:lstStyle/>
          <a:p>
            <a:pPr indent="0" marL="0">
              <a:buNone/>
            </a:pPr>
            <a:r>
              <a:rPr lang="en-US" sz="1100" dirty="0">
                <a:solidFill>
                  <a:srgbClr val="9AA6B2"/>
                </a:solidFill>
                <a:latin typeface="Calibri" pitchFamily="34" charset="0"/>
                <a:ea typeface="Calibri" pitchFamily="34" charset="-122"/>
                <a:cs typeface="Calibri" pitchFamily="34" charset="-120"/>
              </a:rPr>
              <a:t>this is the ONLY thing the model reads to decide when to call it. Write it for the model.</a:t>
            </a:r>
            <a:endParaRPr lang="en-US" sz="1100" dirty="0"/>
          </a:p>
        </p:txBody>
      </p:sp>
      <p:sp>
        <p:nvSpPr>
          <p:cNvPr id="10" name="Text 7"/>
          <p:cNvSpPr txBox="1"/>
          <p:nvPr/>
        </p:nvSpPr>
        <p:spPr>
          <a:xfrm>
            <a:off x="6080760" y="3337560"/>
            <a:ext cx="2606040" cy="274320"/>
          </a:xfrm>
          <a:prstGeom prst="rect">
            <a:avLst/>
          </a:prstGeom>
          <a:noFill/>
          <a:ln/>
        </p:spPr>
        <p:txBody>
          <a:bodyPr wrap="square" lIns="0" tIns="0" rIns="0" bIns="0" rtlCol="0" anchor="ctr"/>
          <a:lstStyle/>
          <a:p>
            <a:pPr indent="0" marL="0">
              <a:buNone/>
            </a:pPr>
            <a:r>
              <a:rPr lang="en-US" sz="1100" b="1" spc="100" kern="0" dirty="0">
                <a:solidFill>
                  <a:srgbClr val="E5533D"/>
                </a:solidFill>
                <a:latin typeface="Calibri" pitchFamily="34" charset="0"/>
                <a:ea typeface="Calibri" pitchFamily="34" charset="-122"/>
                <a:cs typeface="Calibri" pitchFamily="34" charset="-120"/>
              </a:rPr>
              <a:t>Cap every list</a:t>
            </a:r>
            <a:endParaRPr lang="en-US" sz="1100" dirty="0"/>
          </a:p>
        </p:txBody>
      </p:sp>
      <p:sp>
        <p:nvSpPr>
          <p:cNvPr id="11" name="Text 8"/>
          <p:cNvSpPr txBox="1"/>
          <p:nvPr/>
        </p:nvSpPr>
        <p:spPr>
          <a:xfrm>
            <a:off x="6080760" y="3630168"/>
            <a:ext cx="2606040" cy="777240"/>
          </a:xfrm>
          <a:prstGeom prst="rect">
            <a:avLst/>
          </a:prstGeom>
          <a:noFill/>
          <a:ln/>
        </p:spPr>
        <p:txBody>
          <a:bodyPr wrap="square" lIns="0" tIns="0" rIns="0" bIns="0" rtlCol="0" anchor="t"/>
          <a:lstStyle/>
          <a:p>
            <a:pPr indent="0" marL="0">
              <a:buNone/>
            </a:pPr>
            <a:r>
              <a:rPr lang="en-US" sz="1100" dirty="0">
                <a:solidFill>
                  <a:srgbClr val="9AA6B2"/>
                </a:solidFill>
                <a:latin typeface="Calibri" pitchFamily="34" charset="0"/>
                <a:ea typeface="Calibri" pitchFamily="34" charset="-122"/>
                <a:cs typeface="Calibri" pitchFamily="34" charset="-120"/>
              </a:rPr>
              <a:t>the model will ask for everything. MAX_ROWS = 25 is a product decision, not a detail.</a:t>
            </a:r>
            <a:endParaRPr lang="en-US" sz="1100" dirty="0"/>
          </a:p>
        </p:txBody>
      </p:sp>
      <p:sp>
        <p:nvSpPr>
          <p:cNvPr id="12" name="Text 9"/>
          <p:cNvSpPr txBox="1"/>
          <p:nvPr/>
        </p:nvSpPr>
        <p:spPr>
          <a:xfrm>
            <a:off x="457200" y="4709160"/>
            <a:ext cx="5486400" cy="274320"/>
          </a:xfrm>
          <a:prstGeom prst="rect">
            <a:avLst/>
          </a:prstGeom>
          <a:noFill/>
          <a:ln/>
        </p:spPr>
        <p:txBody>
          <a:bodyPr wrap="square" lIns="0" tIns="0" rIns="0" bIns="0" rtlCol="0" anchor="ctr"/>
          <a:lstStyle/>
          <a:p>
            <a:pPr indent="0" marL="0">
              <a:buNone/>
            </a:pPr>
            <a:r>
              <a:rPr lang="en-US" sz="1000" dirty="0">
                <a:solidFill>
                  <a:srgbClr val="9AA6B2"/>
                </a:solidFill>
                <a:latin typeface="Calibri" pitchFamily="34" charset="0"/>
                <a:ea typeface="Calibri" pitchFamily="34" charset="-122"/>
                <a:cs typeface="Calibri" pitchFamily="34" charset="-120"/>
              </a:rPr>
              <a:t>get_order · search_shipments · lookup_hs_code — all read-only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316"/>
        </a:solidFill>
      </p:bgPr>
    </p:bg>
    <p:spTree>
      <p:nvGrpSpPr>
        <p:cNvPr id="1" name=""/>
        <p:cNvGrpSpPr/>
        <p:nvPr/>
      </p:nvGrpSpPr>
      <p:grpSpPr>
        <a:xfrm>
          <a:off x="0" y="0"/>
          <a:ext cx="0" cy="0"/>
          <a:chOff x="0" y="0"/>
          <a:chExt cx="0" cy="0"/>
        </a:xfrm>
      </p:grpSpPr>
      <p:sp>
        <p:nvSpPr>
          <p:cNvPr id="3"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F3F5F7"/>
                </a:solidFill>
                <a:latin typeface="Cambria" pitchFamily="34" charset="0"/>
                <a:ea typeface="Cambria" pitchFamily="34" charset="-122"/>
                <a:cs typeface="Cambria" pitchFamily="34" charset="-120"/>
              </a:rPr>
              <a:t>Test it before any agent touches it</a:t>
            </a:r>
            <a:endParaRPr lang="en-US" sz="3000" dirty="0"/>
          </a:p>
        </p:txBody>
      </p:sp>
      <p:sp>
        <p:nvSpPr>
          <p:cNvPr id="4" name="Shape 1"/>
          <p:cNvSpPr/>
          <p:nvPr/>
        </p:nvSpPr>
        <p:spPr>
          <a:xfrm>
            <a:off x="457200" y="1188720"/>
            <a:ext cx="8229600" cy="640080"/>
          </a:xfrm>
          <a:prstGeom prst="roundRect">
            <a:avLst>
              <a:gd name="adj" fmla="val 11429"/>
            </a:avLst>
          </a:prstGeom>
          <a:solidFill>
            <a:srgbClr val="0B0E11"/>
          </a:solidFill>
          <a:ln w="9525">
            <a:solidFill>
              <a:srgbClr val="2E3842"/>
            </a:solidFill>
            <a:prstDash val="solid"/>
          </a:ln>
        </p:spPr>
      </p:sp>
      <p:sp>
        <p:nvSpPr>
          <p:cNvPr id="5" name="Text 2"/>
          <p:cNvSpPr txBox="1"/>
          <p:nvPr/>
        </p:nvSpPr>
        <p:spPr>
          <a:xfrm>
            <a:off x="640080" y="1325880"/>
            <a:ext cx="7863840" cy="365760"/>
          </a:xfrm>
          <a:prstGeom prst="rect">
            <a:avLst/>
          </a:prstGeom>
          <a:noFill/>
          <a:ln/>
        </p:spPr>
        <p:txBody>
          <a:bodyPr wrap="square" lIns="0" tIns="0" rIns="0" bIns="0" rtlCol="0" anchor="t"/>
          <a:lstStyle/>
          <a:p>
            <a:pPr indent="0" marL="0">
              <a:buNone/>
            </a:pPr>
            <a:r>
              <a:rPr lang="en-US" sz="1300" dirty="0">
                <a:solidFill>
                  <a:srgbClr val="F3F5F7"/>
                </a:solidFill>
                <a:latin typeface="Courier New" pitchFamily="34" charset="0"/>
                <a:ea typeface="Courier New" pitchFamily="34" charset="-122"/>
                <a:cs typeface="Courier New" pitchFamily="34" charset="-120"/>
              </a:rPr>
              <a:t>npx @modelcontextprotocol/inspector python server.py</a:t>
            </a:r>
            <a:endParaRPr lang="en-US" sz="1300" dirty="0"/>
          </a:p>
        </p:txBody>
      </p:sp>
      <p:sp>
        <p:nvSpPr>
          <p:cNvPr id="6" name="Shape 3"/>
          <p:cNvSpPr/>
          <p:nvPr/>
        </p:nvSpPr>
        <p:spPr>
          <a:xfrm>
            <a:off x="502920" y="2130552"/>
            <a:ext cx="384048" cy="384048"/>
          </a:xfrm>
          <a:prstGeom prst="ellipse">
            <a:avLst/>
          </a:prstGeom>
          <a:solidFill>
            <a:srgbClr val="4FB3BF"/>
          </a:solidFill>
          <a:ln/>
        </p:spPr>
      </p:sp>
      <p:sp>
        <p:nvSpPr>
          <p:cNvPr id="7" name="Text 4"/>
          <p:cNvSpPr txBox="1"/>
          <p:nvPr/>
        </p:nvSpPr>
        <p:spPr>
          <a:xfrm>
            <a:off x="502920" y="2130552"/>
            <a:ext cx="384048" cy="384048"/>
          </a:xfrm>
          <a:prstGeom prst="rect">
            <a:avLst/>
          </a:prstGeom>
          <a:noFill/>
          <a:ln/>
        </p:spPr>
        <p:txBody>
          <a:bodyPr wrap="square" lIns="0" tIns="0" rIns="0" bIns="0" rtlCol="0" anchor="ctr"/>
          <a:lstStyle/>
          <a:p>
            <a:pPr algn="ctr" indent="0" marL="0">
              <a:buNone/>
            </a:pPr>
            <a:r>
              <a:rPr lang="en-US" sz="1400" b="1" dirty="0">
                <a:solidFill>
                  <a:srgbClr val="0F1316"/>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1051560" y="2057400"/>
            <a:ext cx="1828800" cy="530352"/>
          </a:xfrm>
          <a:prstGeom prst="rect">
            <a:avLst/>
          </a:prstGeom>
          <a:noFill/>
          <a:ln/>
        </p:spPr>
        <p:txBody>
          <a:bodyPr wrap="square" lIns="0" tIns="0" rIns="0" bIns="0" rtlCol="0" anchor="ctr"/>
          <a:lstStyle/>
          <a:p>
            <a:pPr indent="0" marL="0">
              <a:buNone/>
            </a:pPr>
            <a:r>
              <a:rPr lang="en-US" sz="1600" b="1" dirty="0">
                <a:solidFill>
                  <a:srgbClr val="F3F5F7"/>
                </a:solidFill>
                <a:latin typeface="Cambria" pitchFamily="34" charset="0"/>
                <a:ea typeface="Cambria" pitchFamily="34" charset="-122"/>
                <a:cs typeface="Cambria" pitchFamily="34" charset="-120"/>
              </a:rPr>
              <a:t>Connect</a:t>
            </a:r>
            <a:endParaRPr lang="en-US" sz="1600" dirty="0"/>
          </a:p>
        </p:txBody>
      </p:sp>
      <p:sp>
        <p:nvSpPr>
          <p:cNvPr id="9" name="Text 6"/>
          <p:cNvSpPr txBox="1"/>
          <p:nvPr/>
        </p:nvSpPr>
        <p:spPr>
          <a:xfrm>
            <a:off x="2926080" y="2057400"/>
            <a:ext cx="5760720" cy="530352"/>
          </a:xfrm>
          <a:prstGeom prst="rect">
            <a:avLst/>
          </a:prstGeom>
          <a:noFill/>
          <a:ln/>
        </p:spPr>
        <p:txBody>
          <a:bodyPr wrap="square" lIns="0" tIns="0" rIns="0" bIns="0" rtlCol="0" anchor="ctr"/>
          <a:lstStyle/>
          <a:p>
            <a:pPr indent="0" marL="0">
              <a:buNone/>
            </a:pPr>
            <a:r>
              <a:rPr lang="en-US" sz="1200" dirty="0">
                <a:solidFill>
                  <a:srgbClr val="9AA6B2"/>
                </a:solidFill>
                <a:latin typeface="Calibri" pitchFamily="34" charset="0"/>
                <a:ea typeface="Calibri" pitchFamily="34" charset="-122"/>
                <a:cs typeface="Calibri" pitchFamily="34" charset="-120"/>
              </a:rPr>
              <a:t>Inspector launches server.py as a subprocess over stdio</a:t>
            </a:r>
            <a:endParaRPr lang="en-US" sz="1200" dirty="0"/>
          </a:p>
        </p:txBody>
      </p:sp>
      <p:sp>
        <p:nvSpPr>
          <p:cNvPr id="10" name="Shape 7"/>
          <p:cNvSpPr/>
          <p:nvPr/>
        </p:nvSpPr>
        <p:spPr>
          <a:xfrm>
            <a:off x="502920" y="2724912"/>
            <a:ext cx="384048" cy="384048"/>
          </a:xfrm>
          <a:prstGeom prst="ellipse">
            <a:avLst/>
          </a:prstGeom>
          <a:solidFill>
            <a:srgbClr val="4FB3BF"/>
          </a:solidFill>
          <a:ln/>
        </p:spPr>
      </p:sp>
      <p:sp>
        <p:nvSpPr>
          <p:cNvPr id="11" name="Text 8"/>
          <p:cNvSpPr txBox="1"/>
          <p:nvPr/>
        </p:nvSpPr>
        <p:spPr>
          <a:xfrm>
            <a:off x="502920" y="2724912"/>
            <a:ext cx="384048" cy="384048"/>
          </a:xfrm>
          <a:prstGeom prst="rect">
            <a:avLst/>
          </a:prstGeom>
          <a:noFill/>
          <a:ln/>
        </p:spPr>
        <p:txBody>
          <a:bodyPr wrap="square" lIns="0" tIns="0" rIns="0" bIns="0" rtlCol="0" anchor="ctr"/>
          <a:lstStyle/>
          <a:p>
            <a:pPr algn="ctr" indent="0" marL="0">
              <a:buNone/>
            </a:pPr>
            <a:r>
              <a:rPr lang="en-US" sz="1400" b="1" dirty="0">
                <a:solidFill>
                  <a:srgbClr val="0F1316"/>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1051560" y="2651760"/>
            <a:ext cx="1828800" cy="530352"/>
          </a:xfrm>
          <a:prstGeom prst="rect">
            <a:avLst/>
          </a:prstGeom>
          <a:noFill/>
          <a:ln/>
        </p:spPr>
        <p:txBody>
          <a:bodyPr wrap="square" lIns="0" tIns="0" rIns="0" bIns="0" rtlCol="0" anchor="ctr"/>
          <a:lstStyle/>
          <a:p>
            <a:pPr indent="0" marL="0">
              <a:buNone/>
            </a:pPr>
            <a:r>
              <a:rPr lang="en-US" sz="1600" b="1" dirty="0">
                <a:solidFill>
                  <a:srgbClr val="F3F5F7"/>
                </a:solidFill>
                <a:latin typeface="Cambria" pitchFamily="34" charset="0"/>
                <a:ea typeface="Cambria" pitchFamily="34" charset="-122"/>
                <a:cs typeface="Cambria" pitchFamily="34" charset="-120"/>
              </a:rPr>
              <a:t>List tools</a:t>
            </a:r>
            <a:endParaRPr lang="en-US" sz="1600" dirty="0"/>
          </a:p>
        </p:txBody>
      </p:sp>
      <p:sp>
        <p:nvSpPr>
          <p:cNvPr id="13" name="Text 10"/>
          <p:cNvSpPr txBox="1"/>
          <p:nvPr/>
        </p:nvSpPr>
        <p:spPr>
          <a:xfrm>
            <a:off x="2926080" y="2651760"/>
            <a:ext cx="5760720" cy="530352"/>
          </a:xfrm>
          <a:prstGeom prst="rect">
            <a:avLst/>
          </a:prstGeom>
          <a:noFill/>
          <a:ln/>
        </p:spPr>
        <p:txBody>
          <a:bodyPr wrap="square" lIns="0" tIns="0" rIns="0" bIns="0" rtlCol="0" anchor="ctr"/>
          <a:lstStyle/>
          <a:p>
            <a:pPr indent="0" marL="0">
              <a:buNone/>
            </a:pPr>
            <a:r>
              <a:rPr lang="en-US" sz="1200" dirty="0">
                <a:solidFill>
                  <a:srgbClr val="9AA6B2"/>
                </a:solidFill>
                <a:latin typeface="Calibri" pitchFamily="34" charset="0"/>
                <a:ea typeface="Calibri" pitchFamily="34" charset="-122"/>
                <a:cs typeface="Calibri" pitchFamily="34" charset="-120"/>
              </a:rPr>
              <a:t>see the three tools, their schemas and your docstrings — exactly as a model would</a:t>
            </a:r>
            <a:endParaRPr lang="en-US" sz="1200" dirty="0"/>
          </a:p>
        </p:txBody>
      </p:sp>
      <p:sp>
        <p:nvSpPr>
          <p:cNvPr id="14" name="Shape 11"/>
          <p:cNvSpPr/>
          <p:nvPr/>
        </p:nvSpPr>
        <p:spPr>
          <a:xfrm>
            <a:off x="502920" y="3319272"/>
            <a:ext cx="384048" cy="384048"/>
          </a:xfrm>
          <a:prstGeom prst="ellipse">
            <a:avLst/>
          </a:prstGeom>
          <a:solidFill>
            <a:srgbClr val="4FB3BF"/>
          </a:solidFill>
          <a:ln/>
        </p:spPr>
      </p:sp>
      <p:sp>
        <p:nvSpPr>
          <p:cNvPr id="15" name="Text 12"/>
          <p:cNvSpPr txBox="1"/>
          <p:nvPr/>
        </p:nvSpPr>
        <p:spPr>
          <a:xfrm>
            <a:off x="502920" y="3319272"/>
            <a:ext cx="384048" cy="384048"/>
          </a:xfrm>
          <a:prstGeom prst="rect">
            <a:avLst/>
          </a:prstGeom>
          <a:noFill/>
          <a:ln/>
        </p:spPr>
        <p:txBody>
          <a:bodyPr wrap="square" lIns="0" tIns="0" rIns="0" bIns="0" rtlCol="0" anchor="ctr"/>
          <a:lstStyle/>
          <a:p>
            <a:pPr algn="ctr" indent="0" marL="0">
              <a:buNone/>
            </a:pPr>
            <a:r>
              <a:rPr lang="en-US" sz="1400" b="1" dirty="0">
                <a:solidFill>
                  <a:srgbClr val="0F1316"/>
                </a:solidFill>
                <a:latin typeface="Calibri" pitchFamily="34" charset="0"/>
                <a:ea typeface="Calibri" pitchFamily="34" charset="-122"/>
                <a:cs typeface="Calibri" pitchFamily="34" charset="-120"/>
              </a:rPr>
              <a:t>3</a:t>
            </a:r>
            <a:endParaRPr lang="en-US" sz="1400" dirty="0"/>
          </a:p>
        </p:txBody>
      </p:sp>
      <p:sp>
        <p:nvSpPr>
          <p:cNvPr id="16" name="Text 13"/>
          <p:cNvSpPr txBox="1"/>
          <p:nvPr/>
        </p:nvSpPr>
        <p:spPr>
          <a:xfrm>
            <a:off x="1051560" y="3246120"/>
            <a:ext cx="1828800" cy="530352"/>
          </a:xfrm>
          <a:prstGeom prst="rect">
            <a:avLst/>
          </a:prstGeom>
          <a:noFill/>
          <a:ln/>
        </p:spPr>
        <p:txBody>
          <a:bodyPr wrap="square" lIns="0" tIns="0" rIns="0" bIns="0" rtlCol="0" anchor="ctr"/>
          <a:lstStyle/>
          <a:p>
            <a:pPr indent="0" marL="0">
              <a:buNone/>
            </a:pPr>
            <a:r>
              <a:rPr lang="en-US" sz="1600" b="1" dirty="0">
                <a:solidFill>
                  <a:srgbClr val="F3F5F7"/>
                </a:solidFill>
                <a:latin typeface="Cambria" pitchFamily="34" charset="0"/>
                <a:ea typeface="Cambria" pitchFamily="34" charset="-122"/>
                <a:cs typeface="Cambria" pitchFamily="34" charset="-120"/>
              </a:rPr>
              <a:t>Call each one</a:t>
            </a:r>
            <a:endParaRPr lang="en-US" sz="1600" dirty="0"/>
          </a:p>
        </p:txBody>
      </p:sp>
      <p:sp>
        <p:nvSpPr>
          <p:cNvPr id="17" name="Text 14"/>
          <p:cNvSpPr txBox="1"/>
          <p:nvPr/>
        </p:nvSpPr>
        <p:spPr>
          <a:xfrm>
            <a:off x="2926080" y="3246120"/>
            <a:ext cx="5760720" cy="530352"/>
          </a:xfrm>
          <a:prstGeom prst="rect">
            <a:avLst/>
          </a:prstGeom>
          <a:noFill/>
          <a:ln/>
        </p:spPr>
        <p:txBody>
          <a:bodyPr wrap="square" lIns="0" tIns="0" rIns="0" bIns="0" rtlCol="0" anchor="ctr"/>
          <a:lstStyle/>
          <a:p>
            <a:pPr indent="0" marL="0">
              <a:buNone/>
            </a:pPr>
            <a:r>
              <a:rPr lang="en-US" sz="1200" dirty="0">
                <a:solidFill>
                  <a:srgbClr val="9AA6B2"/>
                </a:solidFill>
                <a:latin typeface="Calibri" pitchFamily="34" charset="0"/>
                <a:ea typeface="Calibri" pitchFamily="34" charset="-122"/>
                <a:cs typeface="Calibri" pitchFamily="34" charset="-120"/>
              </a:rPr>
              <a:t>get_order A-7001 · search_shipments Chennai, min_delay 4 · lookup_hs_code shrimp</a:t>
            </a:r>
            <a:endParaRPr lang="en-US" sz="1200" dirty="0"/>
          </a:p>
        </p:txBody>
      </p:sp>
      <p:sp>
        <p:nvSpPr>
          <p:cNvPr id="18" name="Shape 15"/>
          <p:cNvSpPr/>
          <p:nvPr/>
        </p:nvSpPr>
        <p:spPr>
          <a:xfrm>
            <a:off x="502920" y="3913632"/>
            <a:ext cx="384048" cy="384048"/>
          </a:xfrm>
          <a:prstGeom prst="ellipse">
            <a:avLst/>
          </a:prstGeom>
          <a:solidFill>
            <a:srgbClr val="4FB3BF"/>
          </a:solidFill>
          <a:ln/>
        </p:spPr>
      </p:sp>
      <p:sp>
        <p:nvSpPr>
          <p:cNvPr id="19" name="Text 16"/>
          <p:cNvSpPr txBox="1"/>
          <p:nvPr/>
        </p:nvSpPr>
        <p:spPr>
          <a:xfrm>
            <a:off x="502920" y="3913632"/>
            <a:ext cx="384048" cy="384048"/>
          </a:xfrm>
          <a:prstGeom prst="rect">
            <a:avLst/>
          </a:prstGeom>
          <a:noFill/>
          <a:ln/>
        </p:spPr>
        <p:txBody>
          <a:bodyPr wrap="square" lIns="0" tIns="0" rIns="0" bIns="0" rtlCol="0" anchor="ctr"/>
          <a:lstStyle/>
          <a:p>
            <a:pPr algn="ctr" indent="0" marL="0">
              <a:buNone/>
            </a:pPr>
            <a:r>
              <a:rPr lang="en-US" sz="1400" b="1" dirty="0">
                <a:solidFill>
                  <a:srgbClr val="0F1316"/>
                </a:solidFill>
                <a:latin typeface="Calibri" pitchFamily="34" charset="0"/>
                <a:ea typeface="Calibri" pitchFamily="34" charset="-122"/>
                <a:cs typeface="Calibri" pitchFamily="34" charset="-120"/>
              </a:rPr>
              <a:t>4</a:t>
            </a:r>
            <a:endParaRPr lang="en-US" sz="1400" dirty="0"/>
          </a:p>
        </p:txBody>
      </p:sp>
      <p:sp>
        <p:nvSpPr>
          <p:cNvPr id="20" name="Text 17"/>
          <p:cNvSpPr txBox="1"/>
          <p:nvPr/>
        </p:nvSpPr>
        <p:spPr>
          <a:xfrm>
            <a:off x="1051560" y="3840480"/>
            <a:ext cx="1828800" cy="530352"/>
          </a:xfrm>
          <a:prstGeom prst="rect">
            <a:avLst/>
          </a:prstGeom>
          <a:noFill/>
          <a:ln/>
        </p:spPr>
        <p:txBody>
          <a:bodyPr wrap="square" lIns="0" tIns="0" rIns="0" bIns="0" rtlCol="0" anchor="ctr"/>
          <a:lstStyle/>
          <a:p>
            <a:pPr indent="0" marL="0">
              <a:buNone/>
            </a:pPr>
            <a:r>
              <a:rPr lang="en-US" sz="1600" b="1" dirty="0">
                <a:solidFill>
                  <a:srgbClr val="F3F5F7"/>
                </a:solidFill>
                <a:latin typeface="Cambria" pitchFamily="34" charset="0"/>
                <a:ea typeface="Cambria" pitchFamily="34" charset="-122"/>
                <a:cs typeface="Cambria" pitchFamily="34" charset="-120"/>
              </a:rPr>
              <a:t>Read the wire</a:t>
            </a:r>
            <a:endParaRPr lang="en-US" sz="1600" dirty="0"/>
          </a:p>
        </p:txBody>
      </p:sp>
      <p:sp>
        <p:nvSpPr>
          <p:cNvPr id="21" name="Text 18"/>
          <p:cNvSpPr txBox="1"/>
          <p:nvPr/>
        </p:nvSpPr>
        <p:spPr>
          <a:xfrm>
            <a:off x="2926080" y="3840480"/>
            <a:ext cx="5760720" cy="530352"/>
          </a:xfrm>
          <a:prstGeom prst="rect">
            <a:avLst/>
          </a:prstGeom>
          <a:noFill/>
          <a:ln/>
        </p:spPr>
        <p:txBody>
          <a:bodyPr wrap="square" lIns="0" tIns="0" rIns="0" bIns="0" rtlCol="0" anchor="ctr"/>
          <a:lstStyle/>
          <a:p>
            <a:pPr indent="0" marL="0">
              <a:buNone/>
            </a:pPr>
            <a:r>
              <a:rPr lang="en-US" sz="1200" dirty="0">
                <a:solidFill>
                  <a:srgbClr val="9AA6B2"/>
                </a:solidFill>
                <a:latin typeface="Calibri" pitchFamily="34" charset="0"/>
                <a:ea typeface="Calibri" pitchFamily="34" charset="-122"/>
                <a:cs typeface="Calibri" pitchFamily="34" charset="-120"/>
              </a:rPr>
              <a:t>the raw JSON-RPC request and response — this is all MCP is</a:t>
            </a:r>
            <a:endParaRPr lang="en-US" sz="1200" dirty="0"/>
          </a:p>
        </p:txBody>
      </p:sp>
      <p:sp>
        <p:nvSpPr>
          <p:cNvPr id="22" name="Text 19"/>
          <p:cNvSpPr txBox="1"/>
          <p:nvPr/>
        </p:nvSpPr>
        <p:spPr>
          <a:xfrm>
            <a:off x="457200" y="4709160"/>
            <a:ext cx="5486400" cy="274320"/>
          </a:xfrm>
          <a:prstGeom prst="rect">
            <a:avLst/>
          </a:prstGeom>
          <a:noFill/>
          <a:ln/>
        </p:spPr>
        <p:txBody>
          <a:bodyPr wrap="square" lIns="0" tIns="0" rIns="0" bIns="0" rtlCol="0" anchor="ctr"/>
          <a:lstStyle/>
          <a:p>
            <a:pPr indent="0" marL="0">
              <a:buNone/>
            </a:pPr>
            <a:r>
              <a:rPr lang="en-US" sz="1000" dirty="0">
                <a:solidFill>
                  <a:srgbClr val="9AA6B2"/>
                </a:solidFill>
                <a:latin typeface="Calibri" pitchFamily="34" charset="0"/>
                <a:ea typeface="Calibri" pitchFamily="34" charset="-122"/>
                <a:cs typeface="Calibri" pitchFamily="34" charset="-120"/>
              </a:rPr>
              <a:t>Opens at http://localhost:6274 — keep it on a second screen while recording</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316"/>
        </a:solidFill>
      </p:bgPr>
    </p:bg>
    <p:spTree>
      <p:nvGrpSpPr>
        <p:cNvPr id="1" name=""/>
        <p:cNvGrpSpPr/>
        <p:nvPr/>
      </p:nvGrpSpPr>
      <p:grpSpPr>
        <a:xfrm>
          <a:off x="0" y="0"/>
          <a:ext cx="0" cy="0"/>
          <a:chOff x="0" y="0"/>
          <a:chExt cx="0" cy="0"/>
        </a:xfrm>
      </p:grpSpPr>
      <p:sp>
        <p:nvSpPr>
          <p:cNvPr id="3"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F3F5F7"/>
                </a:solidFill>
                <a:latin typeface="Cambria" pitchFamily="34" charset="0"/>
                <a:ea typeface="Cambria" pitchFamily="34" charset="-122"/>
                <a:cs typeface="Cambria" pitchFamily="34" charset="-120"/>
              </a:rPr>
              <a:t>Plug it into Claude Desktop</a:t>
            </a:r>
            <a:endParaRPr lang="en-US" sz="3000" dirty="0"/>
          </a:p>
        </p:txBody>
      </p:sp>
      <p:sp>
        <p:nvSpPr>
          <p:cNvPr id="4" name="Shape 1"/>
          <p:cNvSpPr/>
          <p:nvPr/>
        </p:nvSpPr>
        <p:spPr>
          <a:xfrm>
            <a:off x="457200" y="1188720"/>
            <a:ext cx="4754880" cy="2286000"/>
          </a:xfrm>
          <a:prstGeom prst="roundRect">
            <a:avLst>
              <a:gd name="adj" fmla="val 3200"/>
            </a:avLst>
          </a:prstGeom>
          <a:solidFill>
            <a:srgbClr val="0B0E11"/>
          </a:solidFill>
          <a:ln w="9525">
            <a:solidFill>
              <a:srgbClr val="2E3842"/>
            </a:solidFill>
            <a:prstDash val="solid"/>
          </a:ln>
        </p:spPr>
      </p:sp>
      <p:sp>
        <p:nvSpPr>
          <p:cNvPr id="5" name="Text 2"/>
          <p:cNvSpPr txBox="1"/>
          <p:nvPr/>
        </p:nvSpPr>
        <p:spPr>
          <a:xfrm>
            <a:off x="640080" y="1325880"/>
            <a:ext cx="4389120" cy="2011680"/>
          </a:xfrm>
          <a:prstGeom prst="rect">
            <a:avLst/>
          </a:prstGeom>
          <a:noFill/>
          <a:ln/>
        </p:spPr>
        <p:txBody>
          <a:bodyPr wrap="square" lIns="0" tIns="0" rIns="0" bIns="0" rtlCol="0" anchor="t"/>
          <a:lstStyle/>
          <a:p>
            <a:pPr indent="0" marL="0">
              <a:buNone/>
            </a:pPr>
            <a:r>
              <a:rPr lang="en-US" sz="1200" dirty="0">
                <a:solidFill>
                  <a:srgbClr val="F3F5F7"/>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3F5F7"/>
                </a:solidFill>
                <a:latin typeface="Courier New" pitchFamily="34" charset="0"/>
                <a:ea typeface="Courier New" pitchFamily="34" charset="-122"/>
                <a:cs typeface="Courier New" pitchFamily="34" charset="-120"/>
              </a:rPr>
              <a:t>  "mcpServers": {</a:t>
            </a:r>
            <a:endParaRPr lang="en-US" sz="1200" dirty="0"/>
          </a:p>
          <a:p>
            <a:pPr indent="0" marL="0">
              <a:buNone/>
            </a:pPr>
            <a:r>
              <a:rPr lang="en-US" sz="1200" dirty="0">
                <a:solidFill>
                  <a:srgbClr val="F5A623"/>
                </a:solidFill>
                <a:latin typeface="Courier New" pitchFamily="34" charset="0"/>
                <a:ea typeface="Courier New" pitchFamily="34" charset="-122"/>
                <a:cs typeface="Courier New" pitchFamily="34" charset="-120"/>
              </a:rPr>
              <a:t>    "trade-orders": {</a:t>
            </a:r>
            <a:endParaRPr lang="en-US" sz="1200" dirty="0"/>
          </a:p>
          <a:p>
            <a:pPr indent="0" marL="0">
              <a:buNone/>
            </a:pPr>
            <a:r>
              <a:rPr lang="en-US" sz="1200" dirty="0">
                <a:solidFill>
                  <a:srgbClr val="F3F5F7"/>
                </a:solidFill>
                <a:latin typeface="Courier New" pitchFamily="34" charset="0"/>
                <a:ea typeface="Courier New" pitchFamily="34" charset="-122"/>
                <a:cs typeface="Courier New" pitchFamily="34" charset="-120"/>
              </a:rPr>
              <a:t>      "command": ".../.venv/bin/python",</a:t>
            </a:r>
            <a:endParaRPr lang="en-US" sz="1200" dirty="0"/>
          </a:p>
          <a:p>
            <a:pPr indent="0" marL="0">
              <a:buNone/>
            </a:pPr>
            <a:r>
              <a:rPr lang="en-US" sz="1200" dirty="0">
                <a:solidFill>
                  <a:srgbClr val="F3F5F7"/>
                </a:solidFill>
                <a:latin typeface="Courier New" pitchFamily="34" charset="0"/>
                <a:ea typeface="Courier New" pitchFamily="34" charset="-122"/>
                <a:cs typeface="Courier New" pitchFamily="34" charset="-120"/>
              </a:rPr>
              <a:t>      "args": [".../code/server.py"]</a:t>
            </a:r>
            <a:endParaRPr lang="en-US" sz="1200" dirty="0"/>
          </a:p>
          <a:p>
            <a:pPr indent="0" marL="0">
              <a:buNone/>
            </a:pPr>
            <a:r>
              <a:rPr lang="en-US" sz="1200" dirty="0">
                <a:solidFill>
                  <a:srgbClr val="F3F5F7"/>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3F5F7"/>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3F5F7"/>
                </a:solidFill>
                <a:latin typeface="Courier New" pitchFamily="34" charset="0"/>
                <a:ea typeface="Courier New" pitchFamily="34" charset="-122"/>
                <a:cs typeface="Courier New" pitchFamily="34" charset="-120"/>
              </a:rPr>
              <a:t>}</a:t>
            </a:r>
            <a:endParaRPr lang="en-US" sz="1200" dirty="0"/>
          </a:p>
        </p:txBody>
      </p:sp>
      <p:sp>
        <p:nvSpPr>
          <p:cNvPr id="6" name="Text 3"/>
          <p:cNvSpPr txBox="1"/>
          <p:nvPr/>
        </p:nvSpPr>
        <p:spPr>
          <a:xfrm>
            <a:off x="457200" y="3566160"/>
            <a:ext cx="4754880" cy="274320"/>
          </a:xfrm>
          <a:prstGeom prst="rect">
            <a:avLst/>
          </a:prstGeom>
          <a:noFill/>
          <a:ln/>
        </p:spPr>
        <p:txBody>
          <a:bodyPr wrap="square" lIns="0" tIns="0" rIns="0" bIns="0" rtlCol="0" anchor="ctr"/>
          <a:lstStyle/>
          <a:p>
            <a:pPr indent="0" marL="0">
              <a:buNone/>
            </a:pPr>
            <a:r>
              <a:rPr lang="en-US" sz="900" dirty="0">
                <a:solidFill>
                  <a:srgbClr val="9AA6B2"/>
                </a:solidFill>
                <a:latin typeface="Courier New" pitchFamily="34" charset="0"/>
                <a:ea typeface="Courier New" pitchFamily="34" charset="-122"/>
                <a:cs typeface="Courier New" pitchFamily="34" charset="-120"/>
              </a:rPr>
              <a:t>~/Library/Application Support/Claude/claude_desktop_config.json</a:t>
            </a:r>
            <a:endParaRPr lang="en-US" sz="900" dirty="0"/>
          </a:p>
        </p:txBody>
      </p:sp>
      <p:sp>
        <p:nvSpPr>
          <p:cNvPr id="7" name="Shape 4"/>
          <p:cNvSpPr/>
          <p:nvPr/>
        </p:nvSpPr>
        <p:spPr>
          <a:xfrm>
            <a:off x="5486400" y="1188720"/>
            <a:ext cx="3200400" cy="2651760"/>
          </a:xfrm>
          <a:prstGeom prst="roundRect">
            <a:avLst>
              <a:gd name="adj" fmla="val 2759"/>
            </a:avLst>
          </a:prstGeom>
          <a:solidFill>
            <a:srgbClr val="232B33"/>
          </a:solidFill>
          <a:ln w="9525">
            <a:solidFill>
              <a:srgbClr val="2E3842"/>
            </a:solidFill>
            <a:prstDash val="solid"/>
          </a:ln>
        </p:spPr>
      </p:sp>
      <p:sp>
        <p:nvSpPr>
          <p:cNvPr id="8" name="Text 5"/>
          <p:cNvSpPr txBox="1"/>
          <p:nvPr/>
        </p:nvSpPr>
        <p:spPr>
          <a:xfrm>
            <a:off x="5715000" y="1325880"/>
            <a:ext cx="2834640" cy="274320"/>
          </a:xfrm>
          <a:prstGeom prst="rect">
            <a:avLst/>
          </a:prstGeom>
          <a:noFill/>
          <a:ln/>
        </p:spPr>
        <p:txBody>
          <a:bodyPr wrap="square" lIns="0" tIns="0" rIns="0" bIns="0" rtlCol="0" anchor="ctr"/>
          <a:lstStyle/>
          <a:p>
            <a:pPr indent="0" marL="0">
              <a:buNone/>
            </a:pPr>
            <a:r>
              <a:rPr lang="en-US" sz="1000" b="1" spc="200" kern="0" dirty="0">
                <a:solidFill>
                  <a:srgbClr val="4FB3BF"/>
                </a:solidFill>
                <a:latin typeface="Calibri" pitchFamily="34" charset="0"/>
                <a:ea typeface="Calibri" pitchFamily="34" charset="-122"/>
                <a:cs typeface="Calibri" pitchFamily="34" charset="-120"/>
              </a:rPr>
              <a:t>ASK IN PLAIN ENGLISH</a:t>
            </a:r>
            <a:endParaRPr lang="en-US" sz="1000" dirty="0"/>
          </a:p>
        </p:txBody>
      </p:sp>
      <p:sp>
        <p:nvSpPr>
          <p:cNvPr id="9" name="Text 6"/>
          <p:cNvSpPr txBox="1"/>
          <p:nvPr/>
        </p:nvSpPr>
        <p:spPr>
          <a:xfrm>
            <a:off x="5715000" y="1645920"/>
            <a:ext cx="2834640" cy="1188720"/>
          </a:xfrm>
          <a:prstGeom prst="rect">
            <a:avLst/>
          </a:prstGeom>
          <a:noFill/>
          <a:ln/>
        </p:spPr>
        <p:txBody>
          <a:bodyPr wrap="square" lIns="0" tIns="0" rIns="0" bIns="0" rtlCol="0" anchor="t"/>
          <a:lstStyle/>
          <a:p>
            <a:pPr indent="0" marL="0">
              <a:buNone/>
            </a:pPr>
            <a:r>
              <a:rPr lang="en-US" sz="1300" i="1" dirty="0">
                <a:solidFill>
                  <a:srgbClr val="F3F5F7"/>
                </a:solidFill>
                <a:latin typeface="Calibri" pitchFamily="34" charset="0"/>
                <a:ea typeface="Calibri" pitchFamily="34" charset="-122"/>
                <a:cs typeface="Calibri" pitchFamily="34" charset="-120"/>
              </a:rPr>
              <a:t>“Which shipments to Chennai are delayed by more than 4 days, and which customers should I call first?”</a:t>
            </a:r>
            <a:endParaRPr lang="en-US" sz="1300" dirty="0"/>
          </a:p>
        </p:txBody>
      </p:sp>
      <p:sp>
        <p:nvSpPr>
          <p:cNvPr id="10" name="Text 7"/>
          <p:cNvSpPr txBox="1"/>
          <p:nvPr/>
        </p:nvSpPr>
        <p:spPr>
          <a:xfrm>
            <a:off x="5715000" y="2834640"/>
            <a:ext cx="2834640" cy="914400"/>
          </a:xfrm>
          <a:prstGeom prst="rect">
            <a:avLst/>
          </a:prstGeom>
          <a:noFill/>
          <a:ln/>
        </p:spPr>
        <p:txBody>
          <a:bodyPr wrap="square" lIns="0" tIns="0" rIns="0" bIns="0" rtlCol="0" anchor="t"/>
          <a:lstStyle/>
          <a:p>
            <a:pPr indent="0" marL="0">
              <a:buNone/>
            </a:pPr>
            <a:r>
              <a:rPr lang="en-US" sz="1100" dirty="0">
                <a:solidFill>
                  <a:srgbClr val="9AA6B2"/>
                </a:solidFill>
                <a:latin typeface="Calibri" pitchFamily="34" charset="0"/>
                <a:ea typeface="Calibri" pitchFamily="34" charset="-122"/>
                <a:cs typeface="Calibri" pitchFamily="34" charset="-120"/>
              </a:rPr>
              <a:t>→ calls search_shipments</a:t>
            </a:r>
            <a:endParaRPr lang="en-US" sz="1100" dirty="0"/>
          </a:p>
          <a:p>
            <a:pPr indent="0" marL="0">
              <a:buNone/>
            </a:pPr>
            <a:r>
              <a:rPr lang="en-US" sz="1100" dirty="0">
                <a:solidFill>
                  <a:srgbClr val="9AA6B2"/>
                </a:solidFill>
                <a:latin typeface="Calibri" pitchFamily="34" charset="0"/>
                <a:ea typeface="Calibri" pitchFamily="34" charset="-122"/>
                <a:cs typeface="Calibri" pitchFamily="34" charset="-120"/>
              </a:rPr>
              <a:t>→ then get_order for the worst ones</a:t>
            </a:r>
            <a:endParaRPr lang="en-US" sz="1100" dirty="0"/>
          </a:p>
          <a:p>
            <a:pPr indent="0" marL="0">
              <a:buNone/>
            </a:pPr>
            <a:r>
              <a:rPr lang="en-US" sz="1100" dirty="0">
                <a:solidFill>
                  <a:srgbClr val="9AA6B2"/>
                </a:solidFill>
                <a:latin typeface="Calibri" pitchFamily="34" charset="0"/>
                <a:ea typeface="Calibri" pitchFamily="34" charset="-122"/>
                <a:cs typeface="Calibri" pitchFamily="34" charset="-120"/>
              </a:rPr>
              <a:t>→ you wrote zero client code</a:t>
            </a:r>
            <a:endParaRPr lang="en-US" sz="1100" dirty="0"/>
          </a:p>
        </p:txBody>
      </p:sp>
      <p:sp>
        <p:nvSpPr>
          <p:cNvPr id="11" name="Text 8"/>
          <p:cNvSpPr txBox="1"/>
          <p:nvPr/>
        </p:nvSpPr>
        <p:spPr>
          <a:xfrm>
            <a:off x="457200" y="4709160"/>
            <a:ext cx="5486400" cy="274320"/>
          </a:xfrm>
          <a:prstGeom prst="rect">
            <a:avLst/>
          </a:prstGeom>
          <a:noFill/>
          <a:ln/>
        </p:spPr>
        <p:txBody>
          <a:bodyPr wrap="square" lIns="0" tIns="0" rIns="0" bIns="0" rtlCol="0" anchor="ctr"/>
          <a:lstStyle/>
          <a:p>
            <a:pPr indent="0" marL="0">
              <a:buNone/>
            </a:pPr>
            <a:r>
              <a:rPr lang="en-US" sz="1000" dirty="0">
                <a:solidFill>
                  <a:srgbClr val="9AA6B2"/>
                </a:solidFill>
                <a:latin typeface="Calibri" pitchFamily="34" charset="0"/>
                <a:ea typeface="Calibri" pitchFamily="34" charset="-122"/>
                <a:cs typeface="Calibri" pitchFamily="34" charset="-120"/>
              </a:rPr>
              <a:t>Restart Claude Desktop after editing the config. Use absolute paths.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316"/>
        </a:solidFill>
      </p:bgPr>
    </p:bg>
    <p:spTree>
      <p:nvGrpSpPr>
        <p:cNvPr id="1" name=""/>
        <p:cNvGrpSpPr/>
        <p:nvPr/>
      </p:nvGrpSpPr>
      <p:grpSpPr>
        <a:xfrm>
          <a:off x="0" y="0"/>
          <a:ext cx="0" cy="0"/>
          <a:chOff x="0" y="0"/>
          <a:chExt cx="0" cy="0"/>
        </a:xfrm>
      </p:grpSpPr>
      <p:sp>
        <p:nvSpPr>
          <p:cNvPr id="3"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F3F5F7"/>
                </a:solidFill>
                <a:latin typeface="Cambria" pitchFamily="34" charset="0"/>
                <a:ea typeface="Cambria" pitchFamily="34" charset="-122"/>
                <a:cs typeface="Cambria" pitchFamily="34" charset="-120"/>
              </a:rPr>
              <a:t>Plug it into our own agent</a:t>
            </a:r>
            <a:endParaRPr lang="en-US" sz="3000" dirty="0"/>
          </a:p>
        </p:txBody>
      </p:sp>
      <p:sp>
        <p:nvSpPr>
          <p:cNvPr id="4" name="Text 1"/>
          <p:cNvSpPr txBox="1"/>
          <p:nvPr/>
        </p:nvSpPr>
        <p:spPr>
          <a:xfrm>
            <a:off x="457200" y="1097280"/>
            <a:ext cx="8229600" cy="365760"/>
          </a:xfrm>
          <a:prstGeom prst="rect">
            <a:avLst/>
          </a:prstGeom>
          <a:noFill/>
          <a:ln/>
        </p:spPr>
        <p:txBody>
          <a:bodyPr wrap="square" lIns="0" tIns="0" rIns="0" bIns="0" rtlCol="0" anchor="ctr"/>
          <a:lstStyle/>
          <a:p>
            <a:pPr indent="0" marL="0">
              <a:buNone/>
            </a:pPr>
            <a:r>
              <a:rPr lang="en-US" sz="1400" dirty="0">
                <a:solidFill>
                  <a:srgbClr val="9AA6B2"/>
                </a:solidFill>
                <a:latin typeface="Calibri" pitchFamily="34" charset="0"/>
                <a:ea typeface="Calibri" pitchFamily="34" charset="-122"/>
                <a:cs typeface="Calibri" pitchFamily="34" charset="-120"/>
              </a:rPr>
              <a:t>Episode 1's loop, unchanged. Only where the tools come from moves.</a:t>
            </a:r>
            <a:endParaRPr lang="en-US" sz="1400" dirty="0"/>
          </a:p>
        </p:txBody>
      </p:sp>
      <p:sp>
        <p:nvSpPr>
          <p:cNvPr id="5" name="Text 2"/>
          <p:cNvSpPr txBox="1"/>
          <p:nvPr/>
        </p:nvSpPr>
        <p:spPr>
          <a:xfrm>
            <a:off x="457200" y="1554480"/>
            <a:ext cx="3657600" cy="274320"/>
          </a:xfrm>
          <a:prstGeom prst="rect">
            <a:avLst/>
          </a:prstGeom>
          <a:noFill/>
          <a:ln/>
        </p:spPr>
        <p:txBody>
          <a:bodyPr wrap="square" lIns="0" tIns="0" rIns="0" bIns="0" rtlCol="0" anchor="ctr"/>
          <a:lstStyle/>
          <a:p>
            <a:pPr indent="0" marL="0">
              <a:buNone/>
            </a:pPr>
            <a:r>
              <a:rPr lang="en-US" sz="1000" b="1" spc="200" kern="0" dirty="0">
                <a:solidFill>
                  <a:srgbClr val="9AA6B2"/>
                </a:solidFill>
                <a:latin typeface="Calibri" pitchFamily="34" charset="0"/>
                <a:ea typeface="Calibri" pitchFamily="34" charset="-122"/>
                <a:cs typeface="Calibri" pitchFamily="34" charset="-120"/>
              </a:rPr>
              <a:t>EPISODE 1</a:t>
            </a:r>
            <a:endParaRPr lang="en-US" sz="1000" dirty="0"/>
          </a:p>
        </p:txBody>
      </p:sp>
      <p:sp>
        <p:nvSpPr>
          <p:cNvPr id="6" name="Shape 3"/>
          <p:cNvSpPr/>
          <p:nvPr/>
        </p:nvSpPr>
        <p:spPr>
          <a:xfrm>
            <a:off x="457200" y="1828800"/>
            <a:ext cx="3931920" cy="1371600"/>
          </a:xfrm>
          <a:prstGeom prst="roundRect">
            <a:avLst>
              <a:gd name="adj" fmla="val 5333"/>
            </a:avLst>
          </a:prstGeom>
          <a:solidFill>
            <a:srgbClr val="0B0E11"/>
          </a:solidFill>
          <a:ln w="9525">
            <a:solidFill>
              <a:srgbClr val="2E3842"/>
            </a:solidFill>
            <a:prstDash val="solid"/>
          </a:ln>
        </p:spPr>
      </p:sp>
      <p:sp>
        <p:nvSpPr>
          <p:cNvPr id="7" name="Text 4"/>
          <p:cNvSpPr txBox="1"/>
          <p:nvPr/>
        </p:nvSpPr>
        <p:spPr>
          <a:xfrm>
            <a:off x="640080" y="1965960"/>
            <a:ext cx="3566160" cy="1097280"/>
          </a:xfrm>
          <a:prstGeom prst="rect">
            <a:avLst/>
          </a:prstGeom>
          <a:noFill/>
          <a:ln/>
        </p:spPr>
        <p:txBody>
          <a:bodyPr wrap="square" lIns="0" tIns="0" rIns="0" bIns="0" rtlCol="0" anchor="t"/>
          <a:lstStyle/>
          <a:p>
            <a:pPr indent="0" marL="0">
              <a:buNone/>
            </a:pPr>
            <a:r>
              <a:rPr lang="en-US" sz="1000" dirty="0">
                <a:solidFill>
                  <a:srgbClr val="F3F5F7"/>
                </a:solidFill>
                <a:latin typeface="Courier New" pitchFamily="34" charset="0"/>
                <a:ea typeface="Courier New" pitchFamily="34" charset="-122"/>
                <a:cs typeface="Courier New" pitchFamily="34" charset="-120"/>
              </a:rPr>
              <a:t>TOOLS = [ {...}, {...}, {...} ]</a:t>
            </a:r>
            <a:endParaRPr lang="en-US" sz="1000" dirty="0"/>
          </a:p>
          <a:p>
            <a:pPr indent="0" marL="0">
              <a:buNone/>
            </a:pPr>
            <a:r>
              <a:rPr lang="en-US" sz="1000" dirty="0">
                <a:solidFill>
                  <a:srgbClr val="F3F5F7"/>
                </a:solidFill>
                <a:latin typeface="Courier New" pitchFamily="34" charset="0"/>
                <a:ea typeface="Courier New" pitchFamily="34" charset="-122"/>
                <a:cs typeface="Courier New" pitchFamily="34" charset="-120"/>
              </a:rPr>
              <a:t>HANDLERS = {"lookup_order": lookup_order, ...}</a:t>
            </a:r>
            <a:endParaRPr lang="en-US" sz="1000" dirty="0"/>
          </a:p>
          <a:p>
            <a:pPr indent="0" marL="0">
              <a:buNone/>
            </a:pPr>
            <a:endParaRPr lang="en-US" sz="1000" dirty="0"/>
          </a:p>
          <a:p>
            <a:pPr indent="0" marL="0">
              <a:buNone/>
            </a:pPr>
            <a:r>
              <a:rPr lang="en-US" sz="1000" dirty="0">
                <a:solidFill>
                  <a:srgbClr val="F3F5F7"/>
                </a:solidFill>
                <a:latin typeface="Courier New" pitchFamily="34" charset="0"/>
                <a:ea typeface="Courier New" pitchFamily="34" charset="-122"/>
                <a:cs typeface="Courier New" pitchFamily="34" charset="-120"/>
              </a:rPr>
              <a:t>out = HANDLERS[block.name](**block.input)</a:t>
            </a:r>
            <a:endParaRPr lang="en-US" sz="1000" dirty="0"/>
          </a:p>
        </p:txBody>
      </p:sp>
      <p:sp>
        <p:nvSpPr>
          <p:cNvPr id="8" name="Text 5"/>
          <p:cNvSpPr txBox="1"/>
          <p:nvPr/>
        </p:nvSpPr>
        <p:spPr>
          <a:xfrm>
            <a:off x="4754880" y="1554480"/>
            <a:ext cx="3657600" cy="274320"/>
          </a:xfrm>
          <a:prstGeom prst="rect">
            <a:avLst/>
          </a:prstGeom>
          <a:noFill/>
          <a:ln/>
        </p:spPr>
        <p:txBody>
          <a:bodyPr wrap="square" lIns="0" tIns="0" rIns="0" bIns="0" rtlCol="0" anchor="ctr"/>
          <a:lstStyle/>
          <a:p>
            <a:pPr indent="0" marL="0">
              <a:buNone/>
            </a:pPr>
            <a:r>
              <a:rPr lang="en-US" sz="1000" b="1" spc="200" kern="0" dirty="0">
                <a:solidFill>
                  <a:srgbClr val="F5A623"/>
                </a:solidFill>
                <a:latin typeface="Calibri" pitchFamily="34" charset="0"/>
                <a:ea typeface="Calibri" pitchFamily="34" charset="-122"/>
                <a:cs typeface="Calibri" pitchFamily="34" charset="-120"/>
              </a:rPr>
              <a:t>EPISODE 2</a:t>
            </a:r>
            <a:endParaRPr lang="en-US" sz="1000" dirty="0"/>
          </a:p>
        </p:txBody>
      </p:sp>
      <p:sp>
        <p:nvSpPr>
          <p:cNvPr id="9" name="Shape 6"/>
          <p:cNvSpPr/>
          <p:nvPr/>
        </p:nvSpPr>
        <p:spPr>
          <a:xfrm>
            <a:off x="4754880" y="1828800"/>
            <a:ext cx="3931920" cy="1371600"/>
          </a:xfrm>
          <a:prstGeom prst="roundRect">
            <a:avLst>
              <a:gd name="adj" fmla="val 5333"/>
            </a:avLst>
          </a:prstGeom>
          <a:solidFill>
            <a:srgbClr val="0B0E11"/>
          </a:solidFill>
          <a:ln w="9525">
            <a:solidFill>
              <a:srgbClr val="2E3842"/>
            </a:solidFill>
            <a:prstDash val="solid"/>
          </a:ln>
        </p:spPr>
      </p:sp>
      <p:sp>
        <p:nvSpPr>
          <p:cNvPr id="10" name="Text 7"/>
          <p:cNvSpPr txBox="1"/>
          <p:nvPr/>
        </p:nvSpPr>
        <p:spPr>
          <a:xfrm>
            <a:off x="4937760" y="1965960"/>
            <a:ext cx="3566160" cy="1097280"/>
          </a:xfrm>
          <a:prstGeom prst="rect">
            <a:avLst/>
          </a:prstGeom>
          <a:noFill/>
          <a:ln/>
        </p:spPr>
        <p:txBody>
          <a:bodyPr wrap="square" lIns="0" tIns="0" rIns="0" bIns="0" rtlCol="0" anchor="t"/>
          <a:lstStyle/>
          <a:p>
            <a:pPr indent="0" marL="0">
              <a:buNone/>
            </a:pPr>
            <a:r>
              <a:rPr lang="en-US" sz="1000" dirty="0">
                <a:solidFill>
                  <a:srgbClr val="F5A623"/>
                </a:solidFill>
                <a:latin typeface="Courier New" pitchFamily="34" charset="0"/>
                <a:ea typeface="Courier New" pitchFamily="34" charset="-122"/>
                <a:cs typeface="Courier New" pitchFamily="34" charset="-120"/>
              </a:rPr>
              <a:t>listed = await session.list_tools()</a:t>
            </a:r>
            <a:endParaRPr lang="en-US" sz="1000" dirty="0"/>
          </a:p>
          <a:p>
            <a:pPr indent="0" marL="0">
              <a:buNone/>
            </a:pPr>
            <a:r>
              <a:rPr lang="en-US" sz="1000" dirty="0">
                <a:solidFill>
                  <a:srgbClr val="F3F5F7"/>
                </a:solidFill>
                <a:latin typeface="Courier New" pitchFamily="34" charset="0"/>
                <a:ea typeface="Courier New" pitchFamily="34" charset="-122"/>
                <a:cs typeface="Courier New" pitchFamily="34" charset="-120"/>
              </a:rPr>
              <a:t>tools = [{name, description, inputSchema} ...]</a:t>
            </a:r>
            <a:endParaRPr lang="en-US" sz="1000" dirty="0"/>
          </a:p>
          <a:p>
            <a:pPr indent="0" marL="0">
              <a:buNone/>
            </a:pPr>
            <a:endParaRPr lang="en-US" sz="1000" dirty="0"/>
          </a:p>
          <a:p>
            <a:pPr indent="0" marL="0">
              <a:buNone/>
            </a:pPr>
            <a:r>
              <a:rPr lang="en-US" sz="1000" dirty="0">
                <a:solidFill>
                  <a:srgbClr val="F5A623"/>
                </a:solidFill>
                <a:latin typeface="Courier New" pitchFamily="34" charset="0"/>
                <a:ea typeface="Courier New" pitchFamily="34" charset="-122"/>
                <a:cs typeface="Courier New" pitchFamily="34" charset="-120"/>
              </a:rPr>
              <a:t>out = await session.call_tool(block.name, block.input)</a:t>
            </a:r>
            <a:endParaRPr lang="en-US" sz="1000" dirty="0"/>
          </a:p>
        </p:txBody>
      </p:sp>
      <p:sp>
        <p:nvSpPr>
          <p:cNvPr id="11" name="Shape 8"/>
          <p:cNvSpPr/>
          <p:nvPr/>
        </p:nvSpPr>
        <p:spPr>
          <a:xfrm>
            <a:off x="457200" y="3429000"/>
            <a:ext cx="8229600" cy="1005840"/>
          </a:xfrm>
          <a:prstGeom prst="roundRect">
            <a:avLst>
              <a:gd name="adj" fmla="val 7273"/>
            </a:avLst>
          </a:prstGeom>
          <a:solidFill>
            <a:srgbClr val="232B33"/>
          </a:solidFill>
          <a:ln w="9525">
            <a:solidFill>
              <a:srgbClr val="2E3842"/>
            </a:solidFill>
            <a:prstDash val="solid"/>
          </a:ln>
        </p:spPr>
      </p:sp>
      <p:sp>
        <p:nvSpPr>
          <p:cNvPr id="12" name="Text 9"/>
          <p:cNvSpPr txBox="1"/>
          <p:nvPr/>
        </p:nvSpPr>
        <p:spPr>
          <a:xfrm>
            <a:off x="685800" y="3429000"/>
            <a:ext cx="7772400" cy="1005840"/>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Why this matters: </a:t>
            </a:r>
            <a:pPr indent="0" marL="0">
              <a:buNone/>
            </a:pPr>
            <a:r>
              <a:rPr lang="en-US" sz="1300" dirty="0">
                <a:solidFill>
                  <a:srgbClr val="F3F5F7"/>
                </a:solidFill>
                <a:latin typeface="Calibri" pitchFamily="34" charset="0"/>
                <a:ea typeface="Calibri" pitchFamily="34" charset="-122"/>
                <a:cs typeface="Calibri" pitchFamily="34" charset="-120"/>
              </a:rPr>
              <a:t>the same server now serves Claude Desktop, Cursor, your agent and the next team's agent. Tool logic lives in one place, next to the data, owned by the team that owns the data.</a:t>
            </a:r>
            <a:endParaRPr lang="en-US" sz="1300" dirty="0"/>
          </a:p>
        </p:txBody>
      </p:sp>
      <p:sp>
        <p:nvSpPr>
          <p:cNvPr id="13" name="Text 10"/>
          <p:cNvSpPr txBox="1"/>
          <p:nvPr/>
        </p:nvSpPr>
        <p:spPr>
          <a:xfrm>
            <a:off x="457200" y="4709160"/>
            <a:ext cx="5486400" cy="274320"/>
          </a:xfrm>
          <a:prstGeom prst="rect">
            <a:avLst/>
          </a:prstGeom>
          <a:noFill/>
          <a:ln/>
        </p:spPr>
        <p:txBody>
          <a:bodyPr wrap="square" lIns="0" tIns="0" rIns="0" bIns="0" rtlCol="0" anchor="ctr"/>
          <a:lstStyle/>
          <a:p>
            <a:pPr indent="0" marL="0">
              <a:buNone/>
            </a:pPr>
            <a:r>
              <a:rPr lang="en-US" sz="1000" dirty="0">
                <a:solidFill>
                  <a:srgbClr val="9AA6B2"/>
                </a:solidFill>
                <a:latin typeface="Calibri" pitchFamily="34" charset="0"/>
                <a:ea typeface="Calibri" pitchFamily="34" charset="-122"/>
                <a:cs typeface="Calibri" pitchFamily="34" charset="-120"/>
              </a:rPr>
              <a:t>agent_mcp.py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316"/>
        </a:solidFill>
      </p:bgPr>
    </p:bg>
    <p:spTree>
      <p:nvGrpSpPr>
        <p:cNvPr id="1" name=""/>
        <p:cNvGrpSpPr/>
        <p:nvPr/>
      </p:nvGrpSpPr>
      <p:grpSpPr>
        <a:xfrm>
          <a:off x="0" y="0"/>
          <a:ext cx="0" cy="0"/>
          <a:chOff x="0" y="0"/>
          <a:chExt cx="0" cy="0"/>
        </a:xfrm>
      </p:grpSpPr>
      <p:sp>
        <p:nvSpPr>
          <p:cNvPr id="3" name="Text 0"/>
          <p:cNvSpPr txBox="1"/>
          <p:nvPr/>
        </p:nvSpPr>
        <p:spPr>
          <a:xfrm>
            <a:off x="457200" y="411480"/>
            <a:ext cx="6400800" cy="274320"/>
          </a:xfrm>
          <a:prstGeom prst="rect">
            <a:avLst/>
          </a:prstGeom>
          <a:noFill/>
          <a:ln/>
        </p:spPr>
        <p:txBody>
          <a:bodyPr wrap="square" lIns="0" tIns="0" rIns="0" bIns="0" rtlCol="0" anchor="ctr"/>
          <a:lstStyle/>
          <a:p>
            <a:pPr indent="0" marL="0">
              <a:buNone/>
            </a:pPr>
            <a:r>
              <a:rPr lang="en-US" sz="1100" spc="300" kern="0" dirty="0">
                <a:solidFill>
                  <a:srgbClr val="F5A623"/>
                </a:solidFill>
                <a:latin typeface="Calibri" pitchFamily="34" charset="0"/>
                <a:ea typeface="Calibri" pitchFamily="34" charset="-122"/>
                <a:cs typeface="Calibri" pitchFamily="34" charset="-120"/>
              </a:rPr>
              <a:t>WHAT BREAKS IN THE ENTERPRISE</a:t>
            </a:r>
            <a:endParaRPr lang="en-US" sz="1100" dirty="0"/>
          </a:p>
        </p:txBody>
      </p:sp>
      <p:sp>
        <p:nvSpPr>
          <p:cNvPr id="4" name="Text 1"/>
          <p:cNvSpPr txBox="1"/>
          <p:nvPr/>
        </p:nvSpPr>
        <p:spPr>
          <a:xfrm>
            <a:off x="457200" y="731520"/>
            <a:ext cx="8229600" cy="640080"/>
          </a:xfrm>
          <a:prstGeom prst="rect">
            <a:avLst/>
          </a:prstGeom>
          <a:noFill/>
          <a:ln/>
        </p:spPr>
        <p:txBody>
          <a:bodyPr wrap="square" lIns="0" tIns="0" rIns="0" bIns="0" rtlCol="0" anchor="ctr"/>
          <a:lstStyle/>
          <a:p>
            <a:pPr indent="0" marL="0">
              <a:buNone/>
            </a:pPr>
            <a:r>
              <a:rPr lang="en-US" sz="2800" b="1" dirty="0">
                <a:solidFill>
                  <a:srgbClr val="F3F5F7"/>
                </a:solidFill>
                <a:latin typeface="Cambria" pitchFamily="34" charset="0"/>
                <a:ea typeface="Cambria" pitchFamily="34" charset="-122"/>
                <a:cs typeface="Cambria" pitchFamily="34" charset="-120"/>
              </a:rPr>
              <a:t>Four rules before this server leaves your laptop</a:t>
            </a:r>
            <a:endParaRPr lang="en-US" sz="2800" dirty="0"/>
          </a:p>
        </p:txBody>
      </p:sp>
      <p:sp>
        <p:nvSpPr>
          <p:cNvPr id="5" name="Shape 2"/>
          <p:cNvSpPr/>
          <p:nvPr/>
        </p:nvSpPr>
        <p:spPr>
          <a:xfrm>
            <a:off x="457200" y="1600200"/>
            <a:ext cx="4023360" cy="1234440"/>
          </a:xfrm>
          <a:prstGeom prst="roundRect">
            <a:avLst>
              <a:gd name="adj" fmla="val 5926"/>
            </a:avLst>
          </a:prstGeom>
          <a:solidFill>
            <a:srgbClr val="1B2127"/>
          </a:solidFill>
          <a:ln w="9525">
            <a:solidFill>
              <a:srgbClr val="2E3842"/>
            </a:solidFill>
            <a:prstDash val="solid"/>
          </a:ln>
        </p:spPr>
      </p:sp>
      <p:sp>
        <p:nvSpPr>
          <p:cNvPr id="6" name="Shape 3"/>
          <p:cNvSpPr/>
          <p:nvPr/>
        </p:nvSpPr>
        <p:spPr>
          <a:xfrm>
            <a:off x="685800" y="1828800"/>
            <a:ext cx="384048" cy="384048"/>
          </a:xfrm>
          <a:prstGeom prst="ellipse">
            <a:avLst/>
          </a:prstGeom>
          <a:solidFill>
            <a:srgbClr val="4FB3BF"/>
          </a:solidFill>
          <a:ln/>
        </p:spPr>
      </p:sp>
      <p:sp>
        <p:nvSpPr>
          <p:cNvPr id="7" name="Text 4"/>
          <p:cNvSpPr txBox="1"/>
          <p:nvPr/>
        </p:nvSpPr>
        <p:spPr>
          <a:xfrm>
            <a:off x="685800" y="1828800"/>
            <a:ext cx="384048" cy="384048"/>
          </a:xfrm>
          <a:prstGeom prst="rect">
            <a:avLst/>
          </a:prstGeom>
          <a:noFill/>
          <a:ln/>
        </p:spPr>
        <p:txBody>
          <a:bodyPr wrap="square" lIns="0" tIns="0" rIns="0" bIns="0" rtlCol="0" anchor="ctr"/>
          <a:lstStyle/>
          <a:p>
            <a:pPr algn="ctr" indent="0" marL="0">
              <a:buNone/>
            </a:pPr>
            <a:r>
              <a:rPr lang="en-US" sz="1400" b="1" dirty="0">
                <a:solidFill>
                  <a:srgbClr val="0F1316"/>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1234440" y="1737360"/>
            <a:ext cx="3108960" cy="411480"/>
          </a:xfrm>
          <a:prstGeom prst="rect">
            <a:avLst/>
          </a:prstGeom>
          <a:noFill/>
          <a:ln/>
        </p:spPr>
        <p:txBody>
          <a:bodyPr wrap="square" lIns="0" tIns="0" rIns="0" bIns="0" rtlCol="0" anchor="ctr"/>
          <a:lstStyle/>
          <a:p>
            <a:pPr indent="0" marL="0">
              <a:buNone/>
            </a:pPr>
            <a:r>
              <a:rPr lang="en-US" sz="1600" b="1" dirty="0">
                <a:solidFill>
                  <a:srgbClr val="F3F5F7"/>
                </a:solidFill>
                <a:latin typeface="Cambria" pitchFamily="34" charset="0"/>
                <a:ea typeface="Cambria" pitchFamily="34" charset="-122"/>
                <a:cs typeface="Cambria" pitchFamily="34" charset="-120"/>
              </a:rPr>
              <a:t>Read-only by default</a:t>
            </a:r>
            <a:endParaRPr lang="en-US" sz="1600" dirty="0"/>
          </a:p>
        </p:txBody>
      </p:sp>
      <p:sp>
        <p:nvSpPr>
          <p:cNvPr id="9" name="Text 6"/>
          <p:cNvSpPr txBox="1"/>
          <p:nvPr/>
        </p:nvSpPr>
        <p:spPr>
          <a:xfrm>
            <a:off x="1234440" y="2148840"/>
            <a:ext cx="3108960" cy="640080"/>
          </a:xfrm>
          <a:prstGeom prst="rect">
            <a:avLst/>
          </a:prstGeom>
          <a:noFill/>
          <a:ln/>
        </p:spPr>
        <p:txBody>
          <a:bodyPr wrap="square" lIns="0" tIns="0" rIns="0" bIns="0" rtlCol="0" anchor="t"/>
          <a:lstStyle/>
          <a:p>
            <a:pPr indent="0" marL="0">
              <a:buNone/>
            </a:pPr>
            <a:r>
              <a:rPr lang="en-US" sz="1100" dirty="0">
                <a:solidFill>
                  <a:srgbClr val="9AA6B2"/>
                </a:solidFill>
                <a:latin typeface="Calibri" pitchFamily="34" charset="0"/>
                <a:ea typeface="Calibri" pitchFamily="34" charset="-122"/>
                <a:cs typeface="Calibri" pitchFamily="34" charset="-120"/>
              </a:rPr>
              <a:t>mode=ro on the connection. No UPDATE tool until identity and approval exist (Ep 15).</a:t>
            </a:r>
            <a:endParaRPr lang="en-US" sz="1100" dirty="0"/>
          </a:p>
        </p:txBody>
      </p:sp>
      <p:sp>
        <p:nvSpPr>
          <p:cNvPr id="10" name="Shape 7"/>
          <p:cNvSpPr/>
          <p:nvPr/>
        </p:nvSpPr>
        <p:spPr>
          <a:xfrm>
            <a:off x="4663440" y="1600200"/>
            <a:ext cx="4023360" cy="1234440"/>
          </a:xfrm>
          <a:prstGeom prst="roundRect">
            <a:avLst>
              <a:gd name="adj" fmla="val 5926"/>
            </a:avLst>
          </a:prstGeom>
          <a:solidFill>
            <a:srgbClr val="1B2127"/>
          </a:solidFill>
          <a:ln w="9525">
            <a:solidFill>
              <a:srgbClr val="2E3842"/>
            </a:solidFill>
            <a:prstDash val="solid"/>
          </a:ln>
        </p:spPr>
      </p:sp>
      <p:sp>
        <p:nvSpPr>
          <p:cNvPr id="11" name="Shape 8"/>
          <p:cNvSpPr/>
          <p:nvPr/>
        </p:nvSpPr>
        <p:spPr>
          <a:xfrm>
            <a:off x="4892040" y="1828800"/>
            <a:ext cx="384048" cy="384048"/>
          </a:xfrm>
          <a:prstGeom prst="ellipse">
            <a:avLst/>
          </a:prstGeom>
          <a:solidFill>
            <a:srgbClr val="4FB3BF"/>
          </a:solidFill>
          <a:ln/>
        </p:spPr>
      </p:sp>
      <p:sp>
        <p:nvSpPr>
          <p:cNvPr id="12" name="Text 9"/>
          <p:cNvSpPr txBox="1"/>
          <p:nvPr/>
        </p:nvSpPr>
        <p:spPr>
          <a:xfrm>
            <a:off x="4892040" y="1828800"/>
            <a:ext cx="384048" cy="384048"/>
          </a:xfrm>
          <a:prstGeom prst="rect">
            <a:avLst/>
          </a:prstGeom>
          <a:noFill/>
          <a:ln/>
        </p:spPr>
        <p:txBody>
          <a:bodyPr wrap="square" lIns="0" tIns="0" rIns="0" bIns="0" rtlCol="0" anchor="ctr"/>
          <a:lstStyle/>
          <a:p>
            <a:pPr algn="ctr" indent="0" marL="0">
              <a:buNone/>
            </a:pPr>
            <a:r>
              <a:rPr lang="en-US" sz="1400" b="1" dirty="0">
                <a:solidFill>
                  <a:srgbClr val="0F1316"/>
                </a:solidFill>
                <a:latin typeface="Calibri" pitchFamily="34" charset="0"/>
                <a:ea typeface="Calibri" pitchFamily="34" charset="-122"/>
                <a:cs typeface="Calibri" pitchFamily="34" charset="-120"/>
              </a:rPr>
              <a:t>2</a:t>
            </a:r>
            <a:endParaRPr lang="en-US" sz="1400" dirty="0"/>
          </a:p>
        </p:txBody>
      </p:sp>
      <p:sp>
        <p:nvSpPr>
          <p:cNvPr id="13" name="Text 10"/>
          <p:cNvSpPr txBox="1"/>
          <p:nvPr/>
        </p:nvSpPr>
        <p:spPr>
          <a:xfrm>
            <a:off x="5440680" y="1737360"/>
            <a:ext cx="3108960" cy="411480"/>
          </a:xfrm>
          <a:prstGeom prst="rect">
            <a:avLst/>
          </a:prstGeom>
          <a:noFill/>
          <a:ln/>
        </p:spPr>
        <p:txBody>
          <a:bodyPr wrap="square" lIns="0" tIns="0" rIns="0" bIns="0" rtlCol="0" anchor="ctr"/>
          <a:lstStyle/>
          <a:p>
            <a:pPr indent="0" marL="0">
              <a:buNone/>
            </a:pPr>
            <a:r>
              <a:rPr lang="en-US" sz="1600" b="1" dirty="0">
                <a:solidFill>
                  <a:srgbClr val="F3F5F7"/>
                </a:solidFill>
                <a:latin typeface="Cambria" pitchFamily="34" charset="0"/>
                <a:ea typeface="Cambria" pitchFamily="34" charset="-122"/>
                <a:cs typeface="Cambria" pitchFamily="34" charset="-120"/>
              </a:rPr>
              <a:t>Cap and paginate</a:t>
            </a:r>
            <a:endParaRPr lang="en-US" sz="1600" dirty="0"/>
          </a:p>
        </p:txBody>
      </p:sp>
      <p:sp>
        <p:nvSpPr>
          <p:cNvPr id="14" name="Text 11"/>
          <p:cNvSpPr txBox="1"/>
          <p:nvPr/>
        </p:nvSpPr>
        <p:spPr>
          <a:xfrm>
            <a:off x="5440680" y="2148840"/>
            <a:ext cx="3108960" cy="640080"/>
          </a:xfrm>
          <a:prstGeom prst="rect">
            <a:avLst/>
          </a:prstGeom>
          <a:noFill/>
          <a:ln/>
        </p:spPr>
        <p:txBody>
          <a:bodyPr wrap="square" lIns="0" tIns="0" rIns="0" bIns="0" rtlCol="0" anchor="t"/>
          <a:lstStyle/>
          <a:p>
            <a:pPr indent="0" marL="0">
              <a:buNone/>
            </a:pPr>
            <a:r>
              <a:rPr lang="en-US" sz="1100" dirty="0">
                <a:solidFill>
                  <a:srgbClr val="9AA6B2"/>
                </a:solidFill>
                <a:latin typeface="Calibri" pitchFamily="34" charset="0"/>
                <a:ea typeface="Calibri" pitchFamily="34" charset="-122"/>
                <a:cs typeface="Calibri" pitchFamily="34" charset="-120"/>
              </a:rPr>
              <a:t>MAX_ROWS on every list. The model asks for everything; the server decides what it gets.</a:t>
            </a:r>
            <a:endParaRPr lang="en-US" sz="1100" dirty="0"/>
          </a:p>
        </p:txBody>
      </p:sp>
      <p:sp>
        <p:nvSpPr>
          <p:cNvPr id="15" name="Shape 12"/>
          <p:cNvSpPr/>
          <p:nvPr/>
        </p:nvSpPr>
        <p:spPr>
          <a:xfrm>
            <a:off x="457200" y="3017520"/>
            <a:ext cx="4023360" cy="1234440"/>
          </a:xfrm>
          <a:prstGeom prst="roundRect">
            <a:avLst>
              <a:gd name="adj" fmla="val 5926"/>
            </a:avLst>
          </a:prstGeom>
          <a:solidFill>
            <a:srgbClr val="1B2127"/>
          </a:solidFill>
          <a:ln w="9525">
            <a:solidFill>
              <a:srgbClr val="2E3842"/>
            </a:solidFill>
            <a:prstDash val="solid"/>
          </a:ln>
        </p:spPr>
      </p:sp>
      <p:sp>
        <p:nvSpPr>
          <p:cNvPr id="16" name="Shape 13"/>
          <p:cNvSpPr/>
          <p:nvPr/>
        </p:nvSpPr>
        <p:spPr>
          <a:xfrm>
            <a:off x="685800" y="3246120"/>
            <a:ext cx="384048" cy="384048"/>
          </a:xfrm>
          <a:prstGeom prst="ellipse">
            <a:avLst/>
          </a:prstGeom>
          <a:solidFill>
            <a:srgbClr val="F5A623"/>
          </a:solidFill>
          <a:ln/>
        </p:spPr>
      </p:sp>
      <p:sp>
        <p:nvSpPr>
          <p:cNvPr id="17" name="Text 14"/>
          <p:cNvSpPr txBox="1"/>
          <p:nvPr/>
        </p:nvSpPr>
        <p:spPr>
          <a:xfrm>
            <a:off x="685800" y="3246120"/>
            <a:ext cx="384048" cy="384048"/>
          </a:xfrm>
          <a:prstGeom prst="rect">
            <a:avLst/>
          </a:prstGeom>
          <a:noFill/>
          <a:ln/>
        </p:spPr>
        <p:txBody>
          <a:bodyPr wrap="square" lIns="0" tIns="0" rIns="0" bIns="0" rtlCol="0" anchor="ctr"/>
          <a:lstStyle/>
          <a:p>
            <a:pPr algn="ctr" indent="0" marL="0">
              <a:buNone/>
            </a:pPr>
            <a:r>
              <a:rPr lang="en-US" sz="1400" b="1" dirty="0">
                <a:solidFill>
                  <a:srgbClr val="0F1316"/>
                </a:solidFill>
                <a:latin typeface="Calibri" pitchFamily="34" charset="0"/>
                <a:ea typeface="Calibri" pitchFamily="34" charset="-122"/>
                <a:cs typeface="Calibri" pitchFamily="34" charset="-120"/>
              </a:rPr>
              <a:t>3</a:t>
            </a:r>
            <a:endParaRPr lang="en-US" sz="1400" dirty="0"/>
          </a:p>
        </p:txBody>
      </p:sp>
      <p:sp>
        <p:nvSpPr>
          <p:cNvPr id="18" name="Text 15"/>
          <p:cNvSpPr txBox="1"/>
          <p:nvPr/>
        </p:nvSpPr>
        <p:spPr>
          <a:xfrm>
            <a:off x="1234440" y="3154680"/>
            <a:ext cx="3108960" cy="411480"/>
          </a:xfrm>
          <a:prstGeom prst="rect">
            <a:avLst/>
          </a:prstGeom>
          <a:noFill/>
          <a:ln/>
        </p:spPr>
        <p:txBody>
          <a:bodyPr wrap="square" lIns="0" tIns="0" rIns="0" bIns="0" rtlCol="0" anchor="ctr"/>
          <a:lstStyle/>
          <a:p>
            <a:pPr indent="0" marL="0">
              <a:buNone/>
            </a:pPr>
            <a:r>
              <a:rPr lang="en-US" sz="1600" b="1" dirty="0">
                <a:solidFill>
                  <a:srgbClr val="F3F5F7"/>
                </a:solidFill>
                <a:latin typeface="Cambria" pitchFamily="34" charset="0"/>
                <a:ea typeface="Cambria" pitchFamily="34" charset="-122"/>
                <a:cs typeface="Cambria" pitchFamily="34" charset="-120"/>
              </a:rPr>
              <a:t>Tenant filter in every query</a:t>
            </a:r>
            <a:endParaRPr lang="en-US" sz="1600" dirty="0"/>
          </a:p>
        </p:txBody>
      </p:sp>
      <p:sp>
        <p:nvSpPr>
          <p:cNvPr id="19" name="Text 16"/>
          <p:cNvSpPr txBox="1"/>
          <p:nvPr/>
        </p:nvSpPr>
        <p:spPr>
          <a:xfrm>
            <a:off x="1234440" y="3566160"/>
            <a:ext cx="3108960" cy="640080"/>
          </a:xfrm>
          <a:prstGeom prst="rect">
            <a:avLst/>
          </a:prstGeom>
          <a:noFill/>
          <a:ln/>
        </p:spPr>
        <p:txBody>
          <a:bodyPr wrap="square" lIns="0" tIns="0" rIns="0" bIns="0" rtlCol="0" anchor="t"/>
          <a:lstStyle/>
          <a:p>
            <a:pPr indent="0" marL="0">
              <a:buNone/>
            </a:pPr>
            <a:r>
              <a:rPr lang="en-US" sz="1100" dirty="0">
                <a:solidFill>
                  <a:srgbClr val="9AA6B2"/>
                </a:solidFill>
                <a:latin typeface="Calibri" pitchFamily="34" charset="0"/>
                <a:ea typeface="Calibri" pitchFamily="34" charset="-122"/>
                <a:cs typeface="Calibri" pitchFamily="34" charset="-120"/>
              </a:rPr>
              <a:t>tenant_id comes from the client's identity, injected server-side. Never trust the model to add WHERE.</a:t>
            </a:r>
            <a:endParaRPr lang="en-US" sz="1100" dirty="0"/>
          </a:p>
        </p:txBody>
      </p:sp>
      <p:sp>
        <p:nvSpPr>
          <p:cNvPr id="20" name="Shape 17"/>
          <p:cNvSpPr/>
          <p:nvPr/>
        </p:nvSpPr>
        <p:spPr>
          <a:xfrm>
            <a:off x="4663440" y="3017520"/>
            <a:ext cx="4023360" cy="1234440"/>
          </a:xfrm>
          <a:prstGeom prst="roundRect">
            <a:avLst>
              <a:gd name="adj" fmla="val 5926"/>
            </a:avLst>
          </a:prstGeom>
          <a:solidFill>
            <a:srgbClr val="1B2127"/>
          </a:solidFill>
          <a:ln w="9525">
            <a:solidFill>
              <a:srgbClr val="2E3842"/>
            </a:solidFill>
            <a:prstDash val="solid"/>
          </a:ln>
        </p:spPr>
      </p:sp>
      <p:sp>
        <p:nvSpPr>
          <p:cNvPr id="21" name="Shape 18"/>
          <p:cNvSpPr/>
          <p:nvPr/>
        </p:nvSpPr>
        <p:spPr>
          <a:xfrm>
            <a:off x="4892040" y="3246120"/>
            <a:ext cx="384048" cy="384048"/>
          </a:xfrm>
          <a:prstGeom prst="ellipse">
            <a:avLst/>
          </a:prstGeom>
          <a:solidFill>
            <a:srgbClr val="4FB3BF"/>
          </a:solidFill>
          <a:ln/>
        </p:spPr>
      </p:sp>
      <p:sp>
        <p:nvSpPr>
          <p:cNvPr id="22" name="Text 19"/>
          <p:cNvSpPr txBox="1"/>
          <p:nvPr/>
        </p:nvSpPr>
        <p:spPr>
          <a:xfrm>
            <a:off x="4892040" y="3246120"/>
            <a:ext cx="384048" cy="384048"/>
          </a:xfrm>
          <a:prstGeom prst="rect">
            <a:avLst/>
          </a:prstGeom>
          <a:noFill/>
          <a:ln/>
        </p:spPr>
        <p:txBody>
          <a:bodyPr wrap="square" lIns="0" tIns="0" rIns="0" bIns="0" rtlCol="0" anchor="ctr"/>
          <a:lstStyle/>
          <a:p>
            <a:pPr algn="ctr" indent="0" marL="0">
              <a:buNone/>
            </a:pPr>
            <a:r>
              <a:rPr lang="en-US" sz="1400" b="1" dirty="0">
                <a:solidFill>
                  <a:srgbClr val="0F1316"/>
                </a:solidFill>
                <a:latin typeface="Calibri" pitchFamily="34" charset="0"/>
                <a:ea typeface="Calibri" pitchFamily="34" charset="-122"/>
                <a:cs typeface="Calibri" pitchFamily="34" charset="-120"/>
              </a:rPr>
              <a:t>4</a:t>
            </a:r>
            <a:endParaRPr lang="en-US" sz="1400" dirty="0"/>
          </a:p>
        </p:txBody>
      </p:sp>
      <p:sp>
        <p:nvSpPr>
          <p:cNvPr id="23" name="Text 20"/>
          <p:cNvSpPr txBox="1"/>
          <p:nvPr/>
        </p:nvSpPr>
        <p:spPr>
          <a:xfrm>
            <a:off x="5440680" y="3154680"/>
            <a:ext cx="3108960" cy="411480"/>
          </a:xfrm>
          <a:prstGeom prst="rect">
            <a:avLst/>
          </a:prstGeom>
          <a:noFill/>
          <a:ln/>
        </p:spPr>
        <p:txBody>
          <a:bodyPr wrap="square" lIns="0" tIns="0" rIns="0" bIns="0" rtlCol="0" anchor="ctr"/>
          <a:lstStyle/>
          <a:p>
            <a:pPr indent="0" marL="0">
              <a:buNone/>
            </a:pPr>
            <a:r>
              <a:rPr lang="en-US" sz="1600" b="1" dirty="0">
                <a:solidFill>
                  <a:srgbClr val="F3F5F7"/>
                </a:solidFill>
                <a:latin typeface="Cambria" pitchFamily="34" charset="0"/>
                <a:ea typeface="Cambria" pitchFamily="34" charset="-122"/>
                <a:cs typeface="Cambria" pitchFamily="34" charset="-120"/>
              </a:rPr>
              <a:t>Log every call</a:t>
            </a:r>
            <a:endParaRPr lang="en-US" sz="1600" dirty="0"/>
          </a:p>
        </p:txBody>
      </p:sp>
      <p:sp>
        <p:nvSpPr>
          <p:cNvPr id="24" name="Text 21"/>
          <p:cNvSpPr txBox="1"/>
          <p:nvPr/>
        </p:nvSpPr>
        <p:spPr>
          <a:xfrm>
            <a:off x="5440680" y="3566160"/>
            <a:ext cx="3108960" cy="640080"/>
          </a:xfrm>
          <a:prstGeom prst="rect">
            <a:avLst/>
          </a:prstGeom>
          <a:noFill/>
          <a:ln/>
        </p:spPr>
        <p:txBody>
          <a:bodyPr wrap="square" lIns="0" tIns="0" rIns="0" bIns="0" rtlCol="0" anchor="t"/>
          <a:lstStyle/>
          <a:p>
            <a:pPr indent="0" marL="0">
              <a:buNone/>
            </a:pPr>
            <a:r>
              <a:rPr lang="en-US" sz="1100" dirty="0">
                <a:solidFill>
                  <a:srgbClr val="9AA6B2"/>
                </a:solidFill>
                <a:latin typeface="Calibri" pitchFamily="34" charset="0"/>
                <a:ea typeface="Calibri" pitchFamily="34" charset="-122"/>
                <a:cs typeface="Calibri" pitchFamily="34" charset="-120"/>
              </a:rPr>
              <a:t>tool name, args, caller, tenant, latency. This is your audit trail and your eval set (Ep 9, 10).</a:t>
            </a:r>
            <a:endParaRPr lang="en-US" sz="1100" dirty="0"/>
          </a:p>
        </p:txBody>
      </p:sp>
      <p:sp>
        <p:nvSpPr>
          <p:cNvPr id="25" name="Text 22"/>
          <p:cNvSpPr txBox="1"/>
          <p:nvPr/>
        </p:nvSpPr>
        <p:spPr>
          <a:xfrm>
            <a:off x="457200" y="4709160"/>
            <a:ext cx="5486400" cy="274320"/>
          </a:xfrm>
          <a:prstGeom prst="rect">
            <a:avLst/>
          </a:prstGeom>
          <a:noFill/>
          <a:ln/>
        </p:spPr>
        <p:txBody>
          <a:bodyPr wrap="square" lIns="0" tIns="0" rIns="0" bIns="0" rtlCol="0" anchor="ctr"/>
          <a:lstStyle/>
          <a:p>
            <a:pPr indent="0" marL="0">
              <a:buNone/>
            </a:pPr>
            <a:r>
              <a:rPr lang="en-US" sz="1000" dirty="0">
                <a:solidFill>
                  <a:srgbClr val="9AA6B2"/>
                </a:solidFill>
                <a:latin typeface="Calibri" pitchFamily="34" charset="0"/>
                <a:ea typeface="Calibri" pitchFamily="34" charset="-122"/>
                <a:cs typeface="Calibri" pitchFamily="34" charset="-120"/>
              </a:rPr>
              <a:t>Arthashastra Learning · The Agentic Enterprise · Ep 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316"/>
        </a:solidFill>
      </p:bgPr>
    </p:bg>
    <p:spTree>
      <p:nvGrpSpPr>
        <p:cNvPr id="1" name=""/>
        <p:cNvGrpSpPr/>
        <p:nvPr/>
      </p:nvGrpSpPr>
      <p:grpSpPr>
        <a:xfrm>
          <a:off x="0" y="0"/>
          <a:ext cx="0" cy="0"/>
          <a:chOff x="0" y="0"/>
          <a:chExt cx="0" cy="0"/>
        </a:xfrm>
      </p:grpSpPr>
      <p:sp>
        <p:nvSpPr>
          <p:cNvPr id="3"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rgbClr val="F3F5F7"/>
                </a:solidFill>
                <a:latin typeface="Cambria" pitchFamily="34" charset="0"/>
                <a:ea typeface="Cambria" pitchFamily="34" charset="-122"/>
                <a:cs typeface="Cambria" pitchFamily="34" charset="-120"/>
              </a:rPr>
              <a:t>Recap</a:t>
            </a:r>
            <a:endParaRPr lang="en-US" sz="3000" dirty="0"/>
          </a:p>
        </p:txBody>
      </p:sp>
      <p:sp>
        <p:nvSpPr>
          <p:cNvPr id="4" name="Text 1"/>
          <p:cNvSpPr txBox="1"/>
          <p:nvPr/>
        </p:nvSpPr>
        <p:spPr>
          <a:xfrm>
            <a:off x="457200" y="1188720"/>
            <a:ext cx="1828800" cy="502920"/>
          </a:xfrm>
          <a:prstGeom prst="rect">
            <a:avLst/>
          </a:prstGeom>
          <a:noFill/>
          <a:ln/>
        </p:spPr>
        <p:txBody>
          <a:bodyPr wrap="square" lIns="0" tIns="0" rIns="0" bIns="0" rtlCol="0" anchor="ctr"/>
          <a:lstStyle/>
          <a:p>
            <a:pPr indent="0" marL="0">
              <a:buNone/>
            </a:pPr>
            <a:r>
              <a:rPr lang="en-US" sz="1800" b="1" dirty="0">
                <a:solidFill>
                  <a:srgbClr val="F5A623"/>
                </a:solidFill>
                <a:latin typeface="Cambria" pitchFamily="34" charset="0"/>
                <a:ea typeface="Cambria" pitchFamily="34" charset="-122"/>
                <a:cs typeface="Cambria" pitchFamily="34" charset="-120"/>
              </a:rPr>
              <a:t>MCP =</a:t>
            </a:r>
            <a:endParaRPr lang="en-US" sz="1800" dirty="0"/>
          </a:p>
        </p:txBody>
      </p:sp>
      <p:sp>
        <p:nvSpPr>
          <p:cNvPr id="5" name="Text 2"/>
          <p:cNvSpPr txBox="1"/>
          <p:nvPr/>
        </p:nvSpPr>
        <p:spPr>
          <a:xfrm>
            <a:off x="2286000" y="1188720"/>
            <a:ext cx="6400800" cy="502920"/>
          </a:xfrm>
          <a:prstGeom prst="rect">
            <a:avLst/>
          </a:prstGeom>
          <a:noFill/>
          <a:ln/>
        </p:spPr>
        <p:txBody>
          <a:bodyPr wrap="square" lIns="0" tIns="0" rIns="0" bIns="0" rtlCol="0" anchor="ctr"/>
          <a:lstStyle/>
          <a:p>
            <a:pPr indent="0" marL="0">
              <a:buNone/>
            </a:pPr>
            <a:r>
              <a:rPr lang="en-US" sz="1400" dirty="0">
                <a:solidFill>
                  <a:srgbClr val="F3F5F7"/>
                </a:solidFill>
                <a:latin typeface="Calibri" pitchFamily="34" charset="0"/>
                <a:ea typeface="Calibri" pitchFamily="34" charset="-122"/>
                <a:cs typeface="Calibri" pitchFamily="34" charset="-120"/>
              </a:rPr>
              <a:t>tools · resources · prompts, over JSON-RPC. One server, any client.</a:t>
            </a:r>
            <a:endParaRPr lang="en-US" sz="1400" dirty="0"/>
          </a:p>
        </p:txBody>
      </p:sp>
      <p:sp>
        <p:nvSpPr>
          <p:cNvPr id="6" name="Text 3"/>
          <p:cNvSpPr txBox="1"/>
          <p:nvPr/>
        </p:nvSpPr>
        <p:spPr>
          <a:xfrm>
            <a:off x="457200" y="1810512"/>
            <a:ext cx="1828800" cy="502920"/>
          </a:xfrm>
          <a:prstGeom prst="rect">
            <a:avLst/>
          </a:prstGeom>
          <a:noFill/>
          <a:ln/>
        </p:spPr>
        <p:txBody>
          <a:bodyPr wrap="square" lIns="0" tIns="0" rIns="0" bIns="0" rtlCol="0" anchor="ctr"/>
          <a:lstStyle/>
          <a:p>
            <a:pPr indent="0" marL="0">
              <a:buNone/>
            </a:pPr>
            <a:r>
              <a:rPr lang="en-US" sz="1800" b="1" dirty="0">
                <a:solidFill>
                  <a:srgbClr val="F5A623"/>
                </a:solidFill>
                <a:latin typeface="Cambria" pitchFamily="34" charset="0"/>
                <a:ea typeface="Cambria" pitchFamily="34" charset="-122"/>
                <a:cs typeface="Cambria" pitchFamily="34" charset="-120"/>
              </a:rPr>
              <a:t>We shipped</a:t>
            </a:r>
            <a:endParaRPr lang="en-US" sz="1800" dirty="0"/>
          </a:p>
        </p:txBody>
      </p:sp>
      <p:sp>
        <p:nvSpPr>
          <p:cNvPr id="7" name="Text 4"/>
          <p:cNvSpPr txBox="1"/>
          <p:nvPr/>
        </p:nvSpPr>
        <p:spPr>
          <a:xfrm>
            <a:off x="2286000" y="1810512"/>
            <a:ext cx="6400800" cy="502920"/>
          </a:xfrm>
          <a:prstGeom prst="rect">
            <a:avLst/>
          </a:prstGeom>
          <a:noFill/>
          <a:ln/>
        </p:spPr>
        <p:txBody>
          <a:bodyPr wrap="square" lIns="0" tIns="0" rIns="0" bIns="0" rtlCol="0" anchor="ctr"/>
          <a:lstStyle/>
          <a:p>
            <a:pPr indent="0" marL="0">
              <a:buNone/>
            </a:pPr>
            <a:r>
              <a:rPr lang="en-US" sz="1400" dirty="0">
                <a:solidFill>
                  <a:srgbClr val="F3F5F7"/>
                </a:solidFill>
                <a:latin typeface="Calibri" pitchFamily="34" charset="0"/>
                <a:ea typeface="Calibri" pitchFamily="34" charset="-122"/>
                <a:cs typeface="Calibri" pitchFamily="34" charset="-120"/>
              </a:rPr>
              <a:t>3 read-only tools over a trade-orders DB, tested in the Inspector</a:t>
            </a:r>
            <a:endParaRPr lang="en-US" sz="1400" dirty="0"/>
          </a:p>
        </p:txBody>
      </p:sp>
      <p:sp>
        <p:nvSpPr>
          <p:cNvPr id="8" name="Text 5"/>
          <p:cNvSpPr txBox="1"/>
          <p:nvPr/>
        </p:nvSpPr>
        <p:spPr>
          <a:xfrm>
            <a:off x="457200" y="2432304"/>
            <a:ext cx="1828800" cy="502920"/>
          </a:xfrm>
          <a:prstGeom prst="rect">
            <a:avLst/>
          </a:prstGeom>
          <a:noFill/>
          <a:ln/>
        </p:spPr>
        <p:txBody>
          <a:bodyPr wrap="square" lIns="0" tIns="0" rIns="0" bIns="0" rtlCol="0" anchor="ctr"/>
          <a:lstStyle/>
          <a:p>
            <a:pPr indent="0" marL="0">
              <a:buNone/>
            </a:pPr>
            <a:r>
              <a:rPr lang="en-US" sz="1800" b="1" dirty="0">
                <a:solidFill>
                  <a:srgbClr val="F5A623"/>
                </a:solidFill>
                <a:latin typeface="Cambria" pitchFamily="34" charset="0"/>
                <a:ea typeface="Cambria" pitchFamily="34" charset="-122"/>
                <a:cs typeface="Cambria" pitchFamily="34" charset="-120"/>
              </a:rPr>
              <a:t>Plugged in</a:t>
            </a:r>
            <a:endParaRPr lang="en-US" sz="1800" dirty="0"/>
          </a:p>
        </p:txBody>
      </p:sp>
      <p:sp>
        <p:nvSpPr>
          <p:cNvPr id="9" name="Text 6"/>
          <p:cNvSpPr txBox="1"/>
          <p:nvPr/>
        </p:nvSpPr>
        <p:spPr>
          <a:xfrm>
            <a:off x="2286000" y="2432304"/>
            <a:ext cx="6400800" cy="502920"/>
          </a:xfrm>
          <a:prstGeom prst="rect">
            <a:avLst/>
          </a:prstGeom>
          <a:noFill/>
          <a:ln/>
        </p:spPr>
        <p:txBody>
          <a:bodyPr wrap="square" lIns="0" tIns="0" rIns="0" bIns="0" rtlCol="0" anchor="ctr"/>
          <a:lstStyle/>
          <a:p>
            <a:pPr indent="0" marL="0">
              <a:buNone/>
            </a:pPr>
            <a:r>
              <a:rPr lang="en-US" sz="1400" dirty="0">
                <a:solidFill>
                  <a:srgbClr val="F3F5F7"/>
                </a:solidFill>
                <a:latin typeface="Calibri" pitchFamily="34" charset="0"/>
                <a:ea typeface="Calibri" pitchFamily="34" charset="-122"/>
                <a:cs typeface="Calibri" pitchFamily="34" charset="-120"/>
              </a:rPr>
              <a:t>Claude Desktop with one config entry; our own agent with two changed lines</a:t>
            </a:r>
            <a:endParaRPr lang="en-US" sz="1400" dirty="0"/>
          </a:p>
        </p:txBody>
      </p:sp>
      <p:sp>
        <p:nvSpPr>
          <p:cNvPr id="10" name="Text 7"/>
          <p:cNvSpPr txBox="1"/>
          <p:nvPr/>
        </p:nvSpPr>
        <p:spPr>
          <a:xfrm>
            <a:off x="457200" y="3054096"/>
            <a:ext cx="1828800" cy="502920"/>
          </a:xfrm>
          <a:prstGeom prst="rect">
            <a:avLst/>
          </a:prstGeom>
          <a:noFill/>
          <a:ln/>
        </p:spPr>
        <p:txBody>
          <a:bodyPr wrap="square" lIns="0" tIns="0" rIns="0" bIns="0" rtlCol="0" anchor="ctr"/>
          <a:lstStyle/>
          <a:p>
            <a:pPr indent="0" marL="0">
              <a:buNone/>
            </a:pPr>
            <a:r>
              <a:rPr lang="en-US" sz="1800" b="1" dirty="0">
                <a:solidFill>
                  <a:srgbClr val="F5A623"/>
                </a:solidFill>
                <a:latin typeface="Cambria" pitchFamily="34" charset="0"/>
                <a:ea typeface="Cambria" pitchFamily="34" charset="-122"/>
                <a:cs typeface="Cambria" pitchFamily="34" charset="-120"/>
              </a:rPr>
              <a:t>Before prod</a:t>
            </a:r>
            <a:endParaRPr lang="en-US" sz="1800" dirty="0"/>
          </a:p>
        </p:txBody>
      </p:sp>
      <p:sp>
        <p:nvSpPr>
          <p:cNvPr id="11" name="Text 8"/>
          <p:cNvSpPr txBox="1"/>
          <p:nvPr/>
        </p:nvSpPr>
        <p:spPr>
          <a:xfrm>
            <a:off x="2286000" y="3054096"/>
            <a:ext cx="6400800" cy="502920"/>
          </a:xfrm>
          <a:prstGeom prst="rect">
            <a:avLst/>
          </a:prstGeom>
          <a:noFill/>
          <a:ln/>
        </p:spPr>
        <p:txBody>
          <a:bodyPr wrap="square" lIns="0" tIns="0" rIns="0" bIns="0" rtlCol="0" anchor="ctr"/>
          <a:lstStyle/>
          <a:p>
            <a:pPr indent="0" marL="0">
              <a:buNone/>
            </a:pPr>
            <a:r>
              <a:rPr lang="en-US" sz="1400" dirty="0">
                <a:solidFill>
                  <a:srgbClr val="F3F5F7"/>
                </a:solidFill>
                <a:latin typeface="Calibri" pitchFamily="34" charset="0"/>
                <a:ea typeface="Calibri" pitchFamily="34" charset="-122"/>
                <a:cs typeface="Calibri" pitchFamily="34" charset="-120"/>
              </a:rPr>
              <a:t>read-only · caps · tenant filter server-side · log every call</a:t>
            </a:r>
            <a:endParaRPr lang="en-US" sz="1400" dirty="0"/>
          </a:p>
        </p:txBody>
      </p:sp>
      <p:sp>
        <p:nvSpPr>
          <p:cNvPr id="12" name="Shape 9"/>
          <p:cNvSpPr/>
          <p:nvPr/>
        </p:nvSpPr>
        <p:spPr>
          <a:xfrm>
            <a:off x="457200" y="3749040"/>
            <a:ext cx="8229600" cy="777240"/>
          </a:xfrm>
          <a:prstGeom prst="roundRect">
            <a:avLst>
              <a:gd name="adj" fmla="val 9412"/>
            </a:avLst>
          </a:prstGeom>
          <a:solidFill>
            <a:srgbClr val="232B33"/>
          </a:solidFill>
          <a:ln w="9525">
            <a:solidFill>
              <a:srgbClr val="2E3842"/>
            </a:solidFill>
            <a:prstDash val="solid"/>
          </a:ln>
        </p:spPr>
      </p:sp>
      <p:sp>
        <p:nvSpPr>
          <p:cNvPr id="13" name="Text 10"/>
          <p:cNvSpPr txBox="1"/>
          <p:nvPr/>
        </p:nvSpPr>
        <p:spPr>
          <a:xfrm>
            <a:off x="685800" y="3749040"/>
            <a:ext cx="7772400" cy="777240"/>
          </a:xfrm>
          <a:prstGeom prst="rect">
            <a:avLst/>
          </a:prstGeom>
          <a:noFill/>
          <a:ln/>
        </p:spPr>
        <p:txBody>
          <a:bodyPr wrap="square" lIns="0" tIns="0" rIns="0" bIns="0" rtlCol="0" anchor="ctr"/>
          <a:lstStyle/>
          <a:p>
            <a:pPr indent="0" marL="0">
              <a:buNone/>
            </a:pPr>
            <a:r>
              <a:rPr lang="en-US" sz="1100" b="1" spc="200" kern="0" dirty="0">
                <a:solidFill>
                  <a:srgbClr val="4FB3BF"/>
                </a:solidFill>
                <a:latin typeface="Calibri" pitchFamily="34" charset="0"/>
                <a:ea typeface="Calibri" pitchFamily="34" charset="-122"/>
                <a:cs typeface="Calibri" pitchFamily="34" charset="-120"/>
              </a:rPr>
              <a:t>NEXT EPISODE  </a:t>
            </a:r>
            <a:pPr indent="0" marL="0">
              <a:buNone/>
            </a:pPr>
            <a:r>
              <a:rPr lang="en-US" sz="1300" dirty="0">
                <a:solidFill>
                  <a:srgbClr val="F3F5F7"/>
                </a:solidFill>
                <a:latin typeface="Calibri" pitchFamily="34" charset="0"/>
                <a:ea typeface="Calibri" pitchFamily="34" charset="-122"/>
                <a:cs typeface="Calibri" pitchFamily="34" charset="-120"/>
              </a:rPr>
              <a:t>An export-compliance agent in 20 minutes — built on this server. Code: github.com/Agent47/agentic-enterprise</a:t>
            </a:r>
            <a:endParaRPr lang="en-US" sz="1100" dirty="0"/>
          </a:p>
        </p:txBody>
      </p:sp>
      <p:sp>
        <p:nvSpPr>
          <p:cNvPr id="14" name="Text 11"/>
          <p:cNvSpPr txBox="1"/>
          <p:nvPr/>
        </p:nvSpPr>
        <p:spPr>
          <a:xfrm>
            <a:off x="457200" y="4709160"/>
            <a:ext cx="5486400" cy="274320"/>
          </a:xfrm>
          <a:prstGeom prst="rect">
            <a:avLst/>
          </a:prstGeom>
          <a:noFill/>
          <a:ln/>
        </p:spPr>
        <p:txBody>
          <a:bodyPr wrap="square" lIns="0" tIns="0" rIns="0" bIns="0" rtlCol="0" anchor="ctr"/>
          <a:lstStyle/>
          <a:p>
            <a:pPr indent="0" marL="0">
              <a:buNone/>
            </a:pPr>
            <a:r>
              <a:rPr lang="en-US" sz="1000" dirty="0">
                <a:solidFill>
                  <a:srgbClr val="9AA6B2"/>
                </a:solidFill>
                <a:latin typeface="Calibri" pitchFamily="34" charset="0"/>
                <a:ea typeface="Calibri" pitchFamily="34" charset="-122"/>
                <a:cs typeface="Calibri" pitchFamily="34" charset="-120"/>
              </a:rPr>
              <a:t>Arthashastra Learning · one episode a week</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your first MCP server for an enterprise data source</dc:title>
  <dc:subject>PptxGenJS Presentation</dc:subject>
  <dc:creator>PptxGenJS</dc:creator>
  <cp:lastModifiedBy>PptxGenJS</cp:lastModifiedBy>
  <cp:revision>1</cp:revision>
  <dcterms:created xsi:type="dcterms:W3CDTF">2026-10-01T04:45:22Z</dcterms:created>
  <dcterms:modified xsi:type="dcterms:W3CDTF">2026-10-01T04:45:22Z</dcterms:modified>
</cp:coreProperties>
</file>