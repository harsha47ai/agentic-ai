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them in 20 seconds. Say the title, then: 'Every vendor now sells agents. Most of them are a chatbot with a new logo. In 12 minutes you'll know the difference — and the three things that break the moment you put one inside enterprise software.'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contract with the viewer. Three outcomes, nothing more. Then: 'Let's start with the only definition you need.'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sentence slowly, twice. Then point at the three words: decides, loop, tools. 'Remove any one and you have something useful — but it is not an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people screenshot. Walk left to right. The question that places any system on this line: who decides the control flow? Left: the developer wrote it. Right: the model chooses at runtime. Further right = more autonomy = more governance you owe.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this live on the whiteboard if you can. Goal in, the model plans, acts by calling a tool, observes the result, and goes back to planning. It stops when it decides the goal is met — or when YOU stop it with a limit on steps, cost or time. The limit is the part demos leave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Parts 1 to 3 get you a demo. Parts 4 and 5 get you something that survives production. Every architecture review you run on an 'agent' should ask for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fair here: these are often the RIGHT answer. Cheaper, more predictable, easier to test. The point is naming. Don't let 'agent' into the architecture review when the model never chooses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screen share. Run workflow.py first — fixed steps, predictable. Then run basic_agent.py on the same ticket and narrate the tool calls as they print. Pause on the moment the model CHOSE check_refund_policy without being told to. That is the whole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 before the live code. Four steps, and we only type step 3 on camera — the tools and mock data are already in agent_starter.py. Say: 'Everything you need is one Python file and one API key.'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Live-code this. The loop is 15 lines. Point at the three annotated parts: the model call (plan), the stop check (done), and the tool execution (act + observe). Then show MAX_STEPS — the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enterprise part. First breakpoint: identity. The agent calls your order API — as whom? Walk the three options. The enterprise answer is the third: the agent gets its own identity, scoped per tenant, per user, per task — with least-privilege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breakpoint: tenancy. One agent, many customers. Memory, tools and retrieval each have to be tenant-isolated — otherwise you've shipped a data leak with a chat window on it. I've lived this on a multi-tenant platform; the agent's placement follows the same ADR discipline as any other multi-tenant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breakpoint: accountability. Who approved the action? How do you audit a decision the model made at step 7 of 12? Four things you need before an agent touches production — and each one is an episode later in the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30 seconds, then the call to action. Next episode we build an MCP server for an enterprise data source — that's where tools stop being mocks.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repo. The issues tab is the whole 28-episode roadmap — ask them to open an issue with a use case they want covered. Subscribe, one episode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583680" y="210312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1C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 ·  THE AGENTIC ENTERPRISE  ·  EP 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AI agent actually is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isn't — in enterprise software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 Pasumarthi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050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Arthashastra Intelligence · Delivery Head, AI &amp; Data Platforms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“agents” are a chatbot with a new logo.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video you will be able to: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57200" y="17830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05740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an agent from a workflow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429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10 seconds, in any vendor demo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46120" y="17830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205740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5204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the 5 parts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3429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agent is built from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035040" y="17830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9360" y="205740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697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3 things that break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429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agent goes inside enterprise software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ONE-LINE DEFINITION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91440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is an LLM that </a:t>
            </a:r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decides</a:t>
            </a:r>
            <a:pPr indent="0" marL="0">
              <a:buNone/>
            </a:pPr>
            <a:r>
              <a:rPr lang="en-US" sz="3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what to do next — in a </a:t>
            </a:r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</a:t>
            </a:r>
            <a:pPr indent="0" marL="0">
              <a:buNone/>
            </a:pPr>
            <a:r>
              <a:rPr lang="en-US" sz="3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using </a:t>
            </a:r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pPr indent="0" marL="0">
              <a:buNone/>
            </a:pPr>
            <a:r>
              <a:rPr lang="en-US" sz="3200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until a goal is met.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31089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the next action, not the developer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46120" y="31089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7472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act → observe → repeat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31089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3246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touch systems: APIs, data, other agents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any one of the three and it isn't an agent.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spectrum, not a switch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938528" y="195681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7" name="Shape 4"/>
          <p:cNvSpPr/>
          <p:nvPr/>
        </p:nvSpPr>
        <p:spPr>
          <a:xfrm>
            <a:off x="214884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24028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chain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30168" y="195681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0" name="Shape 7"/>
          <p:cNvSpPr/>
          <p:nvPr/>
        </p:nvSpPr>
        <p:spPr>
          <a:xfrm>
            <a:off x="384048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LLM steps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321808" y="195681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3" name="Shape 10"/>
          <p:cNvSpPr/>
          <p:nvPr/>
        </p:nvSpPr>
        <p:spPr>
          <a:xfrm>
            <a:off x="553212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013448" y="195681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6" name="Shape 13"/>
          <p:cNvSpPr/>
          <p:nvPr/>
        </p:nvSpPr>
        <p:spPr>
          <a:xfrm>
            <a:off x="7223760" y="146304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0" y="1463040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57200" y="3063240"/>
            <a:ext cx="8229600" cy="0"/>
          </a:xfrm>
          <a:prstGeom prst="line">
            <a:avLst/>
          </a:prstGeom>
          <a:noFill/>
          <a:ln w="19050">
            <a:solidFill>
              <a:srgbClr val="2E384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decides the flow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decides the flow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DECIDES WHAT HAPPENS NEXT?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6576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</a:t>
            </a:r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further right you go, the more autonomy you get — and the more governance you owe. Most enterprise problems are solved well in the middle.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loop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4FB3B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B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938528" y="186537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7" name="Shape 4"/>
          <p:cNvSpPr/>
          <p:nvPr/>
        </p:nvSpPr>
        <p:spPr>
          <a:xfrm>
            <a:off x="214884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4884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630168" y="186537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0" name="Shape 7"/>
          <p:cNvSpPr/>
          <p:nvPr/>
        </p:nvSpPr>
        <p:spPr>
          <a:xfrm>
            <a:off x="384048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321808" y="186537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3" name="Shape 10"/>
          <p:cNvSpPr/>
          <p:nvPr/>
        </p:nvSpPr>
        <p:spPr>
          <a:xfrm>
            <a:off x="553212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3212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013448" y="1865376"/>
            <a:ext cx="192024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6" name="Shape 13"/>
          <p:cNvSpPr/>
          <p:nvPr/>
        </p:nvSpPr>
        <p:spPr>
          <a:xfrm>
            <a:off x="7223760" y="155448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232B33"/>
          </a:solidFill>
          <a:ln w="19050">
            <a:solidFill>
              <a:srgbClr val="4FB3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0" y="15544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B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Done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572000" y="2377440"/>
            <a:ext cx="0" cy="45720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880360" y="2834640"/>
            <a:ext cx="169164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80360" y="2377440"/>
            <a:ext cx="0" cy="45720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743200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goal is met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user wants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4884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picks next step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384048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tool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53212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result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223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limit is hit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342900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conditions are not optional. </a:t>
            </a:r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without a cap on steps, cost and time isn't a product — it's a bill. Set all three before the first demo.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 parts of every agent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02920" y="1261872"/>
            <a:ext cx="384048" cy="384048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02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11887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118872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 — picks actions, reads results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1883664"/>
            <a:ext cx="384048" cy="384048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18105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181051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prompt, policies, what it may and may not do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505456"/>
            <a:ext cx="384048" cy="384048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292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" y="243230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43230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databases, MCP servers, other agents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127248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292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" y="305409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305409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context + long-term store, per user and tenant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74904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292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36758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+ limits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67588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orchestration, stop conditions, step / cost / time caps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903720" y="1188720"/>
            <a:ext cx="1783080" cy="3017520"/>
          </a:xfrm>
          <a:prstGeom prst="roundRect">
            <a:avLst>
              <a:gd name="adj" fmla="val 4103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1325880"/>
            <a:ext cx="1463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4FB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
</a:t>
            </a:r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you a demo
</a:t>
            </a:r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
</a:t>
            </a:r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you something that survives production</a:t>
            </a:r>
            <a:endParaRPr lang="en-US" sz="28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NOT an agent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 with retrieval (RAG)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questions. Never acts. No tools beyond search.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20440" y="1508760"/>
            <a:ext cx="457200" cy="45720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with one LLM step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decided the flow. The model fills in a blank.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35040" y="128016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09360" y="1508760"/>
            <a:ext cx="457200" cy="45720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936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0936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engine + LLM classifier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loop. No tool choice. One call, one label.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37490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7490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often the right answer. Just don't call them agents in the architecture review.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The Agentic Enterprise · Ep 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one support ticket, two systems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“Customer 1042 wants a refund for order A-7781 — it arrived damaged.”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WORKFLOW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workflow.py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3172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classify(ticket)  → REFUND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check_refund_policy()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eligible: issue_refund()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written by the developer.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60020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AGENT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basic_agent.py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233172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[step 1] tool=lookup_order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[step 2] tool=check_refund_policy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[step 3] tool=issue_refund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FINAL: refund issued, reply drafted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chose each tool. Watch step 2.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01-what-is-an-agent/code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 first agent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file. One API key. Four steps.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02920" y="1709928"/>
            <a:ext cx="411480" cy="411480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709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160020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60020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anthropic · export ANTHROPIC_API_KEY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43800" y="1755648"/>
            <a:ext cx="1143000" cy="310896"/>
          </a:xfrm>
          <a:prstGeom prst="roundRect">
            <a:avLst>
              <a:gd name="adj" fmla="val 17647"/>
            </a:avLst>
          </a:prstGeom>
          <a:solidFill>
            <a:srgbClr val="232B33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175564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423160"/>
            <a:ext cx="411480" cy="411480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231343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the tools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200400" y="231343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functions + their JSON schemas: lookup_order, check_refund_policy, request_human_approval, issue_refund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43800" y="2468880"/>
            <a:ext cx="1143000" cy="310896"/>
          </a:xfrm>
          <a:prstGeom prst="roundRect">
            <a:avLst>
              <a:gd name="adj" fmla="val 17647"/>
            </a:avLst>
          </a:prstGeom>
          <a:solidFill>
            <a:srgbClr val="232B33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43800" y="246888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pre-written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02920" y="3136392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2920" y="3136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3026664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loop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02666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done? → act + observe → repeat, capped by MAX_STEPS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543800" y="3182112"/>
            <a:ext cx="1143000" cy="310896"/>
          </a:xfrm>
          <a:prstGeom prst="roundRect">
            <a:avLst>
              <a:gd name="adj" fmla="val 17647"/>
            </a:avLst>
          </a:prstGeom>
          <a:solidFill>
            <a:srgbClr val="232B3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43800" y="318211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type this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3849624"/>
            <a:ext cx="411480" cy="411480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02920" y="38496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twice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200400" y="373989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A-7781 (refund) and A-7790 (refused) — watch the model choose different paths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543800" y="3895344"/>
            <a:ext cx="1143000" cy="310896"/>
          </a:xfrm>
          <a:prstGeom prst="roundRect">
            <a:avLst>
              <a:gd name="adj" fmla="val 17647"/>
            </a:avLst>
          </a:prstGeom>
          <a:solidFill>
            <a:srgbClr val="232B33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543800" y="38953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agent_starter.py — tools pre-written, three TODOs for the loop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agent is one loop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394960" cy="3337560"/>
          </a:xfrm>
          <a:prstGeom prst="roundRect">
            <a:avLst>
              <a:gd name="adj" fmla="val 2192"/>
            </a:avLst>
          </a:prstGeom>
          <a:solidFill>
            <a:srgbClr val="0B0E11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8016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range(MAX_STEPS):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resp = client.messages.create(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model=MODEL, system=SYSTEM,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tools=TOOLS, messages=messages)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messages.append(assistant(resp.content))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B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resp.stop_reason != "tool_use":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B3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final_text(resp)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block in tool_uses(resp):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 = HANDLERS[block.name](**block.input)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results.append(tool_result(block.id, out))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messages.append(user(results))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5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"Stopped: step limit reached."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080760" y="1143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4173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the goal, the tools, and everything so far — and picks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080760" y="19842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225856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requested → the model thinks the goal is met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28254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+ OBSERVE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080760" y="309981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what it asked for, feed the result back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080760" y="366674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080760" y="394106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MAX_STEPS. Also cap cost and time in production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basic_agent.py · ~100 lines including four mock tools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IN THE ENTERPRISE · 1 OF 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Identity: the agent calls your API — as whom?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account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Over-privileged. One prompt injection away from reading every tenant.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6002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1828800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5204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user's token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correctly — but how do you delegate it safely to a process that runs for minutes?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035040" y="1600200"/>
            <a:ext cx="2606040" cy="2697480"/>
          </a:xfrm>
          <a:prstGeom prst="roundRect">
            <a:avLst>
              <a:gd name="adj" fmla="val 2807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9360" y="1828800"/>
            <a:ext cx="457200" cy="457200"/>
          </a:xfrm>
          <a:prstGeom prst="ellipse">
            <a:avLst/>
          </a:prstGeom>
          <a:solidFill>
            <a:srgbClr val="4FB3B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identity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92608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principal, scoped per tenant, per user, per task. Least-privilege tools. Auditable.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15 goes deep on delegated auth and least-privilege tools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IN THE ENTERPRISE · 2 OF 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Tenancy: one agent, many customers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232B33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(model + loop)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606040" y="1874520"/>
            <a:ext cx="548640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8" name="Shape 5"/>
          <p:cNvSpPr/>
          <p:nvPr/>
        </p:nvSpPr>
        <p:spPr>
          <a:xfrm>
            <a:off x="3291840" y="160020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74720" y="1645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store, never shared context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89320" y="173736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89320" y="17373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85432" y="173736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85432" y="17373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81544" y="173736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81544" y="17373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606040" y="2834640"/>
            <a:ext cx="548640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256032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47472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3474720" y="2926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tenant-scoped credentials on every call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989320" y="269748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89320" y="26974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85432" y="269748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85432" y="26974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81544" y="269748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1544" y="26974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606040" y="3794760"/>
            <a:ext cx="548640" cy="201168"/>
          </a:xfrm>
          <a:prstGeom prst="rightArrow">
            <a:avLst/>
          </a:prstGeom>
          <a:solidFill>
            <a:srgbClr val="2E3842"/>
          </a:solidFill>
          <a:ln/>
        </p:spPr>
      </p:sp>
      <p:sp>
        <p:nvSpPr>
          <p:cNvPr id="28" name="Shape 25"/>
          <p:cNvSpPr/>
          <p:nvPr/>
        </p:nvSpPr>
        <p:spPr>
          <a:xfrm>
            <a:off x="3291840" y="352044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474720" y="35661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347472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partitioned, filtered before ranking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989320" y="365760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989320" y="3657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885432" y="365760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85432" y="3657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781544" y="3657600"/>
            <a:ext cx="731520" cy="502920"/>
          </a:xfrm>
          <a:prstGeom prst="roundRect">
            <a:avLst>
              <a:gd name="adj" fmla="val 10909"/>
            </a:avLst>
          </a:prstGeom>
          <a:solidFill>
            <a:srgbClr val="0F1316"/>
          </a:solidFill>
          <a:ln w="12700">
            <a:solidFill>
              <a:srgbClr val="4FB3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81544" y="36576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98932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TENANTS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one lane wrong and you've built a data leak with a chat window.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IN THE ENTERPRISE · 3 OF 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Accountability: who answers for step 7 of 12?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6002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82880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every step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call, tool call and result, tied to a user and a tenant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60020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82880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920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2148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or high-value actions pause for a person — by design, not by prompt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01752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24612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 on steps, cost, time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566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runaway loop is a budget incident; the cap is the circuit breaker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663440" y="301752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92040" y="3246120"/>
            <a:ext cx="384048" cy="38404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8920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4068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Evals before release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40680" y="35661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set of real tasks, scored, run on every change — like any other software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Episodes 9, 10, 18 and 25 cover each of these in depth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344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=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2468880" y="12344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+ loop + tools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011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parts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20116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· instructions · tools · memory · loop + limits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breakpoints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27889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tenancy · accountability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232B33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6576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B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EPISODE  </a:t>
            </a:r>
            <a:pPr indent="0" marL="0">
              <a:buNone/>
            </a:pPr>
            <a:r>
              <a:rPr lang="en-US" sz="1400" dirty="0">
                <a:solidFill>
                  <a:srgbClr val="F3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MCP server for an enterprise data source — the moment tools stop being mocks.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Arthashastra Learning · one episode a week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Code, slides and the roadmap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github.com/Agent47/agentic-enterprise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for every episode, slides, scripts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3776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list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LINKS.md in the repo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103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papers and docs behind each episode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27889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926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246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Issues tab — 28 planned episodes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657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issue with a use case you want covered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663440" y="27889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B2127"/>
          </a:solidFill>
          <a:ln w="9525">
            <a:solidFill>
              <a:srgbClr val="2E384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937760" y="2926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937760" y="3246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YouTube · LinkedIn · newsletter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937760" y="36576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long episode a week, clips in between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 Pasumarthi · Arthashastra Learning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an AI agent actually is — and isn't — in enterprise software</dc:title>
  <dc:subject>PptxGenJS Presentation</dc:subject>
  <dc:creator>PptxGenJS</dc:creator>
  <cp:lastModifiedBy>PptxGenJS</cp:lastModifiedBy>
  <cp:revision>1</cp:revision>
  <dcterms:created xsi:type="dcterms:W3CDTF">2026-10-01T04:31:37Z</dcterms:created>
  <dcterms:modified xsi:type="dcterms:W3CDTF">2026-10-01T04:31:37Z</dcterms:modified>
</cp:coreProperties>
</file>