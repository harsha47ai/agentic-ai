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Hook in 20 seconds: 'Every vendor now sells agents. Most of them are a chatbot with a new logo. In ten minutes you'll know the difference — and the three things that break the moment you put one inside enterprise software. And over this series we're going to build an open-source ERP where every module has its agents.'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 the contract: three outcomes. Then the series promise — an open-source agentic ERP, built in public, one module per few episodes.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it slowly, twice. Point at the three words. Remove any one and you have something useful — but not an agent.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slide people screenshot. The question that places any system on this line: who decides the control flow? Left: the developer wrote it. Right: the model chooses at runtime. Further right = more autonomy = more governance you owe.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Draw it live if you can. Goal in; plan; act by calling a tool; observe the result; back to plan. It stops when the model decides the goal is met — or when YOU stop it with a cap on steps, cost or time. The cap is the part demos leave out.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Parts 1–3 get you a demo. 4–5 get you something that survives production. Every architecture review of an 'agent' should ask for all five.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fair: these are often the RIGHT answer — cheaper, predictable, testable. The point is naming. Don't let 'agent' into the architecture review when the model never chooses anything.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question the sceptical architect is already asking: how is this different from code, a scheduler, a rules engine? Structurally an agent IS code — a for loop calling a function. The difference is who writes the branch conditions. In code they were written before the program ran. In an agent, each branch is computed at runtime by the model from the goal and whatever the last tool returned. That buys coverage of the long tail and costs predictability — which is why limits, approvals and evals are not optional.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series map. Every one of these is a loop over tools with an approval in the middle. We build them in this order: sales returns first (next episode), then MCP, then the platform concerns.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First breakpoint. The agent posts a credit note to the ledger — as whom? Walk the three options. The enterprise answer is the third: its own identity, scoped per company, per user, per task, least-privilege tools.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Second breakpoint: one ERP, many companies. Memory, tools and retrieval each have to be isolated per company — or you've shipped a data leak with a chat window. The company filter is a column on every table from day one, set by the deployment, never by the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Third breakpoint. Who approved the credit note? How do you audit a decision the model made at step 7 of 12? Four things before an agent touches production — each one is an episode.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Recap in 30 seconds, then the call to action: next episode we build the first agent live, inside the ERP.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Slide-1-image-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Slide-2-image-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Slide-3-image-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Slide-4-image-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Slide-5-image-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Slide-6-image-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Slide-7-image-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Slide-8-image-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Slide-9-image-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Slide-10-image-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Slide-11-image-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Slide-12-image-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Slide-13-image-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3" name="Shape 0"/>
          <p:cNvSpPr/>
          <p:nvPr/>
        </p:nvSpPr>
        <p:spPr>
          <a:xfrm>
            <a:off x="6903720" y="457200"/>
            <a:ext cx="274320" cy="274320"/>
          </a:xfrm>
          <a:prstGeom prst="rect">
            <a:avLst/>
          </a:prstGeom>
          <a:solidFill>
            <a:srgbClr val="222222"/>
          </a:solidFill>
          <a:ln/>
        </p:spPr>
      </p:sp>
      <p:sp>
        <p:nvSpPr>
          <p:cNvPr id="4" name="Shape 1"/>
          <p:cNvSpPr/>
          <p:nvPr/>
        </p:nvSpPr>
        <p:spPr>
          <a:xfrm>
            <a:off x="7242048" y="457200"/>
            <a:ext cx="274320" cy="274320"/>
          </a:xfrm>
          <a:prstGeom prst="rect">
            <a:avLst/>
          </a:prstGeom>
          <a:solidFill>
            <a:srgbClr val="222222"/>
          </a:solidFill>
          <a:ln/>
        </p:spPr>
      </p:sp>
      <p:sp>
        <p:nvSpPr>
          <p:cNvPr id="5" name="Shape 2"/>
          <p:cNvSpPr/>
          <p:nvPr/>
        </p:nvSpPr>
        <p:spPr>
          <a:xfrm>
            <a:off x="7580376" y="457200"/>
            <a:ext cx="274320" cy="274320"/>
          </a:xfrm>
          <a:prstGeom prst="rect">
            <a:avLst/>
          </a:prstGeom>
          <a:solidFill>
            <a:srgbClr val="222222"/>
          </a:solidFill>
          <a:ln/>
        </p:spPr>
      </p:sp>
      <p:sp>
        <p:nvSpPr>
          <p:cNvPr id="6" name="Shape 3"/>
          <p:cNvSpPr/>
          <p:nvPr/>
        </p:nvSpPr>
        <p:spPr>
          <a:xfrm>
            <a:off x="6903720" y="795528"/>
            <a:ext cx="274320" cy="274320"/>
          </a:xfrm>
          <a:prstGeom prst="rect">
            <a:avLst/>
          </a:prstGeom>
          <a:solidFill>
            <a:srgbClr val="222222"/>
          </a:solidFill>
          <a:ln/>
        </p:spPr>
      </p:sp>
      <p:sp>
        <p:nvSpPr>
          <p:cNvPr id="7" name="Shape 4"/>
          <p:cNvSpPr/>
          <p:nvPr/>
        </p:nvSpPr>
        <p:spPr>
          <a:xfrm>
            <a:off x="7242048" y="795528"/>
            <a:ext cx="274320" cy="274320"/>
          </a:xfrm>
          <a:prstGeom prst="rect">
            <a:avLst/>
          </a:prstGeom>
          <a:solidFill>
            <a:srgbClr val="FF5700"/>
          </a:solidFill>
          <a:ln/>
        </p:spPr>
      </p:sp>
      <p:sp>
        <p:nvSpPr>
          <p:cNvPr id="8" name="Shape 5"/>
          <p:cNvSpPr/>
          <p:nvPr/>
        </p:nvSpPr>
        <p:spPr>
          <a:xfrm>
            <a:off x="7580376" y="795528"/>
            <a:ext cx="274320" cy="274320"/>
          </a:xfrm>
          <a:prstGeom prst="rect">
            <a:avLst/>
          </a:prstGeom>
          <a:solidFill>
            <a:srgbClr val="222222"/>
          </a:solidFill>
          <a:ln/>
        </p:spPr>
      </p:sp>
      <p:sp>
        <p:nvSpPr>
          <p:cNvPr id="9" name="Shape 6"/>
          <p:cNvSpPr/>
          <p:nvPr/>
        </p:nvSpPr>
        <p:spPr>
          <a:xfrm>
            <a:off x="6903720" y="1133856"/>
            <a:ext cx="274320" cy="274320"/>
          </a:xfrm>
          <a:prstGeom prst="rect">
            <a:avLst/>
          </a:prstGeom>
          <a:solidFill>
            <a:srgbClr val="222222"/>
          </a:solidFill>
          <a:ln/>
        </p:spPr>
      </p:sp>
      <p:sp>
        <p:nvSpPr>
          <p:cNvPr id="10" name="Shape 7"/>
          <p:cNvSpPr/>
          <p:nvPr/>
        </p:nvSpPr>
        <p:spPr>
          <a:xfrm>
            <a:off x="7242048" y="1133856"/>
            <a:ext cx="274320" cy="274320"/>
          </a:xfrm>
          <a:prstGeom prst="rect">
            <a:avLst/>
          </a:prstGeom>
          <a:solidFill>
            <a:srgbClr val="222222"/>
          </a:solidFill>
          <a:ln/>
        </p:spPr>
      </p:sp>
      <p:sp>
        <p:nvSpPr>
          <p:cNvPr id="11" name="Shape 8"/>
          <p:cNvSpPr/>
          <p:nvPr/>
        </p:nvSpPr>
        <p:spPr>
          <a:xfrm>
            <a:off x="7580376" y="1133856"/>
            <a:ext cx="274320" cy="274320"/>
          </a:xfrm>
          <a:prstGeom prst="rect">
            <a:avLst/>
          </a:prstGeom>
          <a:solidFill>
            <a:srgbClr val="222222"/>
          </a:solidFill>
          <a:ln/>
        </p:spPr>
      </p:sp>
      <p:sp>
        <p:nvSpPr>
          <p:cNvPr id="12" name="Shape 9"/>
          <p:cNvSpPr/>
          <p:nvPr/>
        </p:nvSpPr>
        <p:spPr>
          <a:xfrm>
            <a:off x="548640" y="649224"/>
            <a:ext cx="91440" cy="91440"/>
          </a:xfrm>
          <a:prstGeom prst="rect">
            <a:avLst/>
          </a:prstGeom>
          <a:solidFill>
            <a:srgbClr val="FF5700"/>
          </a:solidFill>
          <a:ln/>
        </p:spPr>
      </p:sp>
      <p:sp>
        <p:nvSpPr>
          <p:cNvPr id="13" name="Text 10"/>
          <p:cNvSpPr txBox="1"/>
          <p:nvPr/>
        </p:nvSpPr>
        <p:spPr>
          <a:xfrm>
            <a:off x="713232" y="548640"/>
            <a:ext cx="6400800" cy="292608"/>
          </a:xfrm>
          <a:prstGeom prst="rect">
            <a:avLst/>
          </a:prstGeom>
          <a:noFill/>
          <a:ln/>
        </p:spPr>
        <p:txBody>
          <a:bodyPr wrap="square" lIns="0" tIns="0" rIns="0" bIns="0" rtlCol="0" anchor="ctr"/>
          <a:lstStyle/>
          <a:p>
            <a:pPr indent="0" marL="0">
              <a:buNone/>
            </a:pPr>
            <a:r>
              <a:rPr lang="en-US" sz="1000" spc="400" kern="0" dirty="0">
                <a:solidFill>
                  <a:srgbClr val="FF7A33"/>
                </a:solidFill>
                <a:latin typeface="IBM Plex Mono" pitchFamily="34" charset="0"/>
                <a:ea typeface="IBM Plex Mono" pitchFamily="34" charset="-122"/>
                <a:cs typeface="IBM Plex Mono" pitchFamily="34" charset="-120"/>
              </a:rPr>
              <a:t>EPISODE 01</a:t>
            </a:r>
            <a:endParaRPr lang="en-US" sz="1000" dirty="0"/>
          </a:p>
        </p:txBody>
      </p:sp>
      <p:sp>
        <p:nvSpPr>
          <p:cNvPr id="14" name="Text 11"/>
          <p:cNvSpPr txBox="1"/>
          <p:nvPr/>
        </p:nvSpPr>
        <p:spPr>
          <a:xfrm>
            <a:off x="548640" y="1051560"/>
            <a:ext cx="8229600" cy="782320"/>
          </a:xfrm>
          <a:prstGeom prst="rect">
            <a:avLst/>
          </a:prstGeom>
          <a:noFill/>
          <a:ln/>
        </p:spPr>
        <p:txBody>
          <a:bodyPr wrap="square" lIns="0" tIns="0" rIns="0" bIns="0" rtlCol="0" anchor="ctr"/>
          <a:lstStyle/>
          <a:p>
            <a:pPr indent="0" marL="0">
              <a:buNone/>
            </a:pPr>
            <a:r>
              <a:rPr lang="en-US" sz="4400" b="1" spc="100" kern="0" dirty="0">
                <a:solidFill>
                  <a:srgbClr val="FFFFFF"/>
                </a:solidFill>
                <a:latin typeface="Geist" pitchFamily="34" charset="0"/>
                <a:ea typeface="Geist" pitchFamily="34" charset="-122"/>
                <a:cs typeface="Geist" pitchFamily="34" charset="-120"/>
              </a:rPr>
              <a:t>learn  with  </a:t>
            </a:r>
            <a:pPr indent="0" marL="0">
              <a:buNone/>
            </a:pPr>
            <a:r>
              <a:rPr lang="en-US" sz="4400" b="1" spc="100" kern="0" dirty="0">
                <a:solidFill>
                  <a:srgbClr val="FF5700"/>
                </a:solidFill>
                <a:latin typeface="Geist" pitchFamily="34" charset="0"/>
                <a:ea typeface="Geist" pitchFamily="34" charset="-122"/>
                <a:cs typeface="Geist" pitchFamily="34" charset="-120"/>
              </a:rPr>
              <a:t>harsha</a:t>
            </a:r>
            <a:pPr indent="0" marL="0">
              <a:buNone/>
            </a:pPr>
            <a:r>
              <a:rPr lang="en-US" sz="1800" b="1" spc="100" kern="0" dirty="0">
                <a:solidFill>
                  <a:srgbClr val="FF5700"/>
                </a:solidFill>
                <a:latin typeface="Geist" pitchFamily="34" charset="0"/>
                <a:ea typeface="Geist" pitchFamily="34" charset="-122"/>
                <a:cs typeface="Geist" pitchFamily="34" charset="-120"/>
              </a:rPr>
              <a:t>  ■</a:t>
            </a:r>
            <a:endParaRPr lang="en-US" sz="4400" dirty="0"/>
          </a:p>
        </p:txBody>
      </p:sp>
      <p:sp>
        <p:nvSpPr>
          <p:cNvPr id="15" name="Text 12"/>
          <p:cNvSpPr txBox="1"/>
          <p:nvPr/>
        </p:nvSpPr>
        <p:spPr>
          <a:xfrm>
            <a:off x="548640" y="2194560"/>
            <a:ext cx="7680960" cy="1371600"/>
          </a:xfrm>
          <a:prstGeom prst="rect">
            <a:avLst/>
          </a:prstGeom>
          <a:noFill/>
          <a:ln/>
        </p:spPr>
        <p:txBody>
          <a:bodyPr wrap="square" lIns="0" tIns="0" rIns="0" bIns="0" rtlCol="0" anchor="t"/>
          <a:lstStyle/>
          <a:p>
            <a:pPr indent="0" marL="0">
              <a:lnSpc>
                <a:spcPct val="105000"/>
              </a:lnSpc>
              <a:buNone/>
            </a:pPr>
            <a:r>
              <a:rPr lang="en-US" sz="3000" b="1" spc="-100" kern="0" dirty="0">
                <a:solidFill>
                  <a:srgbClr val="FFFFFF"/>
                </a:solidFill>
                <a:latin typeface="Geist" pitchFamily="34" charset="0"/>
                <a:ea typeface="Geist" pitchFamily="34" charset="-122"/>
                <a:cs typeface="Geist" pitchFamily="34" charset="-120"/>
              </a:rPr>
              <a:t>What an AI agent actually is —</a:t>
            </a:r>
            <a:endParaRPr lang="en-US" sz="3000" dirty="0"/>
          </a:p>
          <a:p>
            <a:pPr indent="0" marL="0">
              <a:lnSpc>
                <a:spcPct val="105000"/>
              </a:lnSpc>
              <a:buNone/>
            </a:pPr>
            <a:r>
              <a:rPr lang="en-US" sz="3000" b="1" spc="-100" kern="0" dirty="0">
                <a:solidFill>
                  <a:srgbClr val="FFFFFF"/>
                </a:solidFill>
                <a:latin typeface="Geist" pitchFamily="34" charset="0"/>
                <a:ea typeface="Geist" pitchFamily="34" charset="-122"/>
                <a:cs typeface="Geist" pitchFamily="34" charset="-120"/>
              </a:rPr>
              <a:t>and isn't — in enterprise software</a:t>
            </a:r>
            <a:endParaRPr lang="en-US" sz="3000" dirty="0"/>
          </a:p>
        </p:txBody>
      </p:sp>
      <p:sp>
        <p:nvSpPr>
          <p:cNvPr id="16" name="Shape 13"/>
          <p:cNvSpPr/>
          <p:nvPr/>
        </p:nvSpPr>
        <p:spPr>
          <a:xfrm>
            <a:off x="548640" y="3931920"/>
            <a:ext cx="8046720" cy="0"/>
          </a:xfrm>
          <a:prstGeom prst="line">
            <a:avLst/>
          </a:prstGeom>
          <a:noFill/>
          <a:ln w="9525">
            <a:solidFill>
              <a:srgbClr val="2A2A2A"/>
            </a:solidFill>
            <a:prstDash val="solid"/>
          </a:ln>
        </p:spPr>
      </p:sp>
      <p:sp>
        <p:nvSpPr>
          <p:cNvPr id="17" name="Text 14"/>
          <p:cNvSpPr txBox="1"/>
          <p:nvPr/>
        </p:nvSpPr>
        <p:spPr>
          <a:xfrm>
            <a:off x="548640" y="4069080"/>
            <a:ext cx="4572000" cy="274320"/>
          </a:xfrm>
          <a:prstGeom prst="rect">
            <a:avLst/>
          </a:prstGeom>
          <a:noFill/>
          <a:ln/>
        </p:spPr>
        <p:txBody>
          <a:bodyPr wrap="square" lIns="0" tIns="0" rIns="0" bIns="0" rtlCol="0" anchor="ctr"/>
          <a:lstStyle/>
          <a:p>
            <a:pPr indent="0" marL="0">
              <a:buNone/>
            </a:pPr>
            <a:r>
              <a:rPr lang="en-US" sz="1400" b="1" dirty="0">
                <a:solidFill>
                  <a:srgbClr val="FFFFFF"/>
                </a:solidFill>
                <a:latin typeface="Geist" pitchFamily="34" charset="0"/>
                <a:ea typeface="Geist" pitchFamily="34" charset="-122"/>
                <a:cs typeface="Geist" pitchFamily="34" charset="-120"/>
              </a:rPr>
              <a:t>Harsha Pasumarthi</a:t>
            </a:r>
            <a:endParaRPr lang="en-US" sz="1400" dirty="0"/>
          </a:p>
        </p:txBody>
      </p:sp>
      <p:sp>
        <p:nvSpPr>
          <p:cNvPr id="18" name="Text 15"/>
          <p:cNvSpPr txBox="1"/>
          <p:nvPr/>
        </p:nvSpPr>
        <p:spPr>
          <a:xfrm>
            <a:off x="548640" y="4343400"/>
            <a:ext cx="5486400" cy="274320"/>
          </a:xfrm>
          <a:prstGeom prst="rect">
            <a:avLst/>
          </a:prstGeom>
          <a:noFill/>
          <a:ln/>
        </p:spPr>
        <p:txBody>
          <a:bodyPr wrap="square" lIns="0" tIns="0" rIns="0" bIns="0" rtlCol="0" anchor="ctr"/>
          <a:lstStyle/>
          <a:p>
            <a:pPr indent="0" marL="0">
              <a:buNone/>
            </a:pPr>
            <a:r>
              <a:rPr lang="en-US" sz="1100" dirty="0">
                <a:solidFill>
                  <a:srgbClr val="A3A3A3"/>
                </a:solidFill>
                <a:latin typeface="Geist" pitchFamily="34" charset="0"/>
                <a:ea typeface="Geist" pitchFamily="34" charset="-122"/>
                <a:cs typeface="Geist" pitchFamily="34" charset="-120"/>
              </a:rPr>
              <a:t>Founder &amp; CEO, Arthashastra Intelligence</a:t>
            </a:r>
            <a:endParaRPr lang="en-US" sz="1100" dirty="0"/>
          </a:p>
        </p:txBody>
      </p:sp>
      <p:sp>
        <p:nvSpPr>
          <p:cNvPr id="19" name="Text 16"/>
          <p:cNvSpPr txBox="1"/>
          <p:nvPr/>
        </p:nvSpPr>
        <p:spPr>
          <a:xfrm>
            <a:off x="6766560" y="4343400"/>
            <a:ext cx="1828800" cy="274320"/>
          </a:xfrm>
          <a:prstGeom prst="rect">
            <a:avLst/>
          </a:prstGeom>
          <a:noFill/>
          <a:ln/>
        </p:spPr>
        <p:txBody>
          <a:bodyPr wrap="square" lIns="0" tIns="0" rIns="0" bIns="0" rtlCol="0" anchor="ctr"/>
          <a:lstStyle/>
          <a:p>
            <a:pPr algn="r" indent="0" marL="0">
              <a:buNone/>
            </a:pPr>
            <a:r>
              <a:rPr lang="en-US" sz="900" spc="100" kern="0" dirty="0">
                <a:solidFill>
                  <a:srgbClr val="8A8A8A"/>
                </a:solidFill>
                <a:latin typeface="IBM Plex Mono" pitchFamily="34" charset="0"/>
                <a:ea typeface="IBM Plex Mono" pitchFamily="34" charset="-122"/>
                <a:cs typeface="IBM Plex Mono" pitchFamily="34" charset="-120"/>
              </a:rPr>
              <a:t>arthashastra.ai</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3" name="Text 0"/>
          <p:cNvSpPr txBox="1"/>
          <p:nvPr/>
        </p:nvSpPr>
        <p:spPr>
          <a:xfrm>
            <a:off x="457200" y="274320"/>
            <a:ext cx="8229600" cy="248920"/>
          </a:xfrm>
          <a:prstGeom prst="rect">
            <a:avLst/>
          </a:prstGeom>
          <a:noFill/>
          <a:ln/>
        </p:spPr>
        <p:txBody>
          <a:bodyPr wrap="square" lIns="0" tIns="0" rIns="0" bIns="0" rtlCol="0" anchor="ctr"/>
          <a:lstStyle/>
          <a:p>
            <a:pPr indent="0" marL="0">
              <a:buNone/>
            </a:pPr>
            <a:r>
              <a:rPr lang="en-US" sz="1400" b="1" spc="100" kern="0" dirty="0">
                <a:solidFill>
                  <a:srgbClr val="1C1C1C"/>
                </a:solidFill>
                <a:latin typeface="Geist" pitchFamily="34" charset="0"/>
                <a:ea typeface="Geist" pitchFamily="34" charset="-122"/>
                <a:cs typeface="Geist" pitchFamily="34" charset="-120"/>
              </a:rPr>
              <a:t>learn  with  </a:t>
            </a:r>
            <a:pPr indent="0" marL="0">
              <a:buNone/>
            </a:pPr>
            <a:r>
              <a:rPr lang="en-US" sz="1400" b="1" spc="100" kern="0" dirty="0">
                <a:solidFill>
                  <a:srgbClr val="FF5700"/>
                </a:solidFill>
                <a:latin typeface="Geist" pitchFamily="34" charset="0"/>
                <a:ea typeface="Geist" pitchFamily="34" charset="-122"/>
                <a:cs typeface="Geist" pitchFamily="34" charset="-120"/>
              </a:rPr>
              <a:t>harsha</a:t>
            </a:r>
            <a:pPr indent="0" marL="0">
              <a:buNone/>
            </a:pPr>
            <a:r>
              <a:rPr lang="en-US" sz="600" b="1" spc="100" kern="0" dirty="0">
                <a:solidFill>
                  <a:srgbClr val="FF5700"/>
                </a:solidFill>
                <a:latin typeface="Geist" pitchFamily="34" charset="0"/>
                <a:ea typeface="Geist" pitchFamily="34" charset="-122"/>
                <a:cs typeface="Geist" pitchFamily="34" charset="-120"/>
              </a:rPr>
              <a:t>  ■</a:t>
            </a:r>
            <a:endParaRPr lang="en-US" sz="1400" dirty="0"/>
          </a:p>
        </p:txBody>
      </p:sp>
      <p:sp>
        <p:nvSpPr>
          <p:cNvPr id="4" name="Shape 1"/>
          <p:cNvSpPr/>
          <p:nvPr/>
        </p:nvSpPr>
        <p:spPr>
          <a:xfrm>
            <a:off x="457200" y="905256"/>
            <a:ext cx="91440" cy="91440"/>
          </a:xfrm>
          <a:prstGeom prst="rect">
            <a:avLst/>
          </a:prstGeom>
          <a:solidFill>
            <a:srgbClr val="FF5700"/>
          </a:solidFill>
          <a:ln/>
        </p:spPr>
      </p:sp>
      <p:sp>
        <p:nvSpPr>
          <p:cNvPr id="5" name="Text 2"/>
          <p:cNvSpPr txBox="1"/>
          <p:nvPr/>
        </p:nvSpPr>
        <p:spPr>
          <a:xfrm>
            <a:off x="621792" y="804672"/>
            <a:ext cx="6400800" cy="292608"/>
          </a:xfrm>
          <a:prstGeom prst="rect">
            <a:avLst/>
          </a:prstGeom>
          <a:noFill/>
          <a:ln/>
        </p:spPr>
        <p:txBody>
          <a:bodyPr wrap="square" lIns="0" tIns="0" rIns="0" bIns="0" rtlCol="0" anchor="ctr"/>
          <a:lstStyle/>
          <a:p>
            <a:pPr indent="0" marL="0">
              <a:buNone/>
            </a:pPr>
            <a:r>
              <a:rPr lang="en-US" sz="1000" spc="400" kern="0" dirty="0">
                <a:solidFill>
                  <a:srgbClr val="FF5700"/>
                </a:solidFill>
                <a:latin typeface="IBM Plex Mono" pitchFamily="34" charset="0"/>
                <a:ea typeface="IBM Plex Mono" pitchFamily="34" charset="-122"/>
                <a:cs typeface="IBM Plex Mono" pitchFamily="34" charset="-120"/>
              </a:rPr>
              <a:t>EPISODE 1 · WHAT YOU'LL GET</a:t>
            </a:r>
            <a:endParaRPr lang="en-US" sz="1000" dirty="0"/>
          </a:p>
        </p:txBody>
      </p:sp>
      <p:sp>
        <p:nvSpPr>
          <p:cNvPr id="6" name="Text 3"/>
          <p:cNvSpPr txBox="1"/>
          <p:nvPr/>
        </p:nvSpPr>
        <p:spPr>
          <a:xfrm>
            <a:off x="457200" y="1078992"/>
            <a:ext cx="8229600" cy="640080"/>
          </a:xfrm>
          <a:prstGeom prst="rect">
            <a:avLst/>
          </a:prstGeom>
          <a:noFill/>
          <a:ln/>
        </p:spPr>
        <p:txBody>
          <a:bodyPr wrap="square" lIns="0" tIns="0" rIns="0" bIns="0" rtlCol="0" anchor="ctr"/>
          <a:lstStyle/>
          <a:p>
            <a:pPr indent="0" marL="0">
              <a:buNone/>
            </a:pPr>
            <a:r>
              <a:rPr lang="en-US" sz="2300" b="1" spc="-100" kern="0" dirty="0">
                <a:solidFill>
                  <a:srgbClr val="1C1C1C"/>
                </a:solidFill>
                <a:latin typeface="Geist" pitchFamily="34" charset="0"/>
                <a:ea typeface="Geist" pitchFamily="34" charset="-122"/>
                <a:cs typeface="Geist" pitchFamily="34" charset="-120"/>
              </a:rPr>
              <a:t>Most “agents” are a chatbot with a new logo.</a:t>
            </a:r>
            <a:endParaRPr lang="en-US" sz="2300" dirty="0"/>
          </a:p>
        </p:txBody>
      </p:sp>
      <p:sp>
        <p:nvSpPr>
          <p:cNvPr id="7" name="Text 4"/>
          <p:cNvSpPr txBox="1"/>
          <p:nvPr/>
        </p:nvSpPr>
        <p:spPr>
          <a:xfrm>
            <a:off x="457200" y="4754880"/>
            <a:ext cx="5943600" cy="228600"/>
          </a:xfrm>
          <a:prstGeom prst="rect">
            <a:avLst/>
          </a:prstGeom>
          <a:noFill/>
          <a:ln/>
        </p:spPr>
        <p:txBody>
          <a:bodyPr wrap="square" lIns="0" tIns="0" rIns="0" bIns="0" rtlCol="0" anchor="ctr"/>
          <a:lstStyle/>
          <a:p>
            <a:pPr indent="0" marL="0">
              <a:buNone/>
            </a:pPr>
            <a:r>
              <a:rPr lang="en-US" sz="800" spc="100" kern="0" dirty="0">
                <a:solidFill>
                  <a:srgbClr val="919191"/>
                </a:solidFill>
                <a:latin typeface="IBM Plex Mono" pitchFamily="34" charset="0"/>
                <a:ea typeface="IBM Plex Mono" pitchFamily="34" charset="-122"/>
                <a:cs typeface="IBM Plex Mono" pitchFamily="34" charset="-120"/>
              </a:rPr>
              <a:t>Arthashastra Learning · The Agentic Enterprise</a:t>
            </a:r>
            <a:endParaRPr lang="en-US" sz="800" dirty="0"/>
          </a:p>
        </p:txBody>
      </p:sp>
      <p:sp>
        <p:nvSpPr>
          <p:cNvPr id="8" name="Text 5"/>
          <p:cNvSpPr txBox="1"/>
          <p:nvPr/>
        </p:nvSpPr>
        <p:spPr>
          <a:xfrm>
            <a:off x="6858000" y="4754880"/>
            <a:ext cx="1828800" cy="228600"/>
          </a:xfrm>
          <a:prstGeom prst="rect">
            <a:avLst/>
          </a:prstGeom>
          <a:noFill/>
          <a:ln/>
        </p:spPr>
        <p:txBody>
          <a:bodyPr wrap="square" lIns="0" tIns="0" rIns="0" bIns="0" rtlCol="0" anchor="ctr"/>
          <a:lstStyle/>
          <a:p>
            <a:pPr algn="r" indent="0" marL="0">
              <a:buNone/>
            </a:pPr>
            <a:r>
              <a:rPr lang="en-US" sz="800" spc="100" kern="0" dirty="0">
                <a:solidFill>
                  <a:srgbClr val="919191"/>
                </a:solidFill>
                <a:latin typeface="IBM Plex Mono" pitchFamily="34" charset="0"/>
                <a:ea typeface="IBM Plex Mono" pitchFamily="34" charset="-122"/>
                <a:cs typeface="IBM Plex Mono" pitchFamily="34" charset="-120"/>
              </a:rPr>
              <a:t>arthashastra.ai</a:t>
            </a:r>
            <a:endParaRPr lang="en-US" sz="800" dirty="0"/>
          </a:p>
        </p:txBody>
      </p:sp>
      <p:sp>
        <p:nvSpPr>
          <p:cNvPr id="9" name="Shape 6"/>
          <p:cNvSpPr/>
          <p:nvPr/>
        </p:nvSpPr>
        <p:spPr>
          <a:xfrm>
            <a:off x="457200" y="1828800"/>
            <a:ext cx="2606040" cy="1737360"/>
          </a:xfrm>
          <a:prstGeom prst="rect">
            <a:avLst/>
          </a:prstGeom>
          <a:solidFill>
            <a:srgbClr val="FFFFFF"/>
          </a:solidFill>
          <a:ln w="9525">
            <a:solidFill>
              <a:srgbClr val="E5E5E5"/>
            </a:solidFill>
            <a:prstDash val="solid"/>
          </a:ln>
        </p:spPr>
      </p:sp>
      <p:sp>
        <p:nvSpPr>
          <p:cNvPr id="10" name="Shape 7"/>
          <p:cNvSpPr/>
          <p:nvPr/>
        </p:nvSpPr>
        <p:spPr>
          <a:xfrm>
            <a:off x="685800" y="2057400"/>
            <a:ext cx="329184" cy="329184"/>
          </a:xfrm>
          <a:prstGeom prst="rect">
            <a:avLst/>
          </a:prstGeom>
          <a:solidFill>
            <a:srgbClr val="FF5700"/>
          </a:solidFill>
          <a:ln/>
        </p:spPr>
      </p:sp>
      <p:sp>
        <p:nvSpPr>
          <p:cNvPr id="11" name="Text 8"/>
          <p:cNvSpPr txBox="1"/>
          <p:nvPr/>
        </p:nvSpPr>
        <p:spPr>
          <a:xfrm>
            <a:off x="685800" y="2057400"/>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IBM Plex Mono" pitchFamily="34" charset="0"/>
                <a:ea typeface="IBM Plex Mono" pitchFamily="34" charset="-122"/>
                <a:cs typeface="IBM Plex Mono" pitchFamily="34" charset="-120"/>
              </a:rPr>
              <a:t>1</a:t>
            </a:r>
            <a:endParaRPr lang="en-US" sz="1100" dirty="0"/>
          </a:p>
        </p:txBody>
      </p:sp>
      <p:sp>
        <p:nvSpPr>
          <p:cNvPr id="12" name="Text 9"/>
          <p:cNvSpPr txBox="1"/>
          <p:nvPr/>
        </p:nvSpPr>
        <p:spPr>
          <a:xfrm>
            <a:off x="685800" y="2514600"/>
            <a:ext cx="2194560" cy="548640"/>
          </a:xfrm>
          <a:prstGeom prst="rect">
            <a:avLst/>
          </a:prstGeom>
          <a:noFill/>
          <a:ln/>
        </p:spPr>
        <p:txBody>
          <a:bodyPr wrap="square" lIns="0" tIns="0" rIns="0" bIns="0" rtlCol="0" anchor="t"/>
          <a:lstStyle/>
          <a:p>
            <a:pPr indent="0" marL="0">
              <a:buNone/>
            </a:pPr>
            <a:r>
              <a:rPr lang="en-US" sz="1500" b="1" spc="-50" kern="0" dirty="0">
                <a:solidFill>
                  <a:srgbClr val="1C1C1C"/>
                </a:solidFill>
                <a:latin typeface="Geist" pitchFamily="34" charset="0"/>
                <a:ea typeface="Geist" pitchFamily="34" charset="-122"/>
                <a:cs typeface="Geist" pitchFamily="34" charset="-120"/>
              </a:rPr>
              <a:t>Tell an agent from a workflow</a:t>
            </a:r>
            <a:endParaRPr lang="en-US" sz="1500" dirty="0"/>
          </a:p>
        </p:txBody>
      </p:sp>
      <p:sp>
        <p:nvSpPr>
          <p:cNvPr id="13" name="Text 10"/>
          <p:cNvSpPr txBox="1"/>
          <p:nvPr/>
        </p:nvSpPr>
        <p:spPr>
          <a:xfrm>
            <a:off x="685800" y="3017520"/>
            <a:ext cx="2194560" cy="457200"/>
          </a:xfrm>
          <a:prstGeom prst="rect">
            <a:avLst/>
          </a:prstGeom>
          <a:noFill/>
          <a:ln/>
        </p:spPr>
        <p:txBody>
          <a:bodyPr wrap="square" lIns="0" tIns="0" rIns="0" bIns="0" rtlCol="0" anchor="t"/>
          <a:lstStyle/>
          <a:p>
            <a:pPr indent="0" marL="0">
              <a:buNone/>
            </a:pPr>
            <a:r>
              <a:rPr lang="en-US" sz="1100" dirty="0">
                <a:solidFill>
                  <a:srgbClr val="6B7280"/>
                </a:solidFill>
                <a:latin typeface="Geist" pitchFamily="34" charset="0"/>
                <a:ea typeface="Geist" pitchFamily="34" charset="-122"/>
                <a:cs typeface="Geist" pitchFamily="34" charset="-120"/>
              </a:rPr>
              <a:t>in 10 seconds, in any vendor demo</a:t>
            </a:r>
            <a:endParaRPr lang="en-US" sz="1100" dirty="0"/>
          </a:p>
        </p:txBody>
      </p:sp>
      <p:sp>
        <p:nvSpPr>
          <p:cNvPr id="14" name="Shape 11"/>
          <p:cNvSpPr/>
          <p:nvPr/>
        </p:nvSpPr>
        <p:spPr>
          <a:xfrm>
            <a:off x="3246120" y="1828800"/>
            <a:ext cx="2606040" cy="1737360"/>
          </a:xfrm>
          <a:prstGeom prst="rect">
            <a:avLst/>
          </a:prstGeom>
          <a:solidFill>
            <a:srgbClr val="FFFFFF"/>
          </a:solidFill>
          <a:ln w="9525">
            <a:solidFill>
              <a:srgbClr val="E5E5E5"/>
            </a:solidFill>
            <a:prstDash val="solid"/>
          </a:ln>
        </p:spPr>
      </p:sp>
      <p:sp>
        <p:nvSpPr>
          <p:cNvPr id="15" name="Shape 12"/>
          <p:cNvSpPr/>
          <p:nvPr/>
        </p:nvSpPr>
        <p:spPr>
          <a:xfrm>
            <a:off x="3474720" y="2057400"/>
            <a:ext cx="329184" cy="329184"/>
          </a:xfrm>
          <a:prstGeom prst="rect">
            <a:avLst/>
          </a:prstGeom>
          <a:solidFill>
            <a:srgbClr val="FF5700"/>
          </a:solidFill>
          <a:ln/>
        </p:spPr>
      </p:sp>
      <p:sp>
        <p:nvSpPr>
          <p:cNvPr id="16" name="Text 13"/>
          <p:cNvSpPr txBox="1"/>
          <p:nvPr/>
        </p:nvSpPr>
        <p:spPr>
          <a:xfrm>
            <a:off x="3474720" y="2057400"/>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IBM Plex Mono" pitchFamily="34" charset="0"/>
                <a:ea typeface="IBM Plex Mono" pitchFamily="34" charset="-122"/>
                <a:cs typeface="IBM Plex Mono" pitchFamily="34" charset="-120"/>
              </a:rPr>
              <a:t>2</a:t>
            </a:r>
            <a:endParaRPr lang="en-US" sz="1100" dirty="0"/>
          </a:p>
        </p:txBody>
      </p:sp>
      <p:sp>
        <p:nvSpPr>
          <p:cNvPr id="17" name="Text 14"/>
          <p:cNvSpPr txBox="1"/>
          <p:nvPr/>
        </p:nvSpPr>
        <p:spPr>
          <a:xfrm>
            <a:off x="3474720" y="2514600"/>
            <a:ext cx="2194560" cy="548640"/>
          </a:xfrm>
          <a:prstGeom prst="rect">
            <a:avLst/>
          </a:prstGeom>
          <a:noFill/>
          <a:ln/>
        </p:spPr>
        <p:txBody>
          <a:bodyPr wrap="square" lIns="0" tIns="0" rIns="0" bIns="0" rtlCol="0" anchor="t"/>
          <a:lstStyle/>
          <a:p>
            <a:pPr indent="0" marL="0">
              <a:buNone/>
            </a:pPr>
            <a:r>
              <a:rPr lang="en-US" sz="1500" b="1" spc="-50" kern="0" dirty="0">
                <a:solidFill>
                  <a:srgbClr val="1C1C1C"/>
                </a:solidFill>
                <a:latin typeface="Geist" pitchFamily="34" charset="0"/>
                <a:ea typeface="Geist" pitchFamily="34" charset="-122"/>
                <a:cs typeface="Geist" pitchFamily="34" charset="-120"/>
              </a:rPr>
              <a:t>Name the 5 parts</a:t>
            </a:r>
            <a:endParaRPr lang="en-US" sz="1500" dirty="0"/>
          </a:p>
        </p:txBody>
      </p:sp>
      <p:sp>
        <p:nvSpPr>
          <p:cNvPr id="18" name="Text 15"/>
          <p:cNvSpPr txBox="1"/>
          <p:nvPr/>
        </p:nvSpPr>
        <p:spPr>
          <a:xfrm>
            <a:off x="3474720" y="3017520"/>
            <a:ext cx="2194560" cy="457200"/>
          </a:xfrm>
          <a:prstGeom prst="rect">
            <a:avLst/>
          </a:prstGeom>
          <a:noFill/>
          <a:ln/>
        </p:spPr>
        <p:txBody>
          <a:bodyPr wrap="square" lIns="0" tIns="0" rIns="0" bIns="0" rtlCol="0" anchor="t"/>
          <a:lstStyle/>
          <a:p>
            <a:pPr indent="0" marL="0">
              <a:buNone/>
            </a:pPr>
            <a:r>
              <a:rPr lang="en-US" sz="1100" dirty="0">
                <a:solidFill>
                  <a:srgbClr val="6B7280"/>
                </a:solidFill>
                <a:latin typeface="Geist" pitchFamily="34" charset="0"/>
                <a:ea typeface="Geist" pitchFamily="34" charset="-122"/>
                <a:cs typeface="Geist" pitchFamily="34" charset="-120"/>
              </a:rPr>
              <a:t>every real agent is built from</a:t>
            </a:r>
            <a:endParaRPr lang="en-US" sz="1100" dirty="0"/>
          </a:p>
        </p:txBody>
      </p:sp>
      <p:sp>
        <p:nvSpPr>
          <p:cNvPr id="19" name="Shape 16"/>
          <p:cNvSpPr/>
          <p:nvPr/>
        </p:nvSpPr>
        <p:spPr>
          <a:xfrm>
            <a:off x="6035040" y="1828800"/>
            <a:ext cx="2606040" cy="1737360"/>
          </a:xfrm>
          <a:prstGeom prst="rect">
            <a:avLst/>
          </a:prstGeom>
          <a:solidFill>
            <a:srgbClr val="FFFFFF"/>
          </a:solidFill>
          <a:ln w="9525">
            <a:solidFill>
              <a:srgbClr val="E5E5E5"/>
            </a:solidFill>
            <a:prstDash val="solid"/>
          </a:ln>
        </p:spPr>
      </p:sp>
      <p:sp>
        <p:nvSpPr>
          <p:cNvPr id="20" name="Shape 17"/>
          <p:cNvSpPr/>
          <p:nvPr/>
        </p:nvSpPr>
        <p:spPr>
          <a:xfrm>
            <a:off x="6263640" y="2057400"/>
            <a:ext cx="329184" cy="329184"/>
          </a:xfrm>
          <a:prstGeom prst="rect">
            <a:avLst/>
          </a:prstGeom>
          <a:solidFill>
            <a:srgbClr val="FF5700"/>
          </a:solidFill>
          <a:ln/>
        </p:spPr>
      </p:sp>
      <p:sp>
        <p:nvSpPr>
          <p:cNvPr id="21" name="Text 18"/>
          <p:cNvSpPr txBox="1"/>
          <p:nvPr/>
        </p:nvSpPr>
        <p:spPr>
          <a:xfrm>
            <a:off x="6263640" y="2057400"/>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IBM Plex Mono" pitchFamily="34" charset="0"/>
                <a:ea typeface="IBM Plex Mono" pitchFamily="34" charset="-122"/>
                <a:cs typeface="IBM Plex Mono" pitchFamily="34" charset="-120"/>
              </a:rPr>
              <a:t>3</a:t>
            </a:r>
            <a:endParaRPr lang="en-US" sz="1100" dirty="0"/>
          </a:p>
        </p:txBody>
      </p:sp>
      <p:sp>
        <p:nvSpPr>
          <p:cNvPr id="22" name="Text 19"/>
          <p:cNvSpPr txBox="1"/>
          <p:nvPr/>
        </p:nvSpPr>
        <p:spPr>
          <a:xfrm>
            <a:off x="6263640" y="2514600"/>
            <a:ext cx="2194560" cy="548640"/>
          </a:xfrm>
          <a:prstGeom prst="rect">
            <a:avLst/>
          </a:prstGeom>
          <a:noFill/>
          <a:ln/>
        </p:spPr>
        <p:txBody>
          <a:bodyPr wrap="square" lIns="0" tIns="0" rIns="0" bIns="0" rtlCol="0" anchor="t"/>
          <a:lstStyle/>
          <a:p>
            <a:pPr indent="0" marL="0">
              <a:buNone/>
            </a:pPr>
            <a:r>
              <a:rPr lang="en-US" sz="1500" b="1" spc="-50" kern="0" dirty="0">
                <a:solidFill>
                  <a:srgbClr val="1C1C1C"/>
                </a:solidFill>
                <a:latin typeface="Geist" pitchFamily="34" charset="0"/>
                <a:ea typeface="Geist" pitchFamily="34" charset="-122"/>
                <a:cs typeface="Geist" pitchFamily="34" charset="-120"/>
              </a:rPr>
              <a:t>Spot the 3 breakpoints</a:t>
            </a:r>
            <a:endParaRPr lang="en-US" sz="1500" dirty="0"/>
          </a:p>
        </p:txBody>
      </p:sp>
      <p:sp>
        <p:nvSpPr>
          <p:cNvPr id="23" name="Text 20"/>
          <p:cNvSpPr txBox="1"/>
          <p:nvPr/>
        </p:nvSpPr>
        <p:spPr>
          <a:xfrm>
            <a:off x="6263640" y="3017520"/>
            <a:ext cx="2194560" cy="457200"/>
          </a:xfrm>
          <a:prstGeom prst="rect">
            <a:avLst/>
          </a:prstGeom>
          <a:noFill/>
          <a:ln/>
        </p:spPr>
        <p:txBody>
          <a:bodyPr wrap="square" lIns="0" tIns="0" rIns="0" bIns="0" rtlCol="0" anchor="t"/>
          <a:lstStyle/>
          <a:p>
            <a:pPr indent="0" marL="0">
              <a:buNone/>
            </a:pPr>
            <a:r>
              <a:rPr lang="en-US" sz="1100" dirty="0">
                <a:solidFill>
                  <a:srgbClr val="6B7280"/>
                </a:solidFill>
                <a:latin typeface="Geist" pitchFamily="34" charset="0"/>
                <a:ea typeface="Geist" pitchFamily="34" charset="-122"/>
                <a:cs typeface="Geist" pitchFamily="34" charset="-120"/>
              </a:rPr>
              <a:t>when an agent goes inside enterprise software</a:t>
            </a:r>
            <a:endParaRPr lang="en-US" sz="1100" dirty="0"/>
          </a:p>
        </p:txBody>
      </p:sp>
      <p:sp>
        <p:nvSpPr>
          <p:cNvPr id="24" name="Shape 21"/>
          <p:cNvSpPr/>
          <p:nvPr/>
        </p:nvSpPr>
        <p:spPr>
          <a:xfrm>
            <a:off x="457200" y="3794760"/>
            <a:ext cx="8229600" cy="685800"/>
          </a:xfrm>
          <a:prstGeom prst="rect">
            <a:avLst/>
          </a:prstGeom>
          <a:solidFill>
            <a:srgbClr val="F7F7F5"/>
          </a:solidFill>
          <a:ln w="9525">
            <a:solidFill>
              <a:srgbClr val="E5E5E5"/>
            </a:solidFill>
            <a:prstDash val="solid"/>
          </a:ln>
        </p:spPr>
      </p:sp>
      <p:sp>
        <p:nvSpPr>
          <p:cNvPr id="25" name="Text 22"/>
          <p:cNvSpPr txBox="1"/>
          <p:nvPr/>
        </p:nvSpPr>
        <p:spPr>
          <a:xfrm>
            <a:off x="685800" y="3794760"/>
            <a:ext cx="7772400" cy="685800"/>
          </a:xfrm>
          <a:prstGeom prst="rect">
            <a:avLst/>
          </a:prstGeom>
          <a:noFill/>
          <a:ln/>
        </p:spPr>
        <p:txBody>
          <a:bodyPr wrap="square" lIns="0" tIns="0" rIns="0" bIns="0" rtlCol="0" anchor="ctr"/>
          <a:lstStyle/>
          <a:p>
            <a:pPr indent="0" marL="0">
              <a:buNone/>
            </a:pPr>
            <a:r>
              <a:rPr lang="en-US" sz="900" spc="200" kern="0" dirty="0">
                <a:solidFill>
                  <a:srgbClr val="FF5700"/>
                </a:solidFill>
                <a:latin typeface="IBM Plex Mono" pitchFamily="34" charset="0"/>
                <a:ea typeface="IBM Plex Mono" pitchFamily="34" charset="-122"/>
                <a:cs typeface="IBM Plex Mono" pitchFamily="34" charset="-120"/>
              </a:rPr>
              <a:t>THE SERIES  </a:t>
            </a:r>
            <a:pPr indent="0" marL="0">
              <a:buNone/>
            </a:pPr>
            <a:r>
              <a:rPr lang="en-US" sz="1150" dirty="0">
                <a:solidFill>
                  <a:srgbClr val="1C1C1C"/>
                </a:solidFill>
                <a:latin typeface="Geist" pitchFamily="34" charset="0"/>
                <a:ea typeface="Geist" pitchFamily="34" charset="-122"/>
                <a:cs typeface="Geist" pitchFamily="34" charset="-120"/>
              </a:rPr>
              <a:t>We build an open-source agentic ERP in public — inventory, sales, finance, procurement, HR — one module at a time. Today is the vocabulary.</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3" name="Text 0"/>
          <p:cNvSpPr txBox="1"/>
          <p:nvPr/>
        </p:nvSpPr>
        <p:spPr>
          <a:xfrm>
            <a:off x="457200" y="274320"/>
            <a:ext cx="8229600" cy="248920"/>
          </a:xfrm>
          <a:prstGeom prst="rect">
            <a:avLst/>
          </a:prstGeom>
          <a:noFill/>
          <a:ln/>
        </p:spPr>
        <p:txBody>
          <a:bodyPr wrap="square" lIns="0" tIns="0" rIns="0" bIns="0" rtlCol="0" anchor="ctr"/>
          <a:lstStyle/>
          <a:p>
            <a:pPr indent="0" marL="0">
              <a:buNone/>
            </a:pPr>
            <a:r>
              <a:rPr lang="en-US" sz="1400" b="1" spc="100" kern="0" dirty="0">
                <a:solidFill>
                  <a:srgbClr val="1C1C1C"/>
                </a:solidFill>
                <a:latin typeface="Geist" pitchFamily="34" charset="0"/>
                <a:ea typeface="Geist" pitchFamily="34" charset="-122"/>
                <a:cs typeface="Geist" pitchFamily="34" charset="-120"/>
              </a:rPr>
              <a:t>learn  with  </a:t>
            </a:r>
            <a:pPr indent="0" marL="0">
              <a:buNone/>
            </a:pPr>
            <a:r>
              <a:rPr lang="en-US" sz="1400" b="1" spc="100" kern="0" dirty="0">
                <a:solidFill>
                  <a:srgbClr val="FF5700"/>
                </a:solidFill>
                <a:latin typeface="Geist" pitchFamily="34" charset="0"/>
                <a:ea typeface="Geist" pitchFamily="34" charset="-122"/>
                <a:cs typeface="Geist" pitchFamily="34" charset="-120"/>
              </a:rPr>
              <a:t>harsha</a:t>
            </a:r>
            <a:pPr indent="0" marL="0">
              <a:buNone/>
            </a:pPr>
            <a:r>
              <a:rPr lang="en-US" sz="600" b="1" spc="100" kern="0" dirty="0">
                <a:solidFill>
                  <a:srgbClr val="FF5700"/>
                </a:solidFill>
                <a:latin typeface="Geist" pitchFamily="34" charset="0"/>
                <a:ea typeface="Geist" pitchFamily="34" charset="-122"/>
                <a:cs typeface="Geist" pitchFamily="34" charset="-120"/>
              </a:rPr>
              <a:t>  ■</a:t>
            </a:r>
            <a:endParaRPr lang="en-US" sz="1400" dirty="0"/>
          </a:p>
        </p:txBody>
      </p:sp>
      <p:sp>
        <p:nvSpPr>
          <p:cNvPr id="4" name="Shape 1"/>
          <p:cNvSpPr/>
          <p:nvPr/>
        </p:nvSpPr>
        <p:spPr>
          <a:xfrm>
            <a:off x="457200" y="905256"/>
            <a:ext cx="91440" cy="91440"/>
          </a:xfrm>
          <a:prstGeom prst="rect">
            <a:avLst/>
          </a:prstGeom>
          <a:solidFill>
            <a:srgbClr val="FF5700"/>
          </a:solidFill>
          <a:ln/>
        </p:spPr>
      </p:sp>
      <p:sp>
        <p:nvSpPr>
          <p:cNvPr id="5" name="Text 2"/>
          <p:cNvSpPr txBox="1"/>
          <p:nvPr/>
        </p:nvSpPr>
        <p:spPr>
          <a:xfrm>
            <a:off x="621792" y="804672"/>
            <a:ext cx="6400800" cy="292608"/>
          </a:xfrm>
          <a:prstGeom prst="rect">
            <a:avLst/>
          </a:prstGeom>
          <a:noFill/>
          <a:ln/>
        </p:spPr>
        <p:txBody>
          <a:bodyPr wrap="square" lIns="0" tIns="0" rIns="0" bIns="0" rtlCol="0" anchor="ctr"/>
          <a:lstStyle/>
          <a:p>
            <a:pPr indent="0" marL="0">
              <a:buNone/>
            </a:pPr>
            <a:r>
              <a:rPr lang="en-US" sz="1000" spc="400" kern="0" dirty="0">
                <a:solidFill>
                  <a:srgbClr val="FF5700"/>
                </a:solidFill>
                <a:latin typeface="IBM Plex Mono" pitchFamily="34" charset="0"/>
                <a:ea typeface="IBM Plex Mono" pitchFamily="34" charset="-122"/>
                <a:cs typeface="IBM Plex Mono" pitchFamily="34" charset="-120"/>
              </a:rPr>
              <a:t>THE ONE-LINE DEFINITION</a:t>
            </a:r>
            <a:endParaRPr lang="en-US" sz="1000" dirty="0"/>
          </a:p>
        </p:txBody>
      </p:sp>
      <p:sp>
        <p:nvSpPr>
          <p:cNvPr id="6" name="Text 3"/>
          <p:cNvSpPr txBox="1"/>
          <p:nvPr/>
        </p:nvSpPr>
        <p:spPr>
          <a:xfrm>
            <a:off x="457200" y="4754880"/>
            <a:ext cx="5943600" cy="228600"/>
          </a:xfrm>
          <a:prstGeom prst="rect">
            <a:avLst/>
          </a:prstGeom>
          <a:noFill/>
          <a:ln/>
        </p:spPr>
        <p:txBody>
          <a:bodyPr wrap="square" lIns="0" tIns="0" rIns="0" bIns="0" rtlCol="0" anchor="ctr"/>
          <a:lstStyle/>
          <a:p>
            <a:pPr indent="0" marL="0">
              <a:buNone/>
            </a:pPr>
            <a:r>
              <a:rPr lang="en-US" sz="800" spc="100" kern="0" dirty="0">
                <a:solidFill>
                  <a:srgbClr val="919191"/>
                </a:solidFill>
                <a:latin typeface="IBM Plex Mono" pitchFamily="34" charset="0"/>
                <a:ea typeface="IBM Plex Mono" pitchFamily="34" charset="-122"/>
                <a:cs typeface="IBM Plex Mono" pitchFamily="34" charset="-120"/>
              </a:rPr>
              <a:t>Arthashastra Learning · The Agentic Enterprise</a:t>
            </a:r>
            <a:endParaRPr lang="en-US" sz="800" dirty="0"/>
          </a:p>
        </p:txBody>
      </p:sp>
      <p:sp>
        <p:nvSpPr>
          <p:cNvPr id="7" name="Text 4"/>
          <p:cNvSpPr txBox="1"/>
          <p:nvPr/>
        </p:nvSpPr>
        <p:spPr>
          <a:xfrm>
            <a:off x="6858000" y="4754880"/>
            <a:ext cx="1828800" cy="228600"/>
          </a:xfrm>
          <a:prstGeom prst="rect">
            <a:avLst/>
          </a:prstGeom>
          <a:noFill/>
          <a:ln/>
        </p:spPr>
        <p:txBody>
          <a:bodyPr wrap="square" lIns="0" tIns="0" rIns="0" bIns="0" rtlCol="0" anchor="ctr"/>
          <a:lstStyle/>
          <a:p>
            <a:pPr algn="r" indent="0" marL="0">
              <a:buNone/>
            </a:pPr>
            <a:r>
              <a:rPr lang="en-US" sz="800" spc="100" kern="0" dirty="0">
                <a:solidFill>
                  <a:srgbClr val="919191"/>
                </a:solidFill>
                <a:latin typeface="IBM Plex Mono" pitchFamily="34" charset="0"/>
                <a:ea typeface="IBM Plex Mono" pitchFamily="34" charset="-122"/>
                <a:cs typeface="IBM Plex Mono" pitchFamily="34" charset="-120"/>
              </a:rPr>
              <a:t>arthashastra.ai</a:t>
            </a:r>
            <a:endParaRPr lang="en-US" sz="800" dirty="0"/>
          </a:p>
        </p:txBody>
      </p:sp>
      <p:sp>
        <p:nvSpPr>
          <p:cNvPr id="8" name="Text 5"/>
          <p:cNvSpPr txBox="1"/>
          <p:nvPr/>
        </p:nvSpPr>
        <p:spPr>
          <a:xfrm>
            <a:off x="457200" y="1005840"/>
            <a:ext cx="8229600" cy="1737360"/>
          </a:xfrm>
          <a:prstGeom prst="rect">
            <a:avLst/>
          </a:prstGeom>
          <a:noFill/>
          <a:ln/>
        </p:spPr>
        <p:txBody>
          <a:bodyPr wrap="square" lIns="0" tIns="0" rIns="0" bIns="0" rtlCol="0" anchor="t"/>
          <a:lstStyle/>
          <a:p>
            <a:pPr indent="0" marL="0">
              <a:lnSpc>
                <a:spcPct val="110000"/>
              </a:lnSpc>
              <a:buNone/>
            </a:pPr>
            <a:r>
              <a:rPr lang="en-US" sz="3000" b="1" spc="-100" kern="0" dirty="0">
                <a:solidFill>
                  <a:srgbClr val="1C1C1C"/>
                </a:solidFill>
                <a:latin typeface="Geist" pitchFamily="34" charset="0"/>
                <a:ea typeface="Geist" pitchFamily="34" charset="-122"/>
                <a:cs typeface="Geist" pitchFamily="34" charset="-120"/>
              </a:rPr>
              <a:t>An agent is an LLM that </a:t>
            </a:r>
            <a:pPr indent="0" marL="0">
              <a:lnSpc>
                <a:spcPct val="110000"/>
              </a:lnSpc>
              <a:buNone/>
            </a:pPr>
            <a:r>
              <a:rPr lang="en-US" sz="3000" b="1" spc="-100" kern="0" dirty="0">
                <a:solidFill>
                  <a:srgbClr val="FF5700"/>
                </a:solidFill>
                <a:latin typeface="Geist" pitchFamily="34" charset="0"/>
                <a:ea typeface="Geist" pitchFamily="34" charset="-122"/>
                <a:cs typeface="Geist" pitchFamily="34" charset="-120"/>
              </a:rPr>
              <a:t>decides</a:t>
            </a:r>
            <a:pPr indent="0" marL="0">
              <a:lnSpc>
                <a:spcPct val="110000"/>
              </a:lnSpc>
              <a:buNone/>
            </a:pPr>
            <a:r>
              <a:rPr lang="en-US" sz="3000" b="1" spc="-100" kern="0" dirty="0">
                <a:solidFill>
                  <a:srgbClr val="1C1C1C"/>
                </a:solidFill>
                <a:latin typeface="Geist" pitchFamily="34" charset="0"/>
                <a:ea typeface="Geist" pitchFamily="34" charset="-122"/>
                <a:cs typeface="Geist" pitchFamily="34" charset="-120"/>
              </a:rPr>
              <a:t> what to do next — in a </a:t>
            </a:r>
            <a:pPr indent="0" marL="0">
              <a:lnSpc>
                <a:spcPct val="110000"/>
              </a:lnSpc>
              <a:buNone/>
            </a:pPr>
            <a:r>
              <a:rPr lang="en-US" sz="3000" b="1" spc="-100" kern="0" dirty="0">
                <a:solidFill>
                  <a:srgbClr val="FF5700"/>
                </a:solidFill>
                <a:latin typeface="Geist" pitchFamily="34" charset="0"/>
                <a:ea typeface="Geist" pitchFamily="34" charset="-122"/>
                <a:cs typeface="Geist" pitchFamily="34" charset="-120"/>
              </a:rPr>
              <a:t>loop</a:t>
            </a:r>
            <a:pPr indent="0" marL="0">
              <a:lnSpc>
                <a:spcPct val="110000"/>
              </a:lnSpc>
              <a:buNone/>
            </a:pPr>
            <a:r>
              <a:rPr lang="en-US" sz="3000" b="1" spc="-100" kern="0" dirty="0">
                <a:solidFill>
                  <a:srgbClr val="1C1C1C"/>
                </a:solidFill>
                <a:latin typeface="Geist" pitchFamily="34" charset="0"/>
                <a:ea typeface="Geist" pitchFamily="34" charset="-122"/>
                <a:cs typeface="Geist" pitchFamily="34" charset="-120"/>
              </a:rPr>
              <a:t> — using </a:t>
            </a:r>
            <a:pPr indent="0" marL="0">
              <a:lnSpc>
                <a:spcPct val="110000"/>
              </a:lnSpc>
              <a:buNone/>
            </a:pPr>
            <a:r>
              <a:rPr lang="en-US" sz="3000" b="1" spc="-100" kern="0" dirty="0">
                <a:solidFill>
                  <a:srgbClr val="FF5700"/>
                </a:solidFill>
                <a:latin typeface="Geist" pitchFamily="34" charset="0"/>
                <a:ea typeface="Geist" pitchFamily="34" charset="-122"/>
                <a:cs typeface="Geist" pitchFamily="34" charset="-120"/>
              </a:rPr>
              <a:t>tools</a:t>
            </a:r>
            <a:pPr indent="0" marL="0">
              <a:lnSpc>
                <a:spcPct val="110000"/>
              </a:lnSpc>
              <a:buNone/>
            </a:pPr>
            <a:r>
              <a:rPr lang="en-US" sz="3000" b="1" spc="-100" kern="0" dirty="0">
                <a:solidFill>
                  <a:srgbClr val="1C1C1C"/>
                </a:solidFill>
                <a:latin typeface="Geist" pitchFamily="34" charset="0"/>
                <a:ea typeface="Geist" pitchFamily="34" charset="-122"/>
                <a:cs typeface="Geist" pitchFamily="34" charset="-120"/>
              </a:rPr>
              <a:t>, until a goal is met.</a:t>
            </a:r>
            <a:endParaRPr lang="en-US" sz="3000" dirty="0"/>
          </a:p>
        </p:txBody>
      </p:sp>
      <p:sp>
        <p:nvSpPr>
          <p:cNvPr id="9" name="Shape 6"/>
          <p:cNvSpPr/>
          <p:nvPr/>
        </p:nvSpPr>
        <p:spPr>
          <a:xfrm>
            <a:off x="457200" y="2926080"/>
            <a:ext cx="2606040" cy="1188720"/>
          </a:xfrm>
          <a:prstGeom prst="rect">
            <a:avLst/>
          </a:prstGeom>
          <a:solidFill>
            <a:srgbClr val="F7F7F5"/>
          </a:solidFill>
          <a:ln w="9525">
            <a:solidFill>
              <a:srgbClr val="E5E5E5"/>
            </a:solidFill>
            <a:prstDash val="solid"/>
          </a:ln>
        </p:spPr>
      </p:sp>
      <p:sp>
        <p:nvSpPr>
          <p:cNvPr id="10" name="Text 7"/>
          <p:cNvSpPr txBox="1"/>
          <p:nvPr/>
        </p:nvSpPr>
        <p:spPr>
          <a:xfrm>
            <a:off x="685800" y="3063240"/>
            <a:ext cx="2194560" cy="274320"/>
          </a:xfrm>
          <a:prstGeom prst="rect">
            <a:avLst/>
          </a:prstGeom>
          <a:noFill/>
          <a:ln/>
        </p:spPr>
        <p:txBody>
          <a:bodyPr wrap="square" lIns="0" tIns="0" rIns="0" bIns="0" rtlCol="0" anchor="t"/>
          <a:lstStyle/>
          <a:p>
            <a:pPr indent="0" marL="0">
              <a:buNone/>
            </a:pPr>
            <a:r>
              <a:rPr lang="en-US" sz="1000" dirty="0">
                <a:solidFill>
                  <a:srgbClr val="FF5700"/>
                </a:solidFill>
                <a:latin typeface="IBM Plex Mono" pitchFamily="34" charset="0"/>
                <a:ea typeface="IBM Plex Mono" pitchFamily="34" charset="-122"/>
                <a:cs typeface="IBM Plex Mono" pitchFamily="34" charset="-120"/>
              </a:rPr>
              <a:t>DECIDES</a:t>
            </a:r>
            <a:endParaRPr lang="en-US" sz="1000" dirty="0"/>
          </a:p>
        </p:txBody>
      </p:sp>
      <p:sp>
        <p:nvSpPr>
          <p:cNvPr id="11" name="Text 8"/>
          <p:cNvSpPr txBox="1"/>
          <p:nvPr/>
        </p:nvSpPr>
        <p:spPr>
          <a:xfrm>
            <a:off x="685800" y="3383280"/>
            <a:ext cx="2194560" cy="640080"/>
          </a:xfrm>
          <a:prstGeom prst="rect">
            <a:avLst/>
          </a:prstGeom>
          <a:noFill/>
          <a:ln/>
        </p:spPr>
        <p:txBody>
          <a:bodyPr wrap="square" lIns="0" tIns="0" rIns="0" bIns="0" rtlCol="0" anchor="t"/>
          <a:lstStyle/>
          <a:p>
            <a:pPr indent="0" marL="0">
              <a:buNone/>
            </a:pPr>
            <a:r>
              <a:rPr lang="en-US" sz="1150" dirty="0">
                <a:solidFill>
                  <a:srgbClr val="1C1C1C"/>
                </a:solidFill>
                <a:latin typeface="Geist" pitchFamily="34" charset="0"/>
                <a:ea typeface="Geist" pitchFamily="34" charset="-122"/>
                <a:cs typeface="Geist" pitchFamily="34" charset="-120"/>
              </a:rPr>
              <a:t>the model picks the next action — not the developer</a:t>
            </a:r>
            <a:endParaRPr lang="en-US" sz="1150" dirty="0"/>
          </a:p>
        </p:txBody>
      </p:sp>
      <p:sp>
        <p:nvSpPr>
          <p:cNvPr id="12" name="Shape 9"/>
          <p:cNvSpPr/>
          <p:nvPr/>
        </p:nvSpPr>
        <p:spPr>
          <a:xfrm>
            <a:off x="3246120" y="2926080"/>
            <a:ext cx="2606040" cy="1188720"/>
          </a:xfrm>
          <a:prstGeom prst="rect">
            <a:avLst/>
          </a:prstGeom>
          <a:solidFill>
            <a:srgbClr val="F7F7F5"/>
          </a:solidFill>
          <a:ln w="9525">
            <a:solidFill>
              <a:srgbClr val="E5E5E5"/>
            </a:solidFill>
            <a:prstDash val="solid"/>
          </a:ln>
        </p:spPr>
      </p:sp>
      <p:sp>
        <p:nvSpPr>
          <p:cNvPr id="13" name="Text 10"/>
          <p:cNvSpPr txBox="1"/>
          <p:nvPr/>
        </p:nvSpPr>
        <p:spPr>
          <a:xfrm>
            <a:off x="3474720" y="3063240"/>
            <a:ext cx="2194560" cy="274320"/>
          </a:xfrm>
          <a:prstGeom prst="rect">
            <a:avLst/>
          </a:prstGeom>
          <a:noFill/>
          <a:ln/>
        </p:spPr>
        <p:txBody>
          <a:bodyPr wrap="square" lIns="0" tIns="0" rIns="0" bIns="0" rtlCol="0" anchor="t"/>
          <a:lstStyle/>
          <a:p>
            <a:pPr indent="0" marL="0">
              <a:buNone/>
            </a:pPr>
            <a:r>
              <a:rPr lang="en-US" sz="1000" dirty="0">
                <a:solidFill>
                  <a:srgbClr val="FF5700"/>
                </a:solidFill>
                <a:latin typeface="IBM Plex Mono" pitchFamily="34" charset="0"/>
                <a:ea typeface="IBM Plex Mono" pitchFamily="34" charset="-122"/>
                <a:cs typeface="IBM Plex Mono" pitchFamily="34" charset="-120"/>
              </a:rPr>
              <a:t>LOOP</a:t>
            </a:r>
            <a:endParaRPr lang="en-US" sz="1000" dirty="0"/>
          </a:p>
        </p:txBody>
      </p:sp>
      <p:sp>
        <p:nvSpPr>
          <p:cNvPr id="14" name="Text 11"/>
          <p:cNvSpPr txBox="1"/>
          <p:nvPr/>
        </p:nvSpPr>
        <p:spPr>
          <a:xfrm>
            <a:off x="3474720" y="3383280"/>
            <a:ext cx="2194560" cy="640080"/>
          </a:xfrm>
          <a:prstGeom prst="rect">
            <a:avLst/>
          </a:prstGeom>
          <a:noFill/>
          <a:ln/>
        </p:spPr>
        <p:txBody>
          <a:bodyPr wrap="square" lIns="0" tIns="0" rIns="0" bIns="0" rtlCol="0" anchor="t"/>
          <a:lstStyle/>
          <a:p>
            <a:pPr indent="0" marL="0">
              <a:buNone/>
            </a:pPr>
            <a:r>
              <a:rPr lang="en-US" sz="1150" dirty="0">
                <a:solidFill>
                  <a:srgbClr val="1C1C1C"/>
                </a:solidFill>
                <a:latin typeface="Geist" pitchFamily="34" charset="0"/>
                <a:ea typeface="Geist" pitchFamily="34" charset="-122"/>
                <a:cs typeface="Geist" pitchFamily="34" charset="-120"/>
              </a:rPr>
              <a:t>plan → act → observe → repeat</a:t>
            </a:r>
            <a:endParaRPr lang="en-US" sz="1150" dirty="0"/>
          </a:p>
        </p:txBody>
      </p:sp>
      <p:sp>
        <p:nvSpPr>
          <p:cNvPr id="15" name="Shape 12"/>
          <p:cNvSpPr/>
          <p:nvPr/>
        </p:nvSpPr>
        <p:spPr>
          <a:xfrm>
            <a:off x="6035040" y="2926080"/>
            <a:ext cx="2606040" cy="1188720"/>
          </a:xfrm>
          <a:prstGeom prst="rect">
            <a:avLst/>
          </a:prstGeom>
          <a:solidFill>
            <a:srgbClr val="F7F7F5"/>
          </a:solidFill>
          <a:ln w="9525">
            <a:solidFill>
              <a:srgbClr val="E5E5E5"/>
            </a:solidFill>
            <a:prstDash val="solid"/>
          </a:ln>
        </p:spPr>
      </p:sp>
      <p:sp>
        <p:nvSpPr>
          <p:cNvPr id="16" name="Text 13"/>
          <p:cNvSpPr txBox="1"/>
          <p:nvPr/>
        </p:nvSpPr>
        <p:spPr>
          <a:xfrm>
            <a:off x="6263640" y="3063240"/>
            <a:ext cx="2194560" cy="274320"/>
          </a:xfrm>
          <a:prstGeom prst="rect">
            <a:avLst/>
          </a:prstGeom>
          <a:noFill/>
          <a:ln/>
        </p:spPr>
        <p:txBody>
          <a:bodyPr wrap="square" lIns="0" tIns="0" rIns="0" bIns="0" rtlCol="0" anchor="t"/>
          <a:lstStyle/>
          <a:p>
            <a:pPr indent="0" marL="0">
              <a:buNone/>
            </a:pPr>
            <a:r>
              <a:rPr lang="en-US" sz="1000" dirty="0">
                <a:solidFill>
                  <a:srgbClr val="FF5700"/>
                </a:solidFill>
                <a:latin typeface="IBM Plex Mono" pitchFamily="34" charset="0"/>
                <a:ea typeface="IBM Plex Mono" pitchFamily="34" charset="-122"/>
                <a:cs typeface="IBM Plex Mono" pitchFamily="34" charset="-120"/>
              </a:rPr>
              <a:t>TOOLS</a:t>
            </a:r>
            <a:endParaRPr lang="en-US" sz="1000" dirty="0"/>
          </a:p>
        </p:txBody>
      </p:sp>
      <p:sp>
        <p:nvSpPr>
          <p:cNvPr id="17" name="Text 14"/>
          <p:cNvSpPr txBox="1"/>
          <p:nvPr/>
        </p:nvSpPr>
        <p:spPr>
          <a:xfrm>
            <a:off x="6263640" y="3383280"/>
            <a:ext cx="2194560" cy="640080"/>
          </a:xfrm>
          <a:prstGeom prst="rect">
            <a:avLst/>
          </a:prstGeom>
          <a:noFill/>
          <a:ln/>
        </p:spPr>
        <p:txBody>
          <a:bodyPr wrap="square" lIns="0" tIns="0" rIns="0" bIns="0" rtlCol="0" anchor="t"/>
          <a:lstStyle/>
          <a:p>
            <a:pPr indent="0" marL="0">
              <a:buNone/>
            </a:pPr>
            <a:r>
              <a:rPr lang="en-US" sz="1150" dirty="0">
                <a:solidFill>
                  <a:srgbClr val="1C1C1C"/>
                </a:solidFill>
                <a:latin typeface="Geist" pitchFamily="34" charset="0"/>
                <a:ea typeface="Geist" pitchFamily="34" charset="-122"/>
                <a:cs typeface="Geist" pitchFamily="34" charset="-120"/>
              </a:rPr>
              <a:t>it can touch systems: APIs, databases, other agents</a:t>
            </a:r>
            <a:endParaRPr lang="en-US" sz="1150" dirty="0"/>
          </a:p>
        </p:txBody>
      </p:sp>
      <p:sp>
        <p:nvSpPr>
          <p:cNvPr id="18" name="Text 15"/>
          <p:cNvSpPr txBox="1"/>
          <p:nvPr/>
        </p:nvSpPr>
        <p:spPr>
          <a:xfrm>
            <a:off x="457200" y="4251960"/>
            <a:ext cx="8229600" cy="274320"/>
          </a:xfrm>
          <a:prstGeom prst="rect">
            <a:avLst/>
          </a:prstGeom>
          <a:noFill/>
          <a:ln/>
        </p:spPr>
        <p:txBody>
          <a:bodyPr wrap="square" lIns="0" tIns="0" rIns="0" bIns="0" rtlCol="0" anchor="t"/>
          <a:lstStyle/>
          <a:p>
            <a:pPr indent="0" marL="0">
              <a:buNone/>
            </a:pPr>
            <a:r>
              <a:rPr lang="en-US" sz="1000" dirty="0">
                <a:solidFill>
                  <a:srgbClr val="919191"/>
                </a:solidFill>
                <a:latin typeface="Geist" pitchFamily="34" charset="0"/>
                <a:ea typeface="Geist" pitchFamily="34" charset="-122"/>
                <a:cs typeface="Geist" pitchFamily="34" charset="-120"/>
              </a:rPr>
              <a:t>Remove any one of the three and it isn't an agent.</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3" name="Text 0"/>
          <p:cNvSpPr txBox="1"/>
          <p:nvPr/>
        </p:nvSpPr>
        <p:spPr>
          <a:xfrm>
            <a:off x="457200" y="274320"/>
            <a:ext cx="8229600" cy="248920"/>
          </a:xfrm>
          <a:prstGeom prst="rect">
            <a:avLst/>
          </a:prstGeom>
          <a:noFill/>
          <a:ln/>
        </p:spPr>
        <p:txBody>
          <a:bodyPr wrap="square" lIns="0" tIns="0" rIns="0" bIns="0" rtlCol="0" anchor="ctr"/>
          <a:lstStyle/>
          <a:p>
            <a:pPr indent="0" marL="0">
              <a:buNone/>
            </a:pPr>
            <a:r>
              <a:rPr lang="en-US" sz="1400" b="1" spc="100" kern="0" dirty="0">
                <a:solidFill>
                  <a:srgbClr val="1C1C1C"/>
                </a:solidFill>
                <a:latin typeface="Geist" pitchFamily="34" charset="0"/>
                <a:ea typeface="Geist" pitchFamily="34" charset="-122"/>
                <a:cs typeface="Geist" pitchFamily="34" charset="-120"/>
              </a:rPr>
              <a:t>learn  with  </a:t>
            </a:r>
            <a:pPr indent="0" marL="0">
              <a:buNone/>
            </a:pPr>
            <a:r>
              <a:rPr lang="en-US" sz="1400" b="1" spc="100" kern="0" dirty="0">
                <a:solidFill>
                  <a:srgbClr val="FF5700"/>
                </a:solidFill>
                <a:latin typeface="Geist" pitchFamily="34" charset="0"/>
                <a:ea typeface="Geist" pitchFamily="34" charset="-122"/>
                <a:cs typeface="Geist" pitchFamily="34" charset="-120"/>
              </a:rPr>
              <a:t>harsha</a:t>
            </a:r>
            <a:pPr indent="0" marL="0">
              <a:buNone/>
            </a:pPr>
            <a:r>
              <a:rPr lang="en-US" sz="600" b="1" spc="100" kern="0" dirty="0">
                <a:solidFill>
                  <a:srgbClr val="FF5700"/>
                </a:solidFill>
                <a:latin typeface="Geist" pitchFamily="34" charset="0"/>
                <a:ea typeface="Geist" pitchFamily="34" charset="-122"/>
                <a:cs typeface="Geist" pitchFamily="34" charset="-120"/>
              </a:rPr>
              <a:t>  ■</a:t>
            </a:r>
            <a:endParaRPr lang="en-US" sz="1400" dirty="0"/>
          </a:p>
        </p:txBody>
      </p:sp>
      <p:sp>
        <p:nvSpPr>
          <p:cNvPr id="4" name="Shape 1"/>
          <p:cNvSpPr/>
          <p:nvPr/>
        </p:nvSpPr>
        <p:spPr>
          <a:xfrm>
            <a:off x="457200" y="905256"/>
            <a:ext cx="91440" cy="91440"/>
          </a:xfrm>
          <a:prstGeom prst="rect">
            <a:avLst/>
          </a:prstGeom>
          <a:solidFill>
            <a:srgbClr val="FF5700"/>
          </a:solidFill>
          <a:ln/>
        </p:spPr>
      </p:sp>
      <p:sp>
        <p:nvSpPr>
          <p:cNvPr id="5" name="Text 2"/>
          <p:cNvSpPr txBox="1"/>
          <p:nvPr/>
        </p:nvSpPr>
        <p:spPr>
          <a:xfrm>
            <a:off x="621792" y="804672"/>
            <a:ext cx="6400800" cy="292608"/>
          </a:xfrm>
          <a:prstGeom prst="rect">
            <a:avLst/>
          </a:prstGeom>
          <a:noFill/>
          <a:ln/>
        </p:spPr>
        <p:txBody>
          <a:bodyPr wrap="square" lIns="0" tIns="0" rIns="0" bIns="0" rtlCol="0" anchor="ctr"/>
          <a:lstStyle/>
          <a:p>
            <a:pPr indent="0" marL="0">
              <a:buNone/>
            </a:pPr>
            <a:r>
              <a:rPr lang="en-US" sz="1000" spc="400" kern="0" dirty="0">
                <a:solidFill>
                  <a:srgbClr val="FF5700"/>
                </a:solidFill>
                <a:latin typeface="IBM Plex Mono" pitchFamily="34" charset="0"/>
                <a:ea typeface="IBM Plex Mono" pitchFamily="34" charset="-122"/>
                <a:cs typeface="IBM Plex Mono" pitchFamily="34" charset="-120"/>
              </a:rPr>
              <a:t>AUTONOMY</a:t>
            </a:r>
            <a:endParaRPr lang="en-US" sz="1000" dirty="0"/>
          </a:p>
        </p:txBody>
      </p:sp>
      <p:sp>
        <p:nvSpPr>
          <p:cNvPr id="6" name="Text 3"/>
          <p:cNvSpPr txBox="1"/>
          <p:nvPr/>
        </p:nvSpPr>
        <p:spPr>
          <a:xfrm>
            <a:off x="457200" y="1078992"/>
            <a:ext cx="8229600" cy="640080"/>
          </a:xfrm>
          <a:prstGeom prst="rect">
            <a:avLst/>
          </a:prstGeom>
          <a:noFill/>
          <a:ln/>
        </p:spPr>
        <p:txBody>
          <a:bodyPr wrap="square" lIns="0" tIns="0" rIns="0" bIns="0" rtlCol="0" anchor="ctr"/>
          <a:lstStyle/>
          <a:p>
            <a:pPr indent="0" marL="0">
              <a:buNone/>
            </a:pPr>
            <a:r>
              <a:rPr lang="en-US" sz="2800" b="1" spc="-100" kern="0" dirty="0">
                <a:solidFill>
                  <a:srgbClr val="1C1C1C"/>
                </a:solidFill>
                <a:latin typeface="Geist" pitchFamily="34" charset="0"/>
                <a:ea typeface="Geist" pitchFamily="34" charset="-122"/>
                <a:cs typeface="Geist" pitchFamily="34" charset="-120"/>
              </a:rPr>
              <a:t>It's a spectrum, not a switch</a:t>
            </a:r>
            <a:endParaRPr lang="en-US" sz="2800" dirty="0"/>
          </a:p>
        </p:txBody>
      </p:sp>
      <p:sp>
        <p:nvSpPr>
          <p:cNvPr id="7" name="Text 4"/>
          <p:cNvSpPr txBox="1"/>
          <p:nvPr/>
        </p:nvSpPr>
        <p:spPr>
          <a:xfrm>
            <a:off x="457200" y="4754880"/>
            <a:ext cx="5943600" cy="228600"/>
          </a:xfrm>
          <a:prstGeom prst="rect">
            <a:avLst/>
          </a:prstGeom>
          <a:noFill/>
          <a:ln/>
        </p:spPr>
        <p:txBody>
          <a:bodyPr wrap="square" lIns="0" tIns="0" rIns="0" bIns="0" rtlCol="0" anchor="ctr"/>
          <a:lstStyle/>
          <a:p>
            <a:pPr indent="0" marL="0">
              <a:buNone/>
            </a:pPr>
            <a:r>
              <a:rPr lang="en-US" sz="800" spc="100" kern="0" dirty="0">
                <a:solidFill>
                  <a:srgbClr val="919191"/>
                </a:solidFill>
                <a:latin typeface="IBM Plex Mono" pitchFamily="34" charset="0"/>
                <a:ea typeface="IBM Plex Mono" pitchFamily="34" charset="-122"/>
                <a:cs typeface="IBM Plex Mono" pitchFamily="34" charset="-120"/>
              </a:rPr>
              <a:t>Arthashastra Learning · The Agentic Enterprise</a:t>
            </a:r>
            <a:endParaRPr lang="en-US" sz="800" dirty="0"/>
          </a:p>
        </p:txBody>
      </p:sp>
      <p:sp>
        <p:nvSpPr>
          <p:cNvPr id="8" name="Text 5"/>
          <p:cNvSpPr txBox="1"/>
          <p:nvPr/>
        </p:nvSpPr>
        <p:spPr>
          <a:xfrm>
            <a:off x="6858000" y="4754880"/>
            <a:ext cx="1828800" cy="228600"/>
          </a:xfrm>
          <a:prstGeom prst="rect">
            <a:avLst/>
          </a:prstGeom>
          <a:noFill/>
          <a:ln/>
        </p:spPr>
        <p:txBody>
          <a:bodyPr wrap="square" lIns="0" tIns="0" rIns="0" bIns="0" rtlCol="0" anchor="ctr"/>
          <a:lstStyle/>
          <a:p>
            <a:pPr algn="r" indent="0" marL="0">
              <a:buNone/>
            </a:pPr>
            <a:r>
              <a:rPr lang="en-US" sz="800" spc="100" kern="0" dirty="0">
                <a:solidFill>
                  <a:srgbClr val="919191"/>
                </a:solidFill>
                <a:latin typeface="IBM Plex Mono" pitchFamily="34" charset="0"/>
                <a:ea typeface="IBM Plex Mono" pitchFamily="34" charset="-122"/>
                <a:cs typeface="IBM Plex Mono" pitchFamily="34" charset="-120"/>
              </a:rPr>
              <a:t>arthashastra.ai</a:t>
            </a:r>
            <a:endParaRPr lang="en-US" sz="800" dirty="0"/>
          </a:p>
        </p:txBody>
      </p:sp>
      <p:sp>
        <p:nvSpPr>
          <p:cNvPr id="9" name="Shape 6"/>
          <p:cNvSpPr/>
          <p:nvPr/>
        </p:nvSpPr>
        <p:spPr>
          <a:xfrm>
            <a:off x="457200" y="1874520"/>
            <a:ext cx="1463040" cy="868680"/>
          </a:xfrm>
          <a:prstGeom prst="rect">
            <a:avLst/>
          </a:prstGeom>
          <a:solidFill>
            <a:srgbClr val="F7F7F5"/>
          </a:solidFill>
          <a:ln w="9525">
            <a:solidFill>
              <a:srgbClr val="E5E5E5"/>
            </a:solidFill>
            <a:prstDash val="solid"/>
          </a:ln>
        </p:spPr>
      </p:sp>
      <p:sp>
        <p:nvSpPr>
          <p:cNvPr id="10" name="Text 7"/>
          <p:cNvSpPr txBox="1"/>
          <p:nvPr/>
        </p:nvSpPr>
        <p:spPr>
          <a:xfrm>
            <a:off x="457200" y="1874520"/>
            <a:ext cx="1463040" cy="868680"/>
          </a:xfrm>
          <a:prstGeom prst="rect">
            <a:avLst/>
          </a:prstGeom>
          <a:noFill/>
          <a:ln/>
        </p:spPr>
        <p:txBody>
          <a:bodyPr wrap="square" lIns="635" tIns="635" rIns="635" bIns="635" rtlCol="0" anchor="ctr"/>
          <a:lstStyle/>
          <a:p>
            <a:pPr algn="ctr" indent="0" marL="0">
              <a:buNone/>
            </a:pPr>
            <a:r>
              <a:rPr lang="en-US" sz="1100" b="1" dirty="0">
                <a:solidFill>
                  <a:srgbClr val="1C1C1C"/>
                </a:solidFill>
                <a:latin typeface="Geist" pitchFamily="34" charset="0"/>
                <a:ea typeface="Geist" pitchFamily="34" charset="-122"/>
                <a:cs typeface="Geist" pitchFamily="34" charset="-120"/>
              </a:rPr>
              <a:t>Chatbot</a:t>
            </a:r>
            <a:endParaRPr lang="en-US" sz="1100" dirty="0"/>
          </a:p>
        </p:txBody>
      </p:sp>
      <p:sp>
        <p:nvSpPr>
          <p:cNvPr id="11" name="Shape 8"/>
          <p:cNvSpPr/>
          <p:nvPr/>
        </p:nvSpPr>
        <p:spPr>
          <a:xfrm>
            <a:off x="1947672" y="2304288"/>
            <a:ext cx="182880" cy="0"/>
          </a:xfrm>
          <a:prstGeom prst="line">
            <a:avLst/>
          </a:prstGeom>
          <a:noFill/>
          <a:ln w="15875">
            <a:solidFill>
              <a:srgbClr val="919191"/>
            </a:solidFill>
            <a:prstDash val="solid"/>
            <a:tailEnd type="triangle"/>
          </a:ln>
        </p:spPr>
      </p:sp>
      <p:sp>
        <p:nvSpPr>
          <p:cNvPr id="12" name="Shape 9"/>
          <p:cNvSpPr/>
          <p:nvPr/>
        </p:nvSpPr>
        <p:spPr>
          <a:xfrm>
            <a:off x="2148840" y="1874520"/>
            <a:ext cx="1463040" cy="868680"/>
          </a:xfrm>
          <a:prstGeom prst="rect">
            <a:avLst/>
          </a:prstGeom>
          <a:solidFill>
            <a:srgbClr val="F7F7F5"/>
          </a:solidFill>
          <a:ln w="9525">
            <a:solidFill>
              <a:srgbClr val="E5E5E5"/>
            </a:solidFill>
            <a:prstDash val="solid"/>
          </a:ln>
        </p:spPr>
      </p:sp>
      <p:sp>
        <p:nvSpPr>
          <p:cNvPr id="13" name="Text 10"/>
          <p:cNvSpPr txBox="1"/>
          <p:nvPr/>
        </p:nvSpPr>
        <p:spPr>
          <a:xfrm>
            <a:off x="2148840" y="1874520"/>
            <a:ext cx="1463040" cy="868680"/>
          </a:xfrm>
          <a:prstGeom prst="rect">
            <a:avLst/>
          </a:prstGeom>
          <a:noFill/>
          <a:ln/>
        </p:spPr>
        <p:txBody>
          <a:bodyPr wrap="square" lIns="635" tIns="635" rIns="635" bIns="635" rtlCol="0" anchor="ctr"/>
          <a:lstStyle/>
          <a:p>
            <a:pPr algn="ctr" indent="0" marL="0">
              <a:buNone/>
            </a:pPr>
            <a:r>
              <a:rPr lang="en-US" sz="1100" b="1" dirty="0">
                <a:solidFill>
                  <a:srgbClr val="1C1C1C"/>
                </a:solidFill>
                <a:latin typeface="Geist" pitchFamily="34" charset="0"/>
                <a:ea typeface="Geist" pitchFamily="34" charset="-122"/>
                <a:cs typeface="Geist" pitchFamily="34" charset="-120"/>
              </a:rPr>
              <a:t>Prompt chain</a:t>
            </a:r>
            <a:endParaRPr lang="en-US" sz="1100" dirty="0"/>
          </a:p>
        </p:txBody>
      </p:sp>
      <p:sp>
        <p:nvSpPr>
          <p:cNvPr id="14" name="Shape 11"/>
          <p:cNvSpPr/>
          <p:nvPr/>
        </p:nvSpPr>
        <p:spPr>
          <a:xfrm>
            <a:off x="3639312" y="2304288"/>
            <a:ext cx="182880" cy="0"/>
          </a:xfrm>
          <a:prstGeom prst="line">
            <a:avLst/>
          </a:prstGeom>
          <a:noFill/>
          <a:ln w="15875">
            <a:solidFill>
              <a:srgbClr val="919191"/>
            </a:solidFill>
            <a:prstDash val="solid"/>
            <a:tailEnd type="triangle"/>
          </a:ln>
        </p:spPr>
      </p:sp>
      <p:sp>
        <p:nvSpPr>
          <p:cNvPr id="15" name="Shape 12"/>
          <p:cNvSpPr/>
          <p:nvPr/>
        </p:nvSpPr>
        <p:spPr>
          <a:xfrm>
            <a:off x="3840480" y="1874520"/>
            <a:ext cx="1463040" cy="868680"/>
          </a:xfrm>
          <a:prstGeom prst="rect">
            <a:avLst/>
          </a:prstGeom>
          <a:solidFill>
            <a:srgbClr val="F7F7F5"/>
          </a:solidFill>
          <a:ln w="9525">
            <a:solidFill>
              <a:srgbClr val="E5E5E5"/>
            </a:solidFill>
            <a:prstDash val="solid"/>
          </a:ln>
        </p:spPr>
      </p:sp>
      <p:sp>
        <p:nvSpPr>
          <p:cNvPr id="16" name="Text 13"/>
          <p:cNvSpPr txBox="1"/>
          <p:nvPr/>
        </p:nvSpPr>
        <p:spPr>
          <a:xfrm>
            <a:off x="3840480" y="1874520"/>
            <a:ext cx="1463040" cy="868680"/>
          </a:xfrm>
          <a:prstGeom prst="rect">
            <a:avLst/>
          </a:prstGeom>
          <a:noFill/>
          <a:ln/>
        </p:spPr>
        <p:txBody>
          <a:bodyPr wrap="square" lIns="635" tIns="635" rIns="635" bIns="635" rtlCol="0" anchor="ctr"/>
          <a:lstStyle/>
          <a:p>
            <a:pPr algn="ctr" indent="0" marL="0">
              <a:buNone/>
            </a:pPr>
            <a:r>
              <a:rPr lang="en-US" sz="1100" b="1" dirty="0">
                <a:solidFill>
                  <a:srgbClr val="1C1C1C"/>
                </a:solidFill>
                <a:latin typeface="Geist" pitchFamily="34" charset="0"/>
                <a:ea typeface="Geist" pitchFamily="34" charset="-122"/>
                <a:cs typeface="Geist" pitchFamily="34" charset="-120"/>
              </a:rPr>
              <a:t>Workflow with LLM steps</a:t>
            </a:r>
            <a:endParaRPr lang="en-US" sz="1100" dirty="0"/>
          </a:p>
        </p:txBody>
      </p:sp>
      <p:sp>
        <p:nvSpPr>
          <p:cNvPr id="17" name="Shape 14"/>
          <p:cNvSpPr/>
          <p:nvPr/>
        </p:nvSpPr>
        <p:spPr>
          <a:xfrm>
            <a:off x="5330952" y="2304288"/>
            <a:ext cx="182880" cy="0"/>
          </a:xfrm>
          <a:prstGeom prst="line">
            <a:avLst/>
          </a:prstGeom>
          <a:noFill/>
          <a:ln w="15875">
            <a:solidFill>
              <a:srgbClr val="919191"/>
            </a:solidFill>
            <a:prstDash val="solid"/>
            <a:tailEnd type="triangle"/>
          </a:ln>
        </p:spPr>
      </p:sp>
      <p:sp>
        <p:nvSpPr>
          <p:cNvPr id="18" name="Shape 15"/>
          <p:cNvSpPr/>
          <p:nvPr/>
        </p:nvSpPr>
        <p:spPr>
          <a:xfrm>
            <a:off x="5532120" y="1874520"/>
            <a:ext cx="1463040" cy="868680"/>
          </a:xfrm>
          <a:prstGeom prst="rect">
            <a:avLst/>
          </a:prstGeom>
          <a:solidFill>
            <a:srgbClr val="FFFFFF"/>
          </a:solidFill>
          <a:ln w="15875">
            <a:solidFill>
              <a:srgbClr val="FF5700"/>
            </a:solidFill>
            <a:prstDash val="solid"/>
          </a:ln>
        </p:spPr>
      </p:sp>
      <p:sp>
        <p:nvSpPr>
          <p:cNvPr id="19" name="Text 16"/>
          <p:cNvSpPr txBox="1"/>
          <p:nvPr/>
        </p:nvSpPr>
        <p:spPr>
          <a:xfrm>
            <a:off x="5532120" y="1874520"/>
            <a:ext cx="1463040" cy="868680"/>
          </a:xfrm>
          <a:prstGeom prst="rect">
            <a:avLst/>
          </a:prstGeom>
          <a:noFill/>
          <a:ln/>
        </p:spPr>
        <p:txBody>
          <a:bodyPr wrap="square" lIns="635" tIns="635" rIns="635" bIns="635" rtlCol="0" anchor="ctr"/>
          <a:lstStyle/>
          <a:p>
            <a:pPr algn="ctr" indent="0" marL="0">
              <a:buNone/>
            </a:pPr>
            <a:r>
              <a:rPr lang="en-US" sz="1100" b="1" dirty="0">
                <a:solidFill>
                  <a:srgbClr val="FF5700"/>
                </a:solidFill>
                <a:latin typeface="Geist" pitchFamily="34" charset="0"/>
                <a:ea typeface="Geist" pitchFamily="34" charset="-122"/>
                <a:cs typeface="Geist" pitchFamily="34" charset="-120"/>
              </a:rPr>
              <a:t>Agent</a:t>
            </a:r>
            <a:endParaRPr lang="en-US" sz="1100" dirty="0"/>
          </a:p>
        </p:txBody>
      </p:sp>
      <p:sp>
        <p:nvSpPr>
          <p:cNvPr id="20" name="Shape 17"/>
          <p:cNvSpPr/>
          <p:nvPr/>
        </p:nvSpPr>
        <p:spPr>
          <a:xfrm>
            <a:off x="7022592" y="2304288"/>
            <a:ext cx="182880" cy="0"/>
          </a:xfrm>
          <a:prstGeom prst="line">
            <a:avLst/>
          </a:prstGeom>
          <a:noFill/>
          <a:ln w="15875">
            <a:solidFill>
              <a:srgbClr val="919191"/>
            </a:solidFill>
            <a:prstDash val="solid"/>
            <a:tailEnd type="triangle"/>
          </a:ln>
        </p:spPr>
      </p:sp>
      <p:sp>
        <p:nvSpPr>
          <p:cNvPr id="21" name="Shape 18"/>
          <p:cNvSpPr/>
          <p:nvPr/>
        </p:nvSpPr>
        <p:spPr>
          <a:xfrm>
            <a:off x="7223760" y="1874520"/>
            <a:ext cx="1463040" cy="868680"/>
          </a:xfrm>
          <a:prstGeom prst="rect">
            <a:avLst/>
          </a:prstGeom>
          <a:solidFill>
            <a:srgbClr val="FFFFFF"/>
          </a:solidFill>
          <a:ln w="15875">
            <a:solidFill>
              <a:srgbClr val="FF5700"/>
            </a:solidFill>
            <a:prstDash val="solid"/>
          </a:ln>
        </p:spPr>
      </p:sp>
      <p:sp>
        <p:nvSpPr>
          <p:cNvPr id="22" name="Text 19"/>
          <p:cNvSpPr txBox="1"/>
          <p:nvPr/>
        </p:nvSpPr>
        <p:spPr>
          <a:xfrm>
            <a:off x="7223760" y="1874520"/>
            <a:ext cx="1463040" cy="868680"/>
          </a:xfrm>
          <a:prstGeom prst="rect">
            <a:avLst/>
          </a:prstGeom>
          <a:noFill/>
          <a:ln/>
        </p:spPr>
        <p:txBody>
          <a:bodyPr wrap="square" lIns="635" tIns="635" rIns="635" bIns="635" rtlCol="0" anchor="ctr"/>
          <a:lstStyle/>
          <a:p>
            <a:pPr algn="ctr" indent="0" marL="0">
              <a:buNone/>
            </a:pPr>
            <a:r>
              <a:rPr lang="en-US" sz="1100" b="1" dirty="0">
                <a:solidFill>
                  <a:srgbClr val="FF5700"/>
                </a:solidFill>
                <a:latin typeface="Geist" pitchFamily="34" charset="0"/>
                <a:ea typeface="Geist" pitchFamily="34" charset="-122"/>
                <a:cs typeface="Geist" pitchFamily="34" charset="-120"/>
              </a:rPr>
              <a:t>Multi-agent system</a:t>
            </a:r>
            <a:endParaRPr lang="en-US" sz="1100" dirty="0"/>
          </a:p>
        </p:txBody>
      </p:sp>
      <p:sp>
        <p:nvSpPr>
          <p:cNvPr id="23" name="Shape 20"/>
          <p:cNvSpPr/>
          <p:nvPr/>
        </p:nvSpPr>
        <p:spPr>
          <a:xfrm>
            <a:off x="457200" y="3063240"/>
            <a:ext cx="8229600" cy="0"/>
          </a:xfrm>
          <a:prstGeom prst="line">
            <a:avLst/>
          </a:prstGeom>
          <a:noFill/>
          <a:ln w="12700">
            <a:solidFill>
              <a:srgbClr val="E5E5E5"/>
            </a:solidFill>
            <a:prstDash val="solid"/>
          </a:ln>
        </p:spPr>
      </p:sp>
      <p:sp>
        <p:nvSpPr>
          <p:cNvPr id="24" name="Text 21"/>
          <p:cNvSpPr txBox="1"/>
          <p:nvPr/>
        </p:nvSpPr>
        <p:spPr>
          <a:xfrm>
            <a:off x="457200" y="3154680"/>
            <a:ext cx="3657600" cy="274320"/>
          </a:xfrm>
          <a:prstGeom prst="rect">
            <a:avLst/>
          </a:prstGeom>
          <a:noFill/>
          <a:ln/>
        </p:spPr>
        <p:txBody>
          <a:bodyPr wrap="square" lIns="0" tIns="0" rIns="0" bIns="0" rtlCol="0" anchor="t"/>
          <a:lstStyle/>
          <a:p>
            <a:pPr indent="0" marL="0">
              <a:buNone/>
            </a:pPr>
            <a:r>
              <a:rPr lang="en-US" sz="900" dirty="0">
                <a:solidFill>
                  <a:srgbClr val="919191"/>
                </a:solidFill>
                <a:latin typeface="IBM Plex Mono" pitchFamily="34" charset="0"/>
                <a:ea typeface="IBM Plex Mono" pitchFamily="34" charset="-122"/>
                <a:cs typeface="IBM Plex Mono" pitchFamily="34" charset="-120"/>
              </a:rPr>
              <a:t>DEVELOPER DECIDES THE FLOW</a:t>
            </a:r>
            <a:endParaRPr lang="en-US" sz="900" dirty="0"/>
          </a:p>
        </p:txBody>
      </p:sp>
      <p:sp>
        <p:nvSpPr>
          <p:cNvPr id="25" name="Text 22"/>
          <p:cNvSpPr txBox="1"/>
          <p:nvPr/>
        </p:nvSpPr>
        <p:spPr>
          <a:xfrm>
            <a:off x="5029200" y="3154680"/>
            <a:ext cx="3657600" cy="274320"/>
          </a:xfrm>
          <a:prstGeom prst="rect">
            <a:avLst/>
          </a:prstGeom>
          <a:noFill/>
          <a:ln/>
        </p:spPr>
        <p:txBody>
          <a:bodyPr wrap="square" lIns="0" tIns="0" rIns="0" bIns="0" rtlCol="0" anchor="ctr"/>
          <a:lstStyle/>
          <a:p>
            <a:pPr algn="r" indent="0" marL="0">
              <a:buNone/>
            </a:pPr>
            <a:r>
              <a:rPr lang="en-US" sz="900" dirty="0">
                <a:solidFill>
                  <a:srgbClr val="919191"/>
                </a:solidFill>
                <a:latin typeface="IBM Plex Mono" pitchFamily="34" charset="0"/>
                <a:ea typeface="IBM Plex Mono" pitchFamily="34" charset="-122"/>
                <a:cs typeface="IBM Plex Mono" pitchFamily="34" charset="-120"/>
              </a:rPr>
              <a:t>MODEL DECIDES THE FLOW</a:t>
            </a:r>
            <a:endParaRPr lang="en-US" sz="900" dirty="0"/>
          </a:p>
        </p:txBody>
      </p:sp>
      <p:sp>
        <p:nvSpPr>
          <p:cNvPr id="26" name="Shape 23"/>
          <p:cNvSpPr/>
          <p:nvPr/>
        </p:nvSpPr>
        <p:spPr>
          <a:xfrm>
            <a:off x="457200" y="3657600"/>
            <a:ext cx="8229600" cy="777240"/>
          </a:xfrm>
          <a:prstGeom prst="rect">
            <a:avLst/>
          </a:prstGeom>
          <a:solidFill>
            <a:srgbClr val="F7F7F5"/>
          </a:solidFill>
          <a:ln w="9525">
            <a:solidFill>
              <a:srgbClr val="E5E5E5"/>
            </a:solidFill>
            <a:prstDash val="solid"/>
          </a:ln>
        </p:spPr>
      </p:sp>
      <p:sp>
        <p:nvSpPr>
          <p:cNvPr id="27" name="Text 24"/>
          <p:cNvSpPr txBox="1"/>
          <p:nvPr/>
        </p:nvSpPr>
        <p:spPr>
          <a:xfrm>
            <a:off x="685800" y="3657600"/>
            <a:ext cx="7772400" cy="777240"/>
          </a:xfrm>
          <a:prstGeom prst="rect">
            <a:avLst/>
          </a:prstGeom>
          <a:noFill/>
          <a:ln/>
        </p:spPr>
        <p:txBody>
          <a:bodyPr wrap="square" lIns="0" tIns="0" rIns="0" bIns="0" rtlCol="0" anchor="ctr"/>
          <a:lstStyle/>
          <a:p>
            <a:pPr indent="0" marL="0">
              <a:buNone/>
            </a:pPr>
            <a:r>
              <a:rPr lang="en-US" sz="900" spc="200" kern="0" dirty="0">
                <a:solidFill>
                  <a:srgbClr val="FF5700"/>
                </a:solidFill>
                <a:latin typeface="IBM Plex Mono" pitchFamily="34" charset="0"/>
                <a:ea typeface="IBM Plex Mono" pitchFamily="34" charset="-122"/>
                <a:cs typeface="IBM Plex Mono" pitchFamily="34" charset="-120"/>
              </a:rPr>
              <a:t>RULE  </a:t>
            </a:r>
            <a:pPr indent="0" marL="0">
              <a:buNone/>
            </a:pPr>
            <a:r>
              <a:rPr lang="en-US" sz="1150" dirty="0">
                <a:solidFill>
                  <a:srgbClr val="1C1C1C"/>
                </a:solidFill>
                <a:latin typeface="Geist" pitchFamily="34" charset="0"/>
                <a:ea typeface="Geist" pitchFamily="34" charset="-122"/>
                <a:cs typeface="Geist" pitchFamily="34" charset="-120"/>
              </a:rPr>
              <a:t>the further right you go, the more autonomy you get — and the more governance you owe. Most enterprise problems are solved well in the middle.</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3" name="Text 0"/>
          <p:cNvSpPr txBox="1"/>
          <p:nvPr/>
        </p:nvSpPr>
        <p:spPr>
          <a:xfrm>
            <a:off x="457200" y="274320"/>
            <a:ext cx="8229600" cy="248920"/>
          </a:xfrm>
          <a:prstGeom prst="rect">
            <a:avLst/>
          </a:prstGeom>
          <a:noFill/>
          <a:ln/>
        </p:spPr>
        <p:txBody>
          <a:bodyPr wrap="square" lIns="0" tIns="0" rIns="0" bIns="0" rtlCol="0" anchor="ctr"/>
          <a:lstStyle/>
          <a:p>
            <a:pPr indent="0" marL="0">
              <a:buNone/>
            </a:pPr>
            <a:r>
              <a:rPr lang="en-US" sz="1400" b="1" spc="100" kern="0" dirty="0">
                <a:solidFill>
                  <a:srgbClr val="1C1C1C"/>
                </a:solidFill>
                <a:latin typeface="Geist" pitchFamily="34" charset="0"/>
                <a:ea typeface="Geist" pitchFamily="34" charset="-122"/>
                <a:cs typeface="Geist" pitchFamily="34" charset="-120"/>
              </a:rPr>
              <a:t>learn  with  </a:t>
            </a:r>
            <a:pPr indent="0" marL="0">
              <a:buNone/>
            </a:pPr>
            <a:r>
              <a:rPr lang="en-US" sz="1400" b="1" spc="100" kern="0" dirty="0">
                <a:solidFill>
                  <a:srgbClr val="FF5700"/>
                </a:solidFill>
                <a:latin typeface="Geist" pitchFamily="34" charset="0"/>
                <a:ea typeface="Geist" pitchFamily="34" charset="-122"/>
                <a:cs typeface="Geist" pitchFamily="34" charset="-120"/>
              </a:rPr>
              <a:t>harsha</a:t>
            </a:r>
            <a:pPr indent="0" marL="0">
              <a:buNone/>
            </a:pPr>
            <a:r>
              <a:rPr lang="en-US" sz="600" b="1" spc="100" kern="0" dirty="0">
                <a:solidFill>
                  <a:srgbClr val="FF5700"/>
                </a:solidFill>
                <a:latin typeface="Geist" pitchFamily="34" charset="0"/>
                <a:ea typeface="Geist" pitchFamily="34" charset="-122"/>
                <a:cs typeface="Geist" pitchFamily="34" charset="-120"/>
              </a:rPr>
              <a:t>  ■</a:t>
            </a:r>
            <a:endParaRPr lang="en-US" sz="1400" dirty="0"/>
          </a:p>
        </p:txBody>
      </p:sp>
      <p:sp>
        <p:nvSpPr>
          <p:cNvPr id="4" name="Shape 1"/>
          <p:cNvSpPr/>
          <p:nvPr/>
        </p:nvSpPr>
        <p:spPr>
          <a:xfrm>
            <a:off x="457200" y="905256"/>
            <a:ext cx="91440" cy="91440"/>
          </a:xfrm>
          <a:prstGeom prst="rect">
            <a:avLst/>
          </a:prstGeom>
          <a:solidFill>
            <a:srgbClr val="FF5700"/>
          </a:solidFill>
          <a:ln/>
        </p:spPr>
      </p:sp>
      <p:sp>
        <p:nvSpPr>
          <p:cNvPr id="5" name="Text 2"/>
          <p:cNvSpPr txBox="1"/>
          <p:nvPr/>
        </p:nvSpPr>
        <p:spPr>
          <a:xfrm>
            <a:off x="621792" y="804672"/>
            <a:ext cx="6400800" cy="292608"/>
          </a:xfrm>
          <a:prstGeom prst="rect">
            <a:avLst/>
          </a:prstGeom>
          <a:noFill/>
          <a:ln/>
        </p:spPr>
        <p:txBody>
          <a:bodyPr wrap="square" lIns="0" tIns="0" rIns="0" bIns="0" rtlCol="0" anchor="ctr"/>
          <a:lstStyle/>
          <a:p>
            <a:pPr indent="0" marL="0">
              <a:buNone/>
            </a:pPr>
            <a:r>
              <a:rPr lang="en-US" sz="1000" spc="400" kern="0" dirty="0">
                <a:solidFill>
                  <a:srgbClr val="FF5700"/>
                </a:solidFill>
                <a:latin typeface="IBM Plex Mono" pitchFamily="34" charset="0"/>
                <a:ea typeface="IBM Plex Mono" pitchFamily="34" charset="-122"/>
                <a:cs typeface="IBM Plex Mono" pitchFamily="34" charset="-120"/>
              </a:rPr>
              <a:t>MECHANICS</a:t>
            </a:r>
            <a:endParaRPr lang="en-US" sz="1000" dirty="0"/>
          </a:p>
        </p:txBody>
      </p:sp>
      <p:sp>
        <p:nvSpPr>
          <p:cNvPr id="6" name="Text 3"/>
          <p:cNvSpPr txBox="1"/>
          <p:nvPr/>
        </p:nvSpPr>
        <p:spPr>
          <a:xfrm>
            <a:off x="457200" y="1078992"/>
            <a:ext cx="8229600" cy="640080"/>
          </a:xfrm>
          <a:prstGeom prst="rect">
            <a:avLst/>
          </a:prstGeom>
          <a:noFill/>
          <a:ln/>
        </p:spPr>
        <p:txBody>
          <a:bodyPr wrap="square" lIns="0" tIns="0" rIns="0" bIns="0" rtlCol="0" anchor="ctr"/>
          <a:lstStyle/>
          <a:p>
            <a:pPr indent="0" marL="0">
              <a:buNone/>
            </a:pPr>
            <a:r>
              <a:rPr lang="en-US" sz="2800" b="1" spc="-100" kern="0" dirty="0">
                <a:solidFill>
                  <a:srgbClr val="1C1C1C"/>
                </a:solidFill>
                <a:latin typeface="Geist" pitchFamily="34" charset="0"/>
                <a:ea typeface="Geist" pitchFamily="34" charset="-122"/>
                <a:cs typeface="Geist" pitchFamily="34" charset="-120"/>
              </a:rPr>
              <a:t>The agent loop</a:t>
            </a:r>
            <a:endParaRPr lang="en-US" sz="2800" dirty="0"/>
          </a:p>
        </p:txBody>
      </p:sp>
      <p:sp>
        <p:nvSpPr>
          <p:cNvPr id="7" name="Text 4"/>
          <p:cNvSpPr txBox="1"/>
          <p:nvPr/>
        </p:nvSpPr>
        <p:spPr>
          <a:xfrm>
            <a:off x="457200" y="4754880"/>
            <a:ext cx="5943600" cy="228600"/>
          </a:xfrm>
          <a:prstGeom prst="rect">
            <a:avLst/>
          </a:prstGeom>
          <a:noFill/>
          <a:ln/>
        </p:spPr>
        <p:txBody>
          <a:bodyPr wrap="square" lIns="0" tIns="0" rIns="0" bIns="0" rtlCol="0" anchor="ctr"/>
          <a:lstStyle/>
          <a:p>
            <a:pPr indent="0" marL="0">
              <a:buNone/>
            </a:pPr>
            <a:r>
              <a:rPr lang="en-US" sz="800" spc="100" kern="0" dirty="0">
                <a:solidFill>
                  <a:srgbClr val="919191"/>
                </a:solidFill>
                <a:latin typeface="IBM Plex Mono" pitchFamily="34" charset="0"/>
                <a:ea typeface="IBM Plex Mono" pitchFamily="34" charset="-122"/>
                <a:cs typeface="IBM Plex Mono" pitchFamily="34" charset="-120"/>
              </a:rPr>
              <a:t>Arthashastra Learning · The Agentic Enterprise</a:t>
            </a:r>
            <a:endParaRPr lang="en-US" sz="800" dirty="0"/>
          </a:p>
        </p:txBody>
      </p:sp>
      <p:sp>
        <p:nvSpPr>
          <p:cNvPr id="8" name="Text 5"/>
          <p:cNvSpPr txBox="1"/>
          <p:nvPr/>
        </p:nvSpPr>
        <p:spPr>
          <a:xfrm>
            <a:off x="6858000" y="4754880"/>
            <a:ext cx="1828800" cy="228600"/>
          </a:xfrm>
          <a:prstGeom prst="rect">
            <a:avLst/>
          </a:prstGeom>
          <a:noFill/>
          <a:ln/>
        </p:spPr>
        <p:txBody>
          <a:bodyPr wrap="square" lIns="0" tIns="0" rIns="0" bIns="0" rtlCol="0" anchor="ctr"/>
          <a:lstStyle/>
          <a:p>
            <a:pPr algn="r" indent="0" marL="0">
              <a:buNone/>
            </a:pPr>
            <a:r>
              <a:rPr lang="en-US" sz="800" spc="100" kern="0" dirty="0">
                <a:solidFill>
                  <a:srgbClr val="919191"/>
                </a:solidFill>
                <a:latin typeface="IBM Plex Mono" pitchFamily="34" charset="0"/>
                <a:ea typeface="IBM Plex Mono" pitchFamily="34" charset="-122"/>
                <a:cs typeface="IBM Plex Mono" pitchFamily="34" charset="-120"/>
              </a:rPr>
              <a:t>arthashastra.ai</a:t>
            </a:r>
            <a:endParaRPr lang="en-US" sz="800" dirty="0"/>
          </a:p>
        </p:txBody>
      </p:sp>
      <p:sp>
        <p:nvSpPr>
          <p:cNvPr id="9" name="Text 6"/>
          <p:cNvSpPr txBox="1"/>
          <p:nvPr/>
        </p:nvSpPr>
        <p:spPr>
          <a:xfrm>
            <a:off x="457200" y="1691640"/>
            <a:ext cx="1463040" cy="274320"/>
          </a:xfrm>
          <a:prstGeom prst="rect">
            <a:avLst/>
          </a:prstGeom>
          <a:noFill/>
          <a:ln/>
        </p:spPr>
        <p:txBody>
          <a:bodyPr wrap="square" lIns="0" tIns="0" rIns="0" bIns="0" rtlCol="0" anchor="ctr"/>
          <a:lstStyle/>
          <a:p>
            <a:pPr algn="ctr" indent="0" marL="0">
              <a:buNone/>
            </a:pPr>
            <a:r>
              <a:rPr lang="en-US" sz="900" dirty="0">
                <a:solidFill>
                  <a:srgbClr val="919191"/>
                </a:solidFill>
                <a:latin typeface="Geist" pitchFamily="34" charset="0"/>
                <a:ea typeface="Geist" pitchFamily="34" charset="-122"/>
                <a:cs typeface="Geist" pitchFamily="34" charset="-120"/>
              </a:rPr>
              <a:t>what the user wants</a:t>
            </a:r>
            <a:endParaRPr lang="en-US" sz="900" dirty="0"/>
          </a:p>
        </p:txBody>
      </p:sp>
      <p:sp>
        <p:nvSpPr>
          <p:cNvPr id="10" name="Shape 7"/>
          <p:cNvSpPr/>
          <p:nvPr/>
        </p:nvSpPr>
        <p:spPr>
          <a:xfrm>
            <a:off x="457200" y="2011680"/>
            <a:ext cx="1463040" cy="731520"/>
          </a:xfrm>
          <a:prstGeom prst="rect">
            <a:avLst/>
          </a:prstGeom>
          <a:solidFill>
            <a:srgbClr val="FFFFFF"/>
          </a:solidFill>
          <a:ln w="9525">
            <a:solidFill>
              <a:srgbClr val="E5E5E5"/>
            </a:solidFill>
            <a:prstDash val="solid"/>
          </a:ln>
        </p:spPr>
      </p:sp>
      <p:sp>
        <p:nvSpPr>
          <p:cNvPr id="11" name="Text 8"/>
          <p:cNvSpPr txBox="1"/>
          <p:nvPr/>
        </p:nvSpPr>
        <p:spPr>
          <a:xfrm>
            <a:off x="457200" y="2011680"/>
            <a:ext cx="1463040" cy="731520"/>
          </a:xfrm>
          <a:prstGeom prst="rect">
            <a:avLst/>
          </a:prstGeom>
          <a:noFill/>
          <a:ln/>
        </p:spPr>
        <p:txBody>
          <a:bodyPr wrap="square" lIns="635" tIns="635" rIns="635" bIns="635" rtlCol="0" anchor="ctr"/>
          <a:lstStyle/>
          <a:p>
            <a:pPr algn="ctr" indent="0" marL="0">
              <a:buNone/>
            </a:pPr>
            <a:r>
              <a:rPr lang="en-US" sz="1400" b="1" dirty="0">
                <a:solidFill>
                  <a:srgbClr val="0E7C7B"/>
                </a:solidFill>
                <a:latin typeface="Geist" pitchFamily="34" charset="0"/>
                <a:ea typeface="Geist" pitchFamily="34" charset="-122"/>
                <a:cs typeface="Geist" pitchFamily="34" charset="-120"/>
              </a:rPr>
              <a:t>Goal</a:t>
            </a:r>
            <a:endParaRPr lang="en-US" sz="1400" dirty="0"/>
          </a:p>
        </p:txBody>
      </p:sp>
      <p:sp>
        <p:nvSpPr>
          <p:cNvPr id="12" name="Shape 9"/>
          <p:cNvSpPr/>
          <p:nvPr/>
        </p:nvSpPr>
        <p:spPr>
          <a:xfrm>
            <a:off x="1947672" y="2377440"/>
            <a:ext cx="182880" cy="0"/>
          </a:xfrm>
          <a:prstGeom prst="line">
            <a:avLst/>
          </a:prstGeom>
          <a:noFill/>
          <a:ln w="15875">
            <a:solidFill>
              <a:srgbClr val="919191"/>
            </a:solidFill>
            <a:prstDash val="solid"/>
            <a:tailEnd type="triangle"/>
          </a:ln>
        </p:spPr>
      </p:sp>
      <p:sp>
        <p:nvSpPr>
          <p:cNvPr id="13" name="Text 10"/>
          <p:cNvSpPr txBox="1"/>
          <p:nvPr/>
        </p:nvSpPr>
        <p:spPr>
          <a:xfrm>
            <a:off x="2148840" y="1691640"/>
            <a:ext cx="1463040" cy="274320"/>
          </a:xfrm>
          <a:prstGeom prst="rect">
            <a:avLst/>
          </a:prstGeom>
          <a:noFill/>
          <a:ln/>
        </p:spPr>
        <p:txBody>
          <a:bodyPr wrap="square" lIns="0" tIns="0" rIns="0" bIns="0" rtlCol="0" anchor="ctr"/>
          <a:lstStyle/>
          <a:p>
            <a:pPr algn="ctr" indent="0" marL="0">
              <a:buNone/>
            </a:pPr>
            <a:r>
              <a:rPr lang="en-US" sz="900" dirty="0">
                <a:solidFill>
                  <a:srgbClr val="919191"/>
                </a:solidFill>
                <a:latin typeface="Geist" pitchFamily="34" charset="0"/>
                <a:ea typeface="Geist" pitchFamily="34" charset="-122"/>
                <a:cs typeface="Geist" pitchFamily="34" charset="-120"/>
              </a:rPr>
              <a:t>model picks next step</a:t>
            </a:r>
            <a:endParaRPr lang="en-US" sz="900" dirty="0"/>
          </a:p>
        </p:txBody>
      </p:sp>
      <p:sp>
        <p:nvSpPr>
          <p:cNvPr id="14" name="Shape 11"/>
          <p:cNvSpPr/>
          <p:nvPr/>
        </p:nvSpPr>
        <p:spPr>
          <a:xfrm>
            <a:off x="2148840" y="2011680"/>
            <a:ext cx="1463040" cy="731520"/>
          </a:xfrm>
          <a:prstGeom prst="rect">
            <a:avLst/>
          </a:prstGeom>
          <a:solidFill>
            <a:srgbClr val="FFFFFF"/>
          </a:solidFill>
          <a:ln w="15875">
            <a:solidFill>
              <a:srgbClr val="FF5700"/>
            </a:solidFill>
            <a:prstDash val="solid"/>
          </a:ln>
        </p:spPr>
      </p:sp>
      <p:sp>
        <p:nvSpPr>
          <p:cNvPr id="15" name="Text 12"/>
          <p:cNvSpPr txBox="1"/>
          <p:nvPr/>
        </p:nvSpPr>
        <p:spPr>
          <a:xfrm>
            <a:off x="2148840" y="2011680"/>
            <a:ext cx="1463040" cy="731520"/>
          </a:xfrm>
          <a:prstGeom prst="rect">
            <a:avLst/>
          </a:prstGeom>
          <a:noFill/>
          <a:ln/>
        </p:spPr>
        <p:txBody>
          <a:bodyPr wrap="square" lIns="635" tIns="635" rIns="635" bIns="635" rtlCol="0" anchor="ctr"/>
          <a:lstStyle/>
          <a:p>
            <a:pPr algn="ctr" indent="0" marL="0">
              <a:buNone/>
            </a:pPr>
            <a:r>
              <a:rPr lang="en-US" sz="1400" b="1" dirty="0">
                <a:solidFill>
                  <a:srgbClr val="FF5700"/>
                </a:solidFill>
                <a:latin typeface="Geist" pitchFamily="34" charset="0"/>
                <a:ea typeface="Geist" pitchFamily="34" charset="-122"/>
                <a:cs typeface="Geist" pitchFamily="34" charset="-120"/>
              </a:rPr>
              <a:t>Plan</a:t>
            </a:r>
            <a:endParaRPr lang="en-US" sz="1400" dirty="0"/>
          </a:p>
        </p:txBody>
      </p:sp>
      <p:sp>
        <p:nvSpPr>
          <p:cNvPr id="16" name="Shape 13"/>
          <p:cNvSpPr/>
          <p:nvPr/>
        </p:nvSpPr>
        <p:spPr>
          <a:xfrm>
            <a:off x="3639312" y="2377440"/>
            <a:ext cx="182880" cy="0"/>
          </a:xfrm>
          <a:prstGeom prst="line">
            <a:avLst/>
          </a:prstGeom>
          <a:noFill/>
          <a:ln w="15875">
            <a:solidFill>
              <a:srgbClr val="919191"/>
            </a:solidFill>
            <a:prstDash val="solid"/>
            <a:tailEnd type="triangle"/>
          </a:ln>
        </p:spPr>
      </p:sp>
      <p:sp>
        <p:nvSpPr>
          <p:cNvPr id="17" name="Text 14"/>
          <p:cNvSpPr txBox="1"/>
          <p:nvPr/>
        </p:nvSpPr>
        <p:spPr>
          <a:xfrm>
            <a:off x="3840480" y="1691640"/>
            <a:ext cx="1463040" cy="274320"/>
          </a:xfrm>
          <a:prstGeom prst="rect">
            <a:avLst/>
          </a:prstGeom>
          <a:noFill/>
          <a:ln/>
        </p:spPr>
        <p:txBody>
          <a:bodyPr wrap="square" lIns="0" tIns="0" rIns="0" bIns="0" rtlCol="0" anchor="ctr"/>
          <a:lstStyle/>
          <a:p>
            <a:pPr algn="ctr" indent="0" marL="0">
              <a:buNone/>
            </a:pPr>
            <a:r>
              <a:rPr lang="en-US" sz="900" dirty="0">
                <a:solidFill>
                  <a:srgbClr val="919191"/>
                </a:solidFill>
                <a:latin typeface="Geist" pitchFamily="34" charset="0"/>
                <a:ea typeface="Geist" pitchFamily="34" charset="-122"/>
                <a:cs typeface="Geist" pitchFamily="34" charset="-120"/>
              </a:rPr>
              <a:t>call a tool</a:t>
            </a:r>
            <a:endParaRPr lang="en-US" sz="900" dirty="0"/>
          </a:p>
        </p:txBody>
      </p:sp>
      <p:sp>
        <p:nvSpPr>
          <p:cNvPr id="18" name="Shape 15"/>
          <p:cNvSpPr/>
          <p:nvPr/>
        </p:nvSpPr>
        <p:spPr>
          <a:xfrm>
            <a:off x="3840480" y="2011680"/>
            <a:ext cx="1463040" cy="731520"/>
          </a:xfrm>
          <a:prstGeom prst="rect">
            <a:avLst/>
          </a:prstGeom>
          <a:solidFill>
            <a:srgbClr val="FFFFFF"/>
          </a:solidFill>
          <a:ln w="15875">
            <a:solidFill>
              <a:srgbClr val="FF5700"/>
            </a:solidFill>
            <a:prstDash val="solid"/>
          </a:ln>
        </p:spPr>
      </p:sp>
      <p:sp>
        <p:nvSpPr>
          <p:cNvPr id="19" name="Text 16"/>
          <p:cNvSpPr txBox="1"/>
          <p:nvPr/>
        </p:nvSpPr>
        <p:spPr>
          <a:xfrm>
            <a:off x="3840480" y="2011680"/>
            <a:ext cx="1463040" cy="731520"/>
          </a:xfrm>
          <a:prstGeom prst="rect">
            <a:avLst/>
          </a:prstGeom>
          <a:noFill/>
          <a:ln/>
        </p:spPr>
        <p:txBody>
          <a:bodyPr wrap="square" lIns="635" tIns="635" rIns="635" bIns="635" rtlCol="0" anchor="ctr"/>
          <a:lstStyle/>
          <a:p>
            <a:pPr algn="ctr" indent="0" marL="0">
              <a:buNone/>
            </a:pPr>
            <a:r>
              <a:rPr lang="en-US" sz="1400" b="1" dirty="0">
                <a:solidFill>
                  <a:srgbClr val="FF5700"/>
                </a:solidFill>
                <a:latin typeface="Geist" pitchFamily="34" charset="0"/>
                <a:ea typeface="Geist" pitchFamily="34" charset="-122"/>
                <a:cs typeface="Geist" pitchFamily="34" charset="-120"/>
              </a:rPr>
              <a:t>Act</a:t>
            </a:r>
            <a:endParaRPr lang="en-US" sz="1400" dirty="0"/>
          </a:p>
        </p:txBody>
      </p:sp>
      <p:sp>
        <p:nvSpPr>
          <p:cNvPr id="20" name="Shape 17"/>
          <p:cNvSpPr/>
          <p:nvPr/>
        </p:nvSpPr>
        <p:spPr>
          <a:xfrm>
            <a:off x="5330952" y="2377440"/>
            <a:ext cx="182880" cy="0"/>
          </a:xfrm>
          <a:prstGeom prst="line">
            <a:avLst/>
          </a:prstGeom>
          <a:noFill/>
          <a:ln w="15875">
            <a:solidFill>
              <a:srgbClr val="919191"/>
            </a:solidFill>
            <a:prstDash val="solid"/>
            <a:tailEnd type="triangle"/>
          </a:ln>
        </p:spPr>
      </p:sp>
      <p:sp>
        <p:nvSpPr>
          <p:cNvPr id="21" name="Text 18"/>
          <p:cNvSpPr txBox="1"/>
          <p:nvPr/>
        </p:nvSpPr>
        <p:spPr>
          <a:xfrm>
            <a:off x="5532120" y="1691640"/>
            <a:ext cx="1463040" cy="274320"/>
          </a:xfrm>
          <a:prstGeom prst="rect">
            <a:avLst/>
          </a:prstGeom>
          <a:noFill/>
          <a:ln/>
        </p:spPr>
        <p:txBody>
          <a:bodyPr wrap="square" lIns="0" tIns="0" rIns="0" bIns="0" rtlCol="0" anchor="ctr"/>
          <a:lstStyle/>
          <a:p>
            <a:pPr algn="ctr" indent="0" marL="0">
              <a:buNone/>
            </a:pPr>
            <a:r>
              <a:rPr lang="en-US" sz="900" dirty="0">
                <a:solidFill>
                  <a:srgbClr val="919191"/>
                </a:solidFill>
                <a:latin typeface="Geist" pitchFamily="34" charset="0"/>
                <a:ea typeface="Geist" pitchFamily="34" charset="-122"/>
                <a:cs typeface="Geist" pitchFamily="34" charset="-120"/>
              </a:rPr>
              <a:t>read the result</a:t>
            </a:r>
            <a:endParaRPr lang="en-US" sz="900" dirty="0"/>
          </a:p>
        </p:txBody>
      </p:sp>
      <p:sp>
        <p:nvSpPr>
          <p:cNvPr id="22" name="Shape 19"/>
          <p:cNvSpPr/>
          <p:nvPr/>
        </p:nvSpPr>
        <p:spPr>
          <a:xfrm>
            <a:off x="5532120" y="2011680"/>
            <a:ext cx="1463040" cy="731520"/>
          </a:xfrm>
          <a:prstGeom prst="rect">
            <a:avLst/>
          </a:prstGeom>
          <a:solidFill>
            <a:srgbClr val="FFFFFF"/>
          </a:solidFill>
          <a:ln w="15875">
            <a:solidFill>
              <a:srgbClr val="FF5700"/>
            </a:solidFill>
            <a:prstDash val="solid"/>
          </a:ln>
        </p:spPr>
      </p:sp>
      <p:sp>
        <p:nvSpPr>
          <p:cNvPr id="23" name="Text 20"/>
          <p:cNvSpPr txBox="1"/>
          <p:nvPr/>
        </p:nvSpPr>
        <p:spPr>
          <a:xfrm>
            <a:off x="5532120" y="2011680"/>
            <a:ext cx="1463040" cy="731520"/>
          </a:xfrm>
          <a:prstGeom prst="rect">
            <a:avLst/>
          </a:prstGeom>
          <a:noFill/>
          <a:ln/>
        </p:spPr>
        <p:txBody>
          <a:bodyPr wrap="square" lIns="635" tIns="635" rIns="635" bIns="635" rtlCol="0" anchor="ctr"/>
          <a:lstStyle/>
          <a:p>
            <a:pPr algn="ctr" indent="0" marL="0">
              <a:buNone/>
            </a:pPr>
            <a:r>
              <a:rPr lang="en-US" sz="1400" b="1" dirty="0">
                <a:solidFill>
                  <a:srgbClr val="FF5700"/>
                </a:solidFill>
                <a:latin typeface="Geist" pitchFamily="34" charset="0"/>
                <a:ea typeface="Geist" pitchFamily="34" charset="-122"/>
                <a:cs typeface="Geist" pitchFamily="34" charset="-120"/>
              </a:rPr>
              <a:t>Observe</a:t>
            </a:r>
            <a:endParaRPr lang="en-US" sz="1400" dirty="0"/>
          </a:p>
        </p:txBody>
      </p:sp>
      <p:sp>
        <p:nvSpPr>
          <p:cNvPr id="24" name="Shape 21"/>
          <p:cNvSpPr/>
          <p:nvPr/>
        </p:nvSpPr>
        <p:spPr>
          <a:xfrm>
            <a:off x="7022592" y="2377440"/>
            <a:ext cx="182880" cy="0"/>
          </a:xfrm>
          <a:prstGeom prst="line">
            <a:avLst/>
          </a:prstGeom>
          <a:noFill/>
          <a:ln w="15875">
            <a:solidFill>
              <a:srgbClr val="919191"/>
            </a:solidFill>
            <a:prstDash val="solid"/>
            <a:tailEnd type="triangle"/>
          </a:ln>
        </p:spPr>
      </p:sp>
      <p:sp>
        <p:nvSpPr>
          <p:cNvPr id="25" name="Text 22"/>
          <p:cNvSpPr txBox="1"/>
          <p:nvPr/>
        </p:nvSpPr>
        <p:spPr>
          <a:xfrm>
            <a:off x="7223760" y="1691640"/>
            <a:ext cx="1463040" cy="274320"/>
          </a:xfrm>
          <a:prstGeom prst="rect">
            <a:avLst/>
          </a:prstGeom>
          <a:noFill/>
          <a:ln/>
        </p:spPr>
        <p:txBody>
          <a:bodyPr wrap="square" lIns="0" tIns="0" rIns="0" bIns="0" rtlCol="0" anchor="ctr"/>
          <a:lstStyle/>
          <a:p>
            <a:pPr algn="ctr" indent="0" marL="0">
              <a:buNone/>
            </a:pPr>
            <a:r>
              <a:rPr lang="en-US" sz="900" dirty="0">
                <a:solidFill>
                  <a:srgbClr val="919191"/>
                </a:solidFill>
                <a:latin typeface="Geist" pitchFamily="34" charset="0"/>
                <a:ea typeface="Geist" pitchFamily="34" charset="-122"/>
                <a:cs typeface="Geist" pitchFamily="34" charset="-120"/>
              </a:rPr>
              <a:t>or a limit is hit</a:t>
            </a:r>
            <a:endParaRPr lang="en-US" sz="900" dirty="0"/>
          </a:p>
        </p:txBody>
      </p:sp>
      <p:sp>
        <p:nvSpPr>
          <p:cNvPr id="26" name="Shape 23"/>
          <p:cNvSpPr/>
          <p:nvPr/>
        </p:nvSpPr>
        <p:spPr>
          <a:xfrm>
            <a:off x="7223760" y="2011680"/>
            <a:ext cx="1463040" cy="731520"/>
          </a:xfrm>
          <a:prstGeom prst="rect">
            <a:avLst/>
          </a:prstGeom>
          <a:solidFill>
            <a:srgbClr val="FFFFFF"/>
          </a:solidFill>
          <a:ln w="9525">
            <a:solidFill>
              <a:srgbClr val="E5E5E5"/>
            </a:solidFill>
            <a:prstDash val="solid"/>
          </a:ln>
        </p:spPr>
      </p:sp>
      <p:sp>
        <p:nvSpPr>
          <p:cNvPr id="27" name="Text 24"/>
          <p:cNvSpPr txBox="1"/>
          <p:nvPr/>
        </p:nvSpPr>
        <p:spPr>
          <a:xfrm>
            <a:off x="7223760" y="2011680"/>
            <a:ext cx="1463040" cy="731520"/>
          </a:xfrm>
          <a:prstGeom prst="rect">
            <a:avLst/>
          </a:prstGeom>
          <a:noFill/>
          <a:ln/>
        </p:spPr>
        <p:txBody>
          <a:bodyPr wrap="square" lIns="635" tIns="635" rIns="635" bIns="635" rtlCol="0" anchor="ctr"/>
          <a:lstStyle/>
          <a:p>
            <a:pPr algn="ctr" indent="0" marL="0">
              <a:buNone/>
            </a:pPr>
            <a:r>
              <a:rPr lang="en-US" sz="1400" b="1" dirty="0">
                <a:solidFill>
                  <a:srgbClr val="0E7C7B"/>
                </a:solidFill>
                <a:latin typeface="Geist" pitchFamily="34" charset="0"/>
                <a:ea typeface="Geist" pitchFamily="34" charset="-122"/>
                <a:cs typeface="Geist" pitchFamily="34" charset="-120"/>
              </a:rPr>
              <a:t>Done</a:t>
            </a:r>
            <a:endParaRPr lang="en-US" sz="1400" dirty="0"/>
          </a:p>
        </p:txBody>
      </p:sp>
      <p:sp>
        <p:nvSpPr>
          <p:cNvPr id="28" name="Shape 25"/>
          <p:cNvSpPr/>
          <p:nvPr/>
        </p:nvSpPr>
        <p:spPr>
          <a:xfrm>
            <a:off x="4572000" y="2743200"/>
            <a:ext cx="0" cy="365760"/>
          </a:xfrm>
          <a:prstGeom prst="line">
            <a:avLst/>
          </a:prstGeom>
          <a:noFill/>
          <a:ln w="15875">
            <a:solidFill>
              <a:srgbClr val="FF5700"/>
            </a:solidFill>
            <a:prstDash val="solid"/>
          </a:ln>
        </p:spPr>
      </p:sp>
      <p:sp>
        <p:nvSpPr>
          <p:cNvPr id="29" name="Shape 26"/>
          <p:cNvSpPr/>
          <p:nvPr/>
        </p:nvSpPr>
        <p:spPr>
          <a:xfrm>
            <a:off x="2880360" y="3108960"/>
            <a:ext cx="1691640" cy="0"/>
          </a:xfrm>
          <a:prstGeom prst="line">
            <a:avLst/>
          </a:prstGeom>
          <a:noFill/>
          <a:ln w="15875">
            <a:solidFill>
              <a:srgbClr val="FF5700"/>
            </a:solidFill>
            <a:prstDash val="solid"/>
          </a:ln>
        </p:spPr>
      </p:sp>
      <p:sp>
        <p:nvSpPr>
          <p:cNvPr id="30" name="Shape 27"/>
          <p:cNvSpPr/>
          <p:nvPr/>
        </p:nvSpPr>
        <p:spPr>
          <a:xfrm flipV="1">
            <a:off x="2880360" y="2743200"/>
            <a:ext cx="0" cy="365760"/>
          </a:xfrm>
          <a:prstGeom prst="line">
            <a:avLst/>
          </a:prstGeom>
          <a:noFill/>
          <a:ln w="15875">
            <a:solidFill>
              <a:srgbClr val="FF5700"/>
            </a:solidFill>
            <a:prstDash val="solid"/>
            <a:tailEnd type="triangle"/>
          </a:ln>
        </p:spPr>
      </p:sp>
      <p:sp>
        <p:nvSpPr>
          <p:cNvPr id="31" name="Text 28"/>
          <p:cNvSpPr txBox="1"/>
          <p:nvPr/>
        </p:nvSpPr>
        <p:spPr>
          <a:xfrm>
            <a:off x="2743200" y="3154680"/>
            <a:ext cx="2011680" cy="274320"/>
          </a:xfrm>
          <a:prstGeom prst="rect">
            <a:avLst/>
          </a:prstGeom>
          <a:noFill/>
          <a:ln/>
        </p:spPr>
        <p:txBody>
          <a:bodyPr wrap="square" lIns="0" tIns="0" rIns="0" bIns="0" rtlCol="0" anchor="ctr"/>
          <a:lstStyle/>
          <a:p>
            <a:pPr algn="ctr" indent="0" marL="0">
              <a:buNone/>
            </a:pPr>
            <a:r>
              <a:rPr lang="en-US" sz="900" dirty="0">
                <a:solidFill>
                  <a:srgbClr val="FF5700"/>
                </a:solidFill>
                <a:latin typeface="IBM Plex Mono" pitchFamily="34" charset="0"/>
                <a:ea typeface="IBM Plex Mono" pitchFamily="34" charset="-122"/>
                <a:cs typeface="IBM Plex Mono" pitchFamily="34" charset="-120"/>
              </a:rPr>
              <a:t>repeat until the goal is met</a:t>
            </a:r>
            <a:endParaRPr lang="en-US" sz="900" dirty="0"/>
          </a:p>
        </p:txBody>
      </p:sp>
      <p:sp>
        <p:nvSpPr>
          <p:cNvPr id="32" name="Shape 29"/>
          <p:cNvSpPr/>
          <p:nvPr/>
        </p:nvSpPr>
        <p:spPr>
          <a:xfrm>
            <a:off x="457200" y="3657600"/>
            <a:ext cx="8229600" cy="777240"/>
          </a:xfrm>
          <a:prstGeom prst="rect">
            <a:avLst/>
          </a:prstGeom>
          <a:solidFill>
            <a:srgbClr val="F7F7F5"/>
          </a:solidFill>
          <a:ln w="9525">
            <a:solidFill>
              <a:srgbClr val="E5E5E5"/>
            </a:solidFill>
            <a:prstDash val="solid"/>
          </a:ln>
        </p:spPr>
      </p:sp>
      <p:sp>
        <p:nvSpPr>
          <p:cNvPr id="33" name="Text 30"/>
          <p:cNvSpPr txBox="1"/>
          <p:nvPr/>
        </p:nvSpPr>
        <p:spPr>
          <a:xfrm>
            <a:off x="685800" y="3657600"/>
            <a:ext cx="7772400" cy="777240"/>
          </a:xfrm>
          <a:prstGeom prst="rect">
            <a:avLst/>
          </a:prstGeom>
          <a:noFill/>
          <a:ln/>
        </p:spPr>
        <p:txBody>
          <a:bodyPr wrap="square" lIns="0" tIns="0" rIns="0" bIns="0" rtlCol="0" anchor="ctr"/>
          <a:lstStyle/>
          <a:p>
            <a:pPr indent="0" marL="0">
              <a:buNone/>
            </a:pPr>
            <a:r>
              <a:rPr lang="en-US" sz="900" spc="200" kern="0" dirty="0">
                <a:solidFill>
                  <a:srgbClr val="FF5700"/>
                </a:solidFill>
                <a:latin typeface="IBM Plex Mono" pitchFamily="34" charset="0"/>
                <a:ea typeface="IBM Plex Mono" pitchFamily="34" charset="-122"/>
                <a:cs typeface="IBM Plex Mono" pitchFamily="34" charset="-120"/>
              </a:rPr>
              <a:t>STOP CONDITIONS  </a:t>
            </a:r>
            <a:pPr indent="0" marL="0">
              <a:buNone/>
            </a:pPr>
            <a:r>
              <a:rPr lang="en-US" sz="1150" dirty="0">
                <a:solidFill>
                  <a:srgbClr val="1C1C1C"/>
                </a:solidFill>
                <a:latin typeface="Geist" pitchFamily="34" charset="0"/>
                <a:ea typeface="Geist" pitchFamily="34" charset="-122"/>
                <a:cs typeface="Geist" pitchFamily="34" charset="-120"/>
              </a:rPr>
              <a:t>are not optional. An agent without a cap on steps, cost and time isn't a product — it's a bill. Set all three before the first demo.</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3" name="Text 0"/>
          <p:cNvSpPr txBox="1"/>
          <p:nvPr/>
        </p:nvSpPr>
        <p:spPr>
          <a:xfrm>
            <a:off x="457200" y="274320"/>
            <a:ext cx="8229600" cy="248920"/>
          </a:xfrm>
          <a:prstGeom prst="rect">
            <a:avLst/>
          </a:prstGeom>
          <a:noFill/>
          <a:ln/>
        </p:spPr>
        <p:txBody>
          <a:bodyPr wrap="square" lIns="0" tIns="0" rIns="0" bIns="0" rtlCol="0" anchor="ctr"/>
          <a:lstStyle/>
          <a:p>
            <a:pPr indent="0" marL="0">
              <a:buNone/>
            </a:pPr>
            <a:r>
              <a:rPr lang="en-US" sz="1400" b="1" spc="100" kern="0" dirty="0">
                <a:solidFill>
                  <a:srgbClr val="1C1C1C"/>
                </a:solidFill>
                <a:latin typeface="Geist" pitchFamily="34" charset="0"/>
                <a:ea typeface="Geist" pitchFamily="34" charset="-122"/>
                <a:cs typeface="Geist" pitchFamily="34" charset="-120"/>
              </a:rPr>
              <a:t>learn  with  </a:t>
            </a:r>
            <a:pPr indent="0" marL="0">
              <a:buNone/>
            </a:pPr>
            <a:r>
              <a:rPr lang="en-US" sz="1400" b="1" spc="100" kern="0" dirty="0">
                <a:solidFill>
                  <a:srgbClr val="FF5700"/>
                </a:solidFill>
                <a:latin typeface="Geist" pitchFamily="34" charset="0"/>
                <a:ea typeface="Geist" pitchFamily="34" charset="-122"/>
                <a:cs typeface="Geist" pitchFamily="34" charset="-120"/>
              </a:rPr>
              <a:t>harsha</a:t>
            </a:r>
            <a:pPr indent="0" marL="0">
              <a:buNone/>
            </a:pPr>
            <a:r>
              <a:rPr lang="en-US" sz="600" b="1" spc="100" kern="0" dirty="0">
                <a:solidFill>
                  <a:srgbClr val="FF5700"/>
                </a:solidFill>
                <a:latin typeface="Geist" pitchFamily="34" charset="0"/>
                <a:ea typeface="Geist" pitchFamily="34" charset="-122"/>
                <a:cs typeface="Geist" pitchFamily="34" charset="-120"/>
              </a:rPr>
              <a:t>  ■</a:t>
            </a:r>
            <a:endParaRPr lang="en-US" sz="1400" dirty="0"/>
          </a:p>
        </p:txBody>
      </p:sp>
      <p:sp>
        <p:nvSpPr>
          <p:cNvPr id="4" name="Shape 1"/>
          <p:cNvSpPr/>
          <p:nvPr/>
        </p:nvSpPr>
        <p:spPr>
          <a:xfrm>
            <a:off x="457200" y="905256"/>
            <a:ext cx="91440" cy="91440"/>
          </a:xfrm>
          <a:prstGeom prst="rect">
            <a:avLst/>
          </a:prstGeom>
          <a:solidFill>
            <a:srgbClr val="FF5700"/>
          </a:solidFill>
          <a:ln/>
        </p:spPr>
      </p:sp>
      <p:sp>
        <p:nvSpPr>
          <p:cNvPr id="5" name="Text 2"/>
          <p:cNvSpPr txBox="1"/>
          <p:nvPr/>
        </p:nvSpPr>
        <p:spPr>
          <a:xfrm>
            <a:off x="621792" y="804672"/>
            <a:ext cx="6400800" cy="292608"/>
          </a:xfrm>
          <a:prstGeom prst="rect">
            <a:avLst/>
          </a:prstGeom>
          <a:noFill/>
          <a:ln/>
        </p:spPr>
        <p:txBody>
          <a:bodyPr wrap="square" lIns="0" tIns="0" rIns="0" bIns="0" rtlCol="0" anchor="ctr"/>
          <a:lstStyle/>
          <a:p>
            <a:pPr indent="0" marL="0">
              <a:buNone/>
            </a:pPr>
            <a:r>
              <a:rPr lang="en-US" sz="1000" spc="400" kern="0" dirty="0">
                <a:solidFill>
                  <a:srgbClr val="FF5700"/>
                </a:solidFill>
                <a:latin typeface="IBM Plex Mono" pitchFamily="34" charset="0"/>
                <a:ea typeface="IBM Plex Mono" pitchFamily="34" charset="-122"/>
                <a:cs typeface="IBM Plex Mono" pitchFamily="34" charset="-120"/>
              </a:rPr>
              <a:t>ANATOMY</a:t>
            </a:r>
            <a:endParaRPr lang="en-US" sz="1000" dirty="0"/>
          </a:p>
        </p:txBody>
      </p:sp>
      <p:sp>
        <p:nvSpPr>
          <p:cNvPr id="6" name="Text 3"/>
          <p:cNvSpPr txBox="1"/>
          <p:nvPr/>
        </p:nvSpPr>
        <p:spPr>
          <a:xfrm>
            <a:off x="457200" y="1078992"/>
            <a:ext cx="8229600" cy="640080"/>
          </a:xfrm>
          <a:prstGeom prst="rect">
            <a:avLst/>
          </a:prstGeom>
          <a:noFill/>
          <a:ln/>
        </p:spPr>
        <p:txBody>
          <a:bodyPr wrap="square" lIns="0" tIns="0" rIns="0" bIns="0" rtlCol="0" anchor="ctr"/>
          <a:lstStyle/>
          <a:p>
            <a:pPr indent="0" marL="0">
              <a:buNone/>
            </a:pPr>
            <a:r>
              <a:rPr lang="en-US" sz="2800" b="1" spc="-100" kern="0" dirty="0">
                <a:solidFill>
                  <a:srgbClr val="1C1C1C"/>
                </a:solidFill>
                <a:latin typeface="Geist" pitchFamily="34" charset="0"/>
                <a:ea typeface="Geist" pitchFamily="34" charset="-122"/>
                <a:cs typeface="Geist" pitchFamily="34" charset="-120"/>
              </a:rPr>
              <a:t>The 5 parts of every agent</a:t>
            </a:r>
            <a:endParaRPr lang="en-US" sz="2800" dirty="0"/>
          </a:p>
        </p:txBody>
      </p:sp>
      <p:sp>
        <p:nvSpPr>
          <p:cNvPr id="7" name="Text 4"/>
          <p:cNvSpPr txBox="1"/>
          <p:nvPr/>
        </p:nvSpPr>
        <p:spPr>
          <a:xfrm>
            <a:off x="457200" y="4754880"/>
            <a:ext cx="5943600" cy="228600"/>
          </a:xfrm>
          <a:prstGeom prst="rect">
            <a:avLst/>
          </a:prstGeom>
          <a:noFill/>
          <a:ln/>
        </p:spPr>
        <p:txBody>
          <a:bodyPr wrap="square" lIns="0" tIns="0" rIns="0" bIns="0" rtlCol="0" anchor="ctr"/>
          <a:lstStyle/>
          <a:p>
            <a:pPr indent="0" marL="0">
              <a:buNone/>
            </a:pPr>
            <a:r>
              <a:rPr lang="en-US" sz="800" spc="100" kern="0" dirty="0">
                <a:solidFill>
                  <a:srgbClr val="919191"/>
                </a:solidFill>
                <a:latin typeface="IBM Plex Mono" pitchFamily="34" charset="0"/>
                <a:ea typeface="IBM Plex Mono" pitchFamily="34" charset="-122"/>
                <a:cs typeface="IBM Plex Mono" pitchFamily="34" charset="-120"/>
              </a:rPr>
              <a:t>Arthashastra Learning · The Agentic Enterprise</a:t>
            </a:r>
            <a:endParaRPr lang="en-US" sz="800" dirty="0"/>
          </a:p>
        </p:txBody>
      </p:sp>
      <p:sp>
        <p:nvSpPr>
          <p:cNvPr id="8" name="Text 5"/>
          <p:cNvSpPr txBox="1"/>
          <p:nvPr/>
        </p:nvSpPr>
        <p:spPr>
          <a:xfrm>
            <a:off x="6858000" y="4754880"/>
            <a:ext cx="1828800" cy="228600"/>
          </a:xfrm>
          <a:prstGeom prst="rect">
            <a:avLst/>
          </a:prstGeom>
          <a:noFill/>
          <a:ln/>
        </p:spPr>
        <p:txBody>
          <a:bodyPr wrap="square" lIns="0" tIns="0" rIns="0" bIns="0" rtlCol="0" anchor="ctr"/>
          <a:lstStyle/>
          <a:p>
            <a:pPr algn="r" indent="0" marL="0">
              <a:buNone/>
            </a:pPr>
            <a:r>
              <a:rPr lang="en-US" sz="800" spc="100" kern="0" dirty="0">
                <a:solidFill>
                  <a:srgbClr val="919191"/>
                </a:solidFill>
                <a:latin typeface="IBM Plex Mono" pitchFamily="34" charset="0"/>
                <a:ea typeface="IBM Plex Mono" pitchFamily="34" charset="-122"/>
                <a:cs typeface="IBM Plex Mono" pitchFamily="34" charset="-120"/>
              </a:rPr>
              <a:t>arthashastra.ai</a:t>
            </a:r>
            <a:endParaRPr lang="en-US" sz="800" dirty="0"/>
          </a:p>
        </p:txBody>
      </p:sp>
      <p:sp>
        <p:nvSpPr>
          <p:cNvPr id="9" name="Shape 6"/>
          <p:cNvSpPr/>
          <p:nvPr/>
        </p:nvSpPr>
        <p:spPr>
          <a:xfrm>
            <a:off x="457200" y="1856232"/>
            <a:ext cx="310896" cy="310896"/>
          </a:xfrm>
          <a:prstGeom prst="rect">
            <a:avLst/>
          </a:prstGeom>
          <a:solidFill>
            <a:srgbClr val="FF5700"/>
          </a:solidFill>
          <a:ln/>
        </p:spPr>
      </p:sp>
      <p:sp>
        <p:nvSpPr>
          <p:cNvPr id="10" name="Text 7"/>
          <p:cNvSpPr txBox="1"/>
          <p:nvPr/>
        </p:nvSpPr>
        <p:spPr>
          <a:xfrm>
            <a:off x="457200" y="185623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IBM Plex Mono" pitchFamily="34" charset="0"/>
                <a:ea typeface="IBM Plex Mono" pitchFamily="34" charset="-122"/>
                <a:cs typeface="IBM Plex Mono" pitchFamily="34" charset="-120"/>
              </a:rPr>
              <a:t>1</a:t>
            </a:r>
            <a:endParaRPr lang="en-US" sz="1100" dirty="0"/>
          </a:p>
        </p:txBody>
      </p:sp>
      <p:sp>
        <p:nvSpPr>
          <p:cNvPr id="11" name="Text 8"/>
          <p:cNvSpPr txBox="1"/>
          <p:nvPr/>
        </p:nvSpPr>
        <p:spPr>
          <a:xfrm>
            <a:off x="960120" y="1783080"/>
            <a:ext cx="1920240" cy="457200"/>
          </a:xfrm>
          <a:prstGeom prst="rect">
            <a:avLst/>
          </a:prstGeom>
          <a:noFill/>
          <a:ln/>
        </p:spPr>
        <p:txBody>
          <a:bodyPr wrap="square" lIns="0" tIns="0" rIns="0" bIns="0" rtlCol="0" anchor="t"/>
          <a:lstStyle/>
          <a:p>
            <a:pPr indent="0" marL="0">
              <a:buNone/>
            </a:pPr>
            <a:r>
              <a:rPr lang="en-US" sz="1400" b="1" spc="-50" kern="0" dirty="0">
                <a:solidFill>
                  <a:srgbClr val="1C1C1C"/>
                </a:solidFill>
                <a:latin typeface="Geist" pitchFamily="34" charset="0"/>
                <a:ea typeface="Geist" pitchFamily="34" charset="-122"/>
                <a:cs typeface="Geist" pitchFamily="34" charset="-120"/>
              </a:rPr>
              <a:t>Model</a:t>
            </a:r>
            <a:endParaRPr lang="en-US" sz="1400" dirty="0"/>
          </a:p>
        </p:txBody>
      </p:sp>
      <p:sp>
        <p:nvSpPr>
          <p:cNvPr id="12" name="Text 9"/>
          <p:cNvSpPr txBox="1"/>
          <p:nvPr/>
        </p:nvSpPr>
        <p:spPr>
          <a:xfrm>
            <a:off x="2834640" y="1810512"/>
            <a:ext cx="3566160" cy="457200"/>
          </a:xfrm>
          <a:prstGeom prst="rect">
            <a:avLst/>
          </a:prstGeom>
          <a:noFill/>
          <a:ln/>
        </p:spPr>
        <p:txBody>
          <a:bodyPr wrap="square" lIns="0" tIns="0" rIns="0" bIns="0" rtlCol="0" anchor="t"/>
          <a:lstStyle/>
          <a:p>
            <a:pPr indent="0" marL="0">
              <a:buNone/>
            </a:pPr>
            <a:r>
              <a:rPr lang="en-US" sz="1100" dirty="0">
                <a:solidFill>
                  <a:srgbClr val="6B7280"/>
                </a:solidFill>
                <a:latin typeface="Geist" pitchFamily="34" charset="0"/>
                <a:ea typeface="Geist" pitchFamily="34" charset="-122"/>
                <a:cs typeface="Geist" pitchFamily="34" charset="-120"/>
              </a:rPr>
              <a:t>the reasoning engine — picks actions, reads results</a:t>
            </a:r>
            <a:endParaRPr lang="en-US" sz="1100" dirty="0"/>
          </a:p>
        </p:txBody>
      </p:sp>
      <p:sp>
        <p:nvSpPr>
          <p:cNvPr id="13" name="Shape 10"/>
          <p:cNvSpPr/>
          <p:nvPr/>
        </p:nvSpPr>
        <p:spPr>
          <a:xfrm>
            <a:off x="457200" y="2386584"/>
            <a:ext cx="310896" cy="310896"/>
          </a:xfrm>
          <a:prstGeom prst="rect">
            <a:avLst/>
          </a:prstGeom>
          <a:solidFill>
            <a:srgbClr val="FF5700"/>
          </a:solidFill>
          <a:ln/>
        </p:spPr>
      </p:sp>
      <p:sp>
        <p:nvSpPr>
          <p:cNvPr id="14" name="Text 11"/>
          <p:cNvSpPr txBox="1"/>
          <p:nvPr/>
        </p:nvSpPr>
        <p:spPr>
          <a:xfrm>
            <a:off x="457200" y="2386584"/>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IBM Plex Mono" pitchFamily="34" charset="0"/>
                <a:ea typeface="IBM Plex Mono" pitchFamily="34" charset="-122"/>
                <a:cs typeface="IBM Plex Mono" pitchFamily="34" charset="-120"/>
              </a:rPr>
              <a:t>2</a:t>
            </a:r>
            <a:endParaRPr lang="en-US" sz="1100" dirty="0"/>
          </a:p>
        </p:txBody>
      </p:sp>
      <p:sp>
        <p:nvSpPr>
          <p:cNvPr id="15" name="Text 12"/>
          <p:cNvSpPr txBox="1"/>
          <p:nvPr/>
        </p:nvSpPr>
        <p:spPr>
          <a:xfrm>
            <a:off x="960120" y="2313432"/>
            <a:ext cx="1920240" cy="457200"/>
          </a:xfrm>
          <a:prstGeom prst="rect">
            <a:avLst/>
          </a:prstGeom>
          <a:noFill/>
          <a:ln/>
        </p:spPr>
        <p:txBody>
          <a:bodyPr wrap="square" lIns="0" tIns="0" rIns="0" bIns="0" rtlCol="0" anchor="t"/>
          <a:lstStyle/>
          <a:p>
            <a:pPr indent="0" marL="0">
              <a:buNone/>
            </a:pPr>
            <a:r>
              <a:rPr lang="en-US" sz="1400" b="1" spc="-50" kern="0" dirty="0">
                <a:solidFill>
                  <a:srgbClr val="1C1C1C"/>
                </a:solidFill>
                <a:latin typeface="Geist" pitchFamily="34" charset="0"/>
                <a:ea typeface="Geist" pitchFamily="34" charset="-122"/>
                <a:cs typeface="Geist" pitchFamily="34" charset="-120"/>
              </a:rPr>
              <a:t>Instructions</a:t>
            </a:r>
            <a:endParaRPr lang="en-US" sz="1400" dirty="0"/>
          </a:p>
        </p:txBody>
      </p:sp>
      <p:sp>
        <p:nvSpPr>
          <p:cNvPr id="16" name="Text 13"/>
          <p:cNvSpPr txBox="1"/>
          <p:nvPr/>
        </p:nvSpPr>
        <p:spPr>
          <a:xfrm>
            <a:off x="2834640" y="2340864"/>
            <a:ext cx="3566160" cy="457200"/>
          </a:xfrm>
          <a:prstGeom prst="rect">
            <a:avLst/>
          </a:prstGeom>
          <a:noFill/>
          <a:ln/>
        </p:spPr>
        <p:txBody>
          <a:bodyPr wrap="square" lIns="0" tIns="0" rIns="0" bIns="0" rtlCol="0" anchor="t"/>
          <a:lstStyle/>
          <a:p>
            <a:pPr indent="0" marL="0">
              <a:buNone/>
            </a:pPr>
            <a:r>
              <a:rPr lang="en-US" sz="1100" dirty="0">
                <a:solidFill>
                  <a:srgbClr val="6B7280"/>
                </a:solidFill>
                <a:latin typeface="Geist" pitchFamily="34" charset="0"/>
                <a:ea typeface="Geist" pitchFamily="34" charset="-122"/>
                <a:cs typeface="Geist" pitchFamily="34" charset="-120"/>
              </a:rPr>
              <a:t>system prompt, policies, what it may and may not do</a:t>
            </a:r>
            <a:endParaRPr lang="en-US" sz="1100" dirty="0"/>
          </a:p>
        </p:txBody>
      </p:sp>
      <p:sp>
        <p:nvSpPr>
          <p:cNvPr id="17" name="Shape 14"/>
          <p:cNvSpPr/>
          <p:nvPr/>
        </p:nvSpPr>
        <p:spPr>
          <a:xfrm>
            <a:off x="457200" y="2916936"/>
            <a:ext cx="310896" cy="310896"/>
          </a:xfrm>
          <a:prstGeom prst="rect">
            <a:avLst/>
          </a:prstGeom>
          <a:solidFill>
            <a:srgbClr val="FF5700"/>
          </a:solidFill>
          <a:ln/>
        </p:spPr>
      </p:sp>
      <p:sp>
        <p:nvSpPr>
          <p:cNvPr id="18" name="Text 15"/>
          <p:cNvSpPr txBox="1"/>
          <p:nvPr/>
        </p:nvSpPr>
        <p:spPr>
          <a:xfrm>
            <a:off x="457200" y="29169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IBM Plex Mono" pitchFamily="34" charset="0"/>
                <a:ea typeface="IBM Plex Mono" pitchFamily="34" charset="-122"/>
                <a:cs typeface="IBM Plex Mono" pitchFamily="34" charset="-120"/>
              </a:rPr>
              <a:t>3</a:t>
            </a:r>
            <a:endParaRPr lang="en-US" sz="1100" dirty="0"/>
          </a:p>
        </p:txBody>
      </p:sp>
      <p:sp>
        <p:nvSpPr>
          <p:cNvPr id="19" name="Text 16"/>
          <p:cNvSpPr txBox="1"/>
          <p:nvPr/>
        </p:nvSpPr>
        <p:spPr>
          <a:xfrm>
            <a:off x="960120" y="2843784"/>
            <a:ext cx="1920240" cy="457200"/>
          </a:xfrm>
          <a:prstGeom prst="rect">
            <a:avLst/>
          </a:prstGeom>
          <a:noFill/>
          <a:ln/>
        </p:spPr>
        <p:txBody>
          <a:bodyPr wrap="square" lIns="0" tIns="0" rIns="0" bIns="0" rtlCol="0" anchor="t"/>
          <a:lstStyle/>
          <a:p>
            <a:pPr indent="0" marL="0">
              <a:buNone/>
            </a:pPr>
            <a:r>
              <a:rPr lang="en-US" sz="1400" b="1" spc="-50" kern="0" dirty="0">
                <a:solidFill>
                  <a:srgbClr val="1C1C1C"/>
                </a:solidFill>
                <a:latin typeface="Geist" pitchFamily="34" charset="0"/>
                <a:ea typeface="Geist" pitchFamily="34" charset="-122"/>
                <a:cs typeface="Geist" pitchFamily="34" charset="-120"/>
              </a:rPr>
              <a:t>Tools</a:t>
            </a:r>
            <a:endParaRPr lang="en-US" sz="1400" dirty="0"/>
          </a:p>
        </p:txBody>
      </p:sp>
      <p:sp>
        <p:nvSpPr>
          <p:cNvPr id="20" name="Text 17"/>
          <p:cNvSpPr txBox="1"/>
          <p:nvPr/>
        </p:nvSpPr>
        <p:spPr>
          <a:xfrm>
            <a:off x="2834640" y="2871216"/>
            <a:ext cx="3566160" cy="457200"/>
          </a:xfrm>
          <a:prstGeom prst="rect">
            <a:avLst/>
          </a:prstGeom>
          <a:noFill/>
          <a:ln/>
        </p:spPr>
        <p:txBody>
          <a:bodyPr wrap="square" lIns="0" tIns="0" rIns="0" bIns="0" rtlCol="0" anchor="t"/>
          <a:lstStyle/>
          <a:p>
            <a:pPr indent="0" marL="0">
              <a:buNone/>
            </a:pPr>
            <a:r>
              <a:rPr lang="en-US" sz="1100" dirty="0">
                <a:solidFill>
                  <a:srgbClr val="6B7280"/>
                </a:solidFill>
                <a:latin typeface="Geist" pitchFamily="34" charset="0"/>
                <a:ea typeface="Geist" pitchFamily="34" charset="-122"/>
                <a:cs typeface="Geist" pitchFamily="34" charset="-120"/>
              </a:rPr>
              <a:t>APIs, databases, MCP servers, other agents</a:t>
            </a:r>
            <a:endParaRPr lang="en-US" sz="1100" dirty="0"/>
          </a:p>
        </p:txBody>
      </p:sp>
      <p:sp>
        <p:nvSpPr>
          <p:cNvPr id="21" name="Shape 18"/>
          <p:cNvSpPr/>
          <p:nvPr/>
        </p:nvSpPr>
        <p:spPr>
          <a:xfrm>
            <a:off x="457200" y="3447288"/>
            <a:ext cx="310896" cy="310896"/>
          </a:xfrm>
          <a:prstGeom prst="rect">
            <a:avLst/>
          </a:prstGeom>
          <a:solidFill>
            <a:srgbClr val="FF5700"/>
          </a:solidFill>
          <a:ln/>
        </p:spPr>
      </p:sp>
      <p:sp>
        <p:nvSpPr>
          <p:cNvPr id="22" name="Text 19"/>
          <p:cNvSpPr txBox="1"/>
          <p:nvPr/>
        </p:nvSpPr>
        <p:spPr>
          <a:xfrm>
            <a:off x="457200" y="3447288"/>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IBM Plex Mono" pitchFamily="34" charset="0"/>
                <a:ea typeface="IBM Plex Mono" pitchFamily="34" charset="-122"/>
                <a:cs typeface="IBM Plex Mono" pitchFamily="34" charset="-120"/>
              </a:rPr>
              <a:t>4</a:t>
            </a:r>
            <a:endParaRPr lang="en-US" sz="1100" dirty="0"/>
          </a:p>
        </p:txBody>
      </p:sp>
      <p:sp>
        <p:nvSpPr>
          <p:cNvPr id="23" name="Text 20"/>
          <p:cNvSpPr txBox="1"/>
          <p:nvPr/>
        </p:nvSpPr>
        <p:spPr>
          <a:xfrm>
            <a:off x="960120" y="3374136"/>
            <a:ext cx="1920240" cy="457200"/>
          </a:xfrm>
          <a:prstGeom prst="rect">
            <a:avLst/>
          </a:prstGeom>
          <a:noFill/>
          <a:ln/>
        </p:spPr>
        <p:txBody>
          <a:bodyPr wrap="square" lIns="0" tIns="0" rIns="0" bIns="0" rtlCol="0" anchor="t"/>
          <a:lstStyle/>
          <a:p>
            <a:pPr indent="0" marL="0">
              <a:buNone/>
            </a:pPr>
            <a:r>
              <a:rPr lang="en-US" sz="1400" b="1" spc="-50" kern="0" dirty="0">
                <a:solidFill>
                  <a:srgbClr val="1C1C1C"/>
                </a:solidFill>
                <a:latin typeface="Geist" pitchFamily="34" charset="0"/>
                <a:ea typeface="Geist" pitchFamily="34" charset="-122"/>
                <a:cs typeface="Geist" pitchFamily="34" charset="-120"/>
              </a:rPr>
              <a:t>Memory</a:t>
            </a:r>
            <a:endParaRPr lang="en-US" sz="1400" dirty="0"/>
          </a:p>
        </p:txBody>
      </p:sp>
      <p:sp>
        <p:nvSpPr>
          <p:cNvPr id="24" name="Text 21"/>
          <p:cNvSpPr txBox="1"/>
          <p:nvPr/>
        </p:nvSpPr>
        <p:spPr>
          <a:xfrm>
            <a:off x="2834640" y="3401568"/>
            <a:ext cx="3566160" cy="457200"/>
          </a:xfrm>
          <a:prstGeom prst="rect">
            <a:avLst/>
          </a:prstGeom>
          <a:noFill/>
          <a:ln/>
        </p:spPr>
        <p:txBody>
          <a:bodyPr wrap="square" lIns="0" tIns="0" rIns="0" bIns="0" rtlCol="0" anchor="t"/>
          <a:lstStyle/>
          <a:p>
            <a:pPr indent="0" marL="0">
              <a:buNone/>
            </a:pPr>
            <a:r>
              <a:rPr lang="en-US" sz="1100" dirty="0">
                <a:solidFill>
                  <a:srgbClr val="6B7280"/>
                </a:solidFill>
                <a:latin typeface="Geist" pitchFamily="34" charset="0"/>
                <a:ea typeface="Geist" pitchFamily="34" charset="-122"/>
                <a:cs typeface="Geist" pitchFamily="34" charset="-120"/>
              </a:rPr>
              <a:t>short-term context + long-term store, per user and per company</a:t>
            </a:r>
            <a:endParaRPr lang="en-US" sz="1100" dirty="0"/>
          </a:p>
        </p:txBody>
      </p:sp>
      <p:sp>
        <p:nvSpPr>
          <p:cNvPr id="25" name="Shape 22"/>
          <p:cNvSpPr/>
          <p:nvPr/>
        </p:nvSpPr>
        <p:spPr>
          <a:xfrm>
            <a:off x="457200" y="3977640"/>
            <a:ext cx="310896" cy="310896"/>
          </a:xfrm>
          <a:prstGeom prst="rect">
            <a:avLst/>
          </a:prstGeom>
          <a:solidFill>
            <a:srgbClr val="FF5700"/>
          </a:solidFill>
          <a:ln/>
        </p:spPr>
      </p:sp>
      <p:sp>
        <p:nvSpPr>
          <p:cNvPr id="26" name="Text 23"/>
          <p:cNvSpPr txBox="1"/>
          <p:nvPr/>
        </p:nvSpPr>
        <p:spPr>
          <a:xfrm>
            <a:off x="457200" y="3977640"/>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IBM Plex Mono" pitchFamily="34" charset="0"/>
                <a:ea typeface="IBM Plex Mono" pitchFamily="34" charset="-122"/>
                <a:cs typeface="IBM Plex Mono" pitchFamily="34" charset="-120"/>
              </a:rPr>
              <a:t>5</a:t>
            </a:r>
            <a:endParaRPr lang="en-US" sz="1100" dirty="0"/>
          </a:p>
        </p:txBody>
      </p:sp>
      <p:sp>
        <p:nvSpPr>
          <p:cNvPr id="27" name="Text 24"/>
          <p:cNvSpPr txBox="1"/>
          <p:nvPr/>
        </p:nvSpPr>
        <p:spPr>
          <a:xfrm>
            <a:off x="960120" y="3904488"/>
            <a:ext cx="1920240" cy="457200"/>
          </a:xfrm>
          <a:prstGeom prst="rect">
            <a:avLst/>
          </a:prstGeom>
          <a:noFill/>
          <a:ln/>
        </p:spPr>
        <p:txBody>
          <a:bodyPr wrap="square" lIns="0" tIns="0" rIns="0" bIns="0" rtlCol="0" anchor="t"/>
          <a:lstStyle/>
          <a:p>
            <a:pPr indent="0" marL="0">
              <a:buNone/>
            </a:pPr>
            <a:r>
              <a:rPr lang="en-US" sz="1400" b="1" spc="-50" kern="0" dirty="0">
                <a:solidFill>
                  <a:srgbClr val="1C1C1C"/>
                </a:solidFill>
                <a:latin typeface="Geist" pitchFamily="34" charset="0"/>
                <a:ea typeface="Geist" pitchFamily="34" charset="-122"/>
                <a:cs typeface="Geist" pitchFamily="34" charset="-120"/>
              </a:rPr>
              <a:t>Loop + limits</a:t>
            </a:r>
            <a:endParaRPr lang="en-US" sz="1400" dirty="0"/>
          </a:p>
        </p:txBody>
      </p:sp>
      <p:sp>
        <p:nvSpPr>
          <p:cNvPr id="28" name="Text 25"/>
          <p:cNvSpPr txBox="1"/>
          <p:nvPr/>
        </p:nvSpPr>
        <p:spPr>
          <a:xfrm>
            <a:off x="2834640" y="3931920"/>
            <a:ext cx="3566160" cy="457200"/>
          </a:xfrm>
          <a:prstGeom prst="rect">
            <a:avLst/>
          </a:prstGeom>
          <a:noFill/>
          <a:ln/>
        </p:spPr>
        <p:txBody>
          <a:bodyPr wrap="square" lIns="0" tIns="0" rIns="0" bIns="0" rtlCol="0" anchor="t"/>
          <a:lstStyle/>
          <a:p>
            <a:pPr indent="0" marL="0">
              <a:buNone/>
            </a:pPr>
            <a:r>
              <a:rPr lang="en-US" sz="1100" dirty="0">
                <a:solidFill>
                  <a:srgbClr val="6B7280"/>
                </a:solidFill>
                <a:latin typeface="Geist" pitchFamily="34" charset="0"/>
                <a:ea typeface="Geist" pitchFamily="34" charset="-122"/>
                <a:cs typeface="Geist" pitchFamily="34" charset="-120"/>
              </a:rPr>
              <a:t>orchestration, stop conditions, step / cost / time caps</a:t>
            </a:r>
            <a:endParaRPr lang="en-US" sz="1100" dirty="0"/>
          </a:p>
        </p:txBody>
      </p:sp>
      <p:sp>
        <p:nvSpPr>
          <p:cNvPr id="29" name="Shape 26"/>
          <p:cNvSpPr/>
          <p:nvPr/>
        </p:nvSpPr>
        <p:spPr>
          <a:xfrm>
            <a:off x="6675120" y="1783080"/>
            <a:ext cx="2011680" cy="2606040"/>
          </a:xfrm>
          <a:prstGeom prst="rect">
            <a:avLst/>
          </a:prstGeom>
          <a:solidFill>
            <a:srgbClr val="F7F7F5"/>
          </a:solidFill>
          <a:ln w="9525">
            <a:solidFill>
              <a:srgbClr val="E5E5E5"/>
            </a:solidFill>
            <a:prstDash val="solid"/>
          </a:ln>
        </p:spPr>
      </p:sp>
      <p:sp>
        <p:nvSpPr>
          <p:cNvPr id="30" name="Text 27"/>
          <p:cNvSpPr txBox="1"/>
          <p:nvPr/>
        </p:nvSpPr>
        <p:spPr>
          <a:xfrm>
            <a:off x="6858000" y="1920240"/>
            <a:ext cx="1645920" cy="2377440"/>
          </a:xfrm>
          <a:prstGeom prst="rect">
            <a:avLst/>
          </a:prstGeom>
          <a:noFill/>
          <a:ln/>
        </p:spPr>
        <p:txBody>
          <a:bodyPr wrap="square" lIns="0" tIns="0" rIns="0" bIns="0" rtlCol="0" anchor="t"/>
          <a:lstStyle/>
          <a:p>
            <a:pPr indent="0" marL="0">
              <a:buNone/>
            </a:pPr>
            <a:r>
              <a:rPr lang="en-US" sz="2600" b="1" dirty="0">
                <a:solidFill>
                  <a:srgbClr val="1C1C1C"/>
                </a:solidFill>
                <a:latin typeface="Geist" pitchFamily="34" charset="0"/>
                <a:ea typeface="Geist" pitchFamily="34" charset="-122"/>
                <a:cs typeface="Geist" pitchFamily="34" charset="-120"/>
              </a:rPr>
              <a:t>1–3
</a:t>
            </a:r>
            <a:pPr indent="0" marL="0">
              <a:buNone/>
            </a:pPr>
            <a:r>
              <a:rPr lang="en-US" sz="1100" dirty="0">
                <a:solidFill>
                  <a:srgbClr val="6B7280"/>
                </a:solidFill>
                <a:latin typeface="Geist" pitchFamily="34" charset="0"/>
                <a:ea typeface="Geist" pitchFamily="34" charset="-122"/>
                <a:cs typeface="Geist" pitchFamily="34" charset="-120"/>
              </a:rPr>
              <a:t>get you a demo
</a:t>
            </a:r>
            <a:pPr indent="0" marL="0">
              <a:buNone/>
            </a:pPr>
            <a:r>
              <a:rPr lang="en-US" sz="2600" b="1" dirty="0">
                <a:solidFill>
                  <a:srgbClr val="FF5700"/>
                </a:solidFill>
                <a:latin typeface="Geist" pitchFamily="34" charset="0"/>
                <a:ea typeface="Geist" pitchFamily="34" charset="-122"/>
                <a:cs typeface="Geist" pitchFamily="34" charset="-120"/>
              </a:rPr>
              <a:t>4–5
</a:t>
            </a:r>
            <a:pPr indent="0" marL="0">
              <a:buNone/>
            </a:pPr>
            <a:r>
              <a:rPr lang="en-US" sz="1100" dirty="0">
                <a:solidFill>
                  <a:srgbClr val="6B7280"/>
                </a:solidFill>
                <a:latin typeface="Geist" pitchFamily="34" charset="0"/>
                <a:ea typeface="Geist" pitchFamily="34" charset="-122"/>
                <a:cs typeface="Geist" pitchFamily="34" charset="-120"/>
              </a:rPr>
              <a:t>get you something that survives production</a:t>
            </a:r>
            <a:endParaRPr lang="en-US" sz="26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3" name="Text 0"/>
          <p:cNvSpPr txBox="1"/>
          <p:nvPr/>
        </p:nvSpPr>
        <p:spPr>
          <a:xfrm>
            <a:off x="457200" y="274320"/>
            <a:ext cx="8229600" cy="248920"/>
          </a:xfrm>
          <a:prstGeom prst="rect">
            <a:avLst/>
          </a:prstGeom>
          <a:noFill/>
          <a:ln/>
        </p:spPr>
        <p:txBody>
          <a:bodyPr wrap="square" lIns="0" tIns="0" rIns="0" bIns="0" rtlCol="0" anchor="ctr"/>
          <a:lstStyle/>
          <a:p>
            <a:pPr indent="0" marL="0">
              <a:buNone/>
            </a:pPr>
            <a:r>
              <a:rPr lang="en-US" sz="1400" b="1" spc="100" kern="0" dirty="0">
                <a:solidFill>
                  <a:srgbClr val="1C1C1C"/>
                </a:solidFill>
                <a:latin typeface="Geist" pitchFamily="34" charset="0"/>
                <a:ea typeface="Geist" pitchFamily="34" charset="-122"/>
                <a:cs typeface="Geist" pitchFamily="34" charset="-120"/>
              </a:rPr>
              <a:t>learn  with  </a:t>
            </a:r>
            <a:pPr indent="0" marL="0">
              <a:buNone/>
            </a:pPr>
            <a:r>
              <a:rPr lang="en-US" sz="1400" b="1" spc="100" kern="0" dirty="0">
                <a:solidFill>
                  <a:srgbClr val="FF5700"/>
                </a:solidFill>
                <a:latin typeface="Geist" pitchFamily="34" charset="0"/>
                <a:ea typeface="Geist" pitchFamily="34" charset="-122"/>
                <a:cs typeface="Geist" pitchFamily="34" charset="-120"/>
              </a:rPr>
              <a:t>harsha</a:t>
            </a:r>
            <a:pPr indent="0" marL="0">
              <a:buNone/>
            </a:pPr>
            <a:r>
              <a:rPr lang="en-US" sz="600" b="1" spc="100" kern="0" dirty="0">
                <a:solidFill>
                  <a:srgbClr val="FF5700"/>
                </a:solidFill>
                <a:latin typeface="Geist" pitchFamily="34" charset="0"/>
                <a:ea typeface="Geist" pitchFamily="34" charset="-122"/>
                <a:cs typeface="Geist" pitchFamily="34" charset="-120"/>
              </a:rPr>
              <a:t>  ■</a:t>
            </a:r>
            <a:endParaRPr lang="en-US" sz="1400" dirty="0"/>
          </a:p>
        </p:txBody>
      </p:sp>
      <p:sp>
        <p:nvSpPr>
          <p:cNvPr id="4" name="Shape 1"/>
          <p:cNvSpPr/>
          <p:nvPr/>
        </p:nvSpPr>
        <p:spPr>
          <a:xfrm>
            <a:off x="457200" y="905256"/>
            <a:ext cx="91440" cy="91440"/>
          </a:xfrm>
          <a:prstGeom prst="rect">
            <a:avLst/>
          </a:prstGeom>
          <a:solidFill>
            <a:srgbClr val="FF5700"/>
          </a:solidFill>
          <a:ln/>
        </p:spPr>
      </p:sp>
      <p:sp>
        <p:nvSpPr>
          <p:cNvPr id="5" name="Text 2"/>
          <p:cNvSpPr txBox="1"/>
          <p:nvPr/>
        </p:nvSpPr>
        <p:spPr>
          <a:xfrm>
            <a:off x="621792" y="804672"/>
            <a:ext cx="6400800" cy="292608"/>
          </a:xfrm>
          <a:prstGeom prst="rect">
            <a:avLst/>
          </a:prstGeom>
          <a:noFill/>
          <a:ln/>
        </p:spPr>
        <p:txBody>
          <a:bodyPr wrap="square" lIns="0" tIns="0" rIns="0" bIns="0" rtlCol="0" anchor="ctr"/>
          <a:lstStyle/>
          <a:p>
            <a:pPr indent="0" marL="0">
              <a:buNone/>
            </a:pPr>
            <a:r>
              <a:rPr lang="en-US" sz="1000" spc="400" kern="0" dirty="0">
                <a:solidFill>
                  <a:srgbClr val="FF5700"/>
                </a:solidFill>
                <a:latin typeface="IBM Plex Mono" pitchFamily="34" charset="0"/>
                <a:ea typeface="IBM Plex Mono" pitchFamily="34" charset="-122"/>
                <a:cs typeface="IBM Plex Mono" pitchFamily="34" charset="-120"/>
              </a:rPr>
              <a:t>VOCABULARY</a:t>
            </a:r>
            <a:endParaRPr lang="en-US" sz="1000" dirty="0"/>
          </a:p>
        </p:txBody>
      </p:sp>
      <p:sp>
        <p:nvSpPr>
          <p:cNvPr id="6" name="Text 3"/>
          <p:cNvSpPr txBox="1"/>
          <p:nvPr/>
        </p:nvSpPr>
        <p:spPr>
          <a:xfrm>
            <a:off x="457200" y="1078992"/>
            <a:ext cx="8229600" cy="640080"/>
          </a:xfrm>
          <a:prstGeom prst="rect">
            <a:avLst/>
          </a:prstGeom>
          <a:noFill/>
          <a:ln/>
        </p:spPr>
        <p:txBody>
          <a:bodyPr wrap="square" lIns="0" tIns="0" rIns="0" bIns="0" rtlCol="0" anchor="ctr"/>
          <a:lstStyle/>
          <a:p>
            <a:pPr indent="0" marL="0">
              <a:buNone/>
            </a:pPr>
            <a:r>
              <a:rPr lang="en-US" sz="2800" b="1" spc="-100" kern="0" dirty="0">
                <a:solidFill>
                  <a:srgbClr val="1C1C1C"/>
                </a:solidFill>
                <a:latin typeface="Geist" pitchFamily="34" charset="0"/>
                <a:ea typeface="Geist" pitchFamily="34" charset="-122"/>
                <a:cs typeface="Geist" pitchFamily="34" charset="-120"/>
              </a:rPr>
              <a:t>What is NOT an agent</a:t>
            </a:r>
            <a:endParaRPr lang="en-US" sz="2800" dirty="0"/>
          </a:p>
        </p:txBody>
      </p:sp>
      <p:sp>
        <p:nvSpPr>
          <p:cNvPr id="7" name="Text 4"/>
          <p:cNvSpPr txBox="1"/>
          <p:nvPr/>
        </p:nvSpPr>
        <p:spPr>
          <a:xfrm>
            <a:off x="457200" y="4754880"/>
            <a:ext cx="5943600" cy="228600"/>
          </a:xfrm>
          <a:prstGeom prst="rect">
            <a:avLst/>
          </a:prstGeom>
          <a:noFill/>
          <a:ln/>
        </p:spPr>
        <p:txBody>
          <a:bodyPr wrap="square" lIns="0" tIns="0" rIns="0" bIns="0" rtlCol="0" anchor="ctr"/>
          <a:lstStyle/>
          <a:p>
            <a:pPr indent="0" marL="0">
              <a:buNone/>
            </a:pPr>
            <a:r>
              <a:rPr lang="en-US" sz="800" spc="100" kern="0" dirty="0">
                <a:solidFill>
                  <a:srgbClr val="919191"/>
                </a:solidFill>
                <a:latin typeface="IBM Plex Mono" pitchFamily="34" charset="0"/>
                <a:ea typeface="IBM Plex Mono" pitchFamily="34" charset="-122"/>
                <a:cs typeface="IBM Plex Mono" pitchFamily="34" charset="-120"/>
              </a:rPr>
              <a:t>Arthashastra Learning · The Agentic Enterprise</a:t>
            </a:r>
            <a:endParaRPr lang="en-US" sz="800" dirty="0"/>
          </a:p>
        </p:txBody>
      </p:sp>
      <p:sp>
        <p:nvSpPr>
          <p:cNvPr id="8" name="Text 5"/>
          <p:cNvSpPr txBox="1"/>
          <p:nvPr/>
        </p:nvSpPr>
        <p:spPr>
          <a:xfrm>
            <a:off x="6858000" y="4754880"/>
            <a:ext cx="1828800" cy="228600"/>
          </a:xfrm>
          <a:prstGeom prst="rect">
            <a:avLst/>
          </a:prstGeom>
          <a:noFill/>
          <a:ln/>
        </p:spPr>
        <p:txBody>
          <a:bodyPr wrap="square" lIns="0" tIns="0" rIns="0" bIns="0" rtlCol="0" anchor="ctr"/>
          <a:lstStyle/>
          <a:p>
            <a:pPr algn="r" indent="0" marL="0">
              <a:buNone/>
            </a:pPr>
            <a:r>
              <a:rPr lang="en-US" sz="800" spc="100" kern="0" dirty="0">
                <a:solidFill>
                  <a:srgbClr val="919191"/>
                </a:solidFill>
                <a:latin typeface="IBM Plex Mono" pitchFamily="34" charset="0"/>
                <a:ea typeface="IBM Plex Mono" pitchFamily="34" charset="-122"/>
                <a:cs typeface="IBM Plex Mono" pitchFamily="34" charset="-120"/>
              </a:rPr>
              <a:t>arthashastra.ai</a:t>
            </a:r>
            <a:endParaRPr lang="en-US" sz="800" dirty="0"/>
          </a:p>
        </p:txBody>
      </p:sp>
      <p:sp>
        <p:nvSpPr>
          <p:cNvPr id="9" name="Shape 6"/>
          <p:cNvSpPr/>
          <p:nvPr/>
        </p:nvSpPr>
        <p:spPr>
          <a:xfrm>
            <a:off x="457200" y="1828800"/>
            <a:ext cx="2606040" cy="1783080"/>
          </a:xfrm>
          <a:prstGeom prst="rect">
            <a:avLst/>
          </a:prstGeom>
          <a:solidFill>
            <a:srgbClr val="FFFFFF"/>
          </a:solidFill>
          <a:ln w="9525">
            <a:solidFill>
              <a:srgbClr val="E5E5E5"/>
            </a:solidFill>
            <a:prstDash val="solid"/>
          </a:ln>
        </p:spPr>
      </p:sp>
      <p:sp>
        <p:nvSpPr>
          <p:cNvPr id="10" name="Shape 7"/>
          <p:cNvSpPr/>
          <p:nvPr/>
        </p:nvSpPr>
        <p:spPr>
          <a:xfrm>
            <a:off x="685800" y="2057400"/>
            <a:ext cx="329184" cy="329184"/>
          </a:xfrm>
          <a:prstGeom prst="rect">
            <a:avLst/>
          </a:prstGeom>
          <a:solidFill>
            <a:srgbClr val="D14343"/>
          </a:solidFill>
          <a:ln/>
        </p:spPr>
      </p:sp>
      <p:sp>
        <p:nvSpPr>
          <p:cNvPr id="11" name="Text 8"/>
          <p:cNvSpPr txBox="1"/>
          <p:nvPr/>
        </p:nvSpPr>
        <p:spPr>
          <a:xfrm>
            <a:off x="685800" y="2057400"/>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Geist" pitchFamily="34" charset="0"/>
                <a:ea typeface="Geist" pitchFamily="34" charset="-122"/>
                <a:cs typeface="Geist" pitchFamily="34" charset="-120"/>
              </a:rPr>
              <a:t>✕</a:t>
            </a:r>
            <a:endParaRPr lang="en-US" sz="1200" dirty="0"/>
          </a:p>
        </p:txBody>
      </p:sp>
      <p:sp>
        <p:nvSpPr>
          <p:cNvPr id="12" name="Text 9"/>
          <p:cNvSpPr txBox="1"/>
          <p:nvPr/>
        </p:nvSpPr>
        <p:spPr>
          <a:xfrm>
            <a:off x="685800" y="2514600"/>
            <a:ext cx="2194560" cy="502920"/>
          </a:xfrm>
          <a:prstGeom prst="rect">
            <a:avLst/>
          </a:prstGeom>
          <a:noFill/>
          <a:ln/>
        </p:spPr>
        <p:txBody>
          <a:bodyPr wrap="square" lIns="0" tIns="0" rIns="0" bIns="0" rtlCol="0" anchor="t"/>
          <a:lstStyle/>
          <a:p>
            <a:pPr indent="0" marL="0">
              <a:buNone/>
            </a:pPr>
            <a:r>
              <a:rPr lang="en-US" sz="1400" b="1" spc="-50" kern="0" dirty="0">
                <a:solidFill>
                  <a:srgbClr val="1C1C1C"/>
                </a:solidFill>
                <a:latin typeface="Geist" pitchFamily="34" charset="0"/>
                <a:ea typeface="Geist" pitchFamily="34" charset="-122"/>
                <a:cs typeface="Geist" pitchFamily="34" charset="-120"/>
              </a:rPr>
              <a:t>Chatbot with retrieval (RAG)</a:t>
            </a:r>
            <a:endParaRPr lang="en-US" sz="1400" dirty="0"/>
          </a:p>
        </p:txBody>
      </p:sp>
      <p:sp>
        <p:nvSpPr>
          <p:cNvPr id="13" name="Text 10"/>
          <p:cNvSpPr txBox="1"/>
          <p:nvPr/>
        </p:nvSpPr>
        <p:spPr>
          <a:xfrm>
            <a:off x="685800" y="3017520"/>
            <a:ext cx="2194560" cy="548640"/>
          </a:xfrm>
          <a:prstGeom prst="rect">
            <a:avLst/>
          </a:prstGeom>
          <a:noFill/>
          <a:ln/>
        </p:spPr>
        <p:txBody>
          <a:bodyPr wrap="square" lIns="0" tIns="0" rIns="0" bIns="0" rtlCol="0" anchor="t"/>
          <a:lstStyle/>
          <a:p>
            <a:pPr indent="0" marL="0">
              <a:buNone/>
            </a:pPr>
            <a:r>
              <a:rPr lang="en-US" sz="1100" dirty="0">
                <a:solidFill>
                  <a:srgbClr val="6B7280"/>
                </a:solidFill>
                <a:latin typeface="Geist" pitchFamily="34" charset="0"/>
                <a:ea typeface="Geist" pitchFamily="34" charset="-122"/>
                <a:cs typeface="Geist" pitchFamily="34" charset="-120"/>
              </a:rPr>
              <a:t>Answers questions. Never acts. No tools beyond search.</a:t>
            </a:r>
            <a:endParaRPr lang="en-US" sz="1100" dirty="0"/>
          </a:p>
        </p:txBody>
      </p:sp>
      <p:sp>
        <p:nvSpPr>
          <p:cNvPr id="14" name="Shape 11"/>
          <p:cNvSpPr/>
          <p:nvPr/>
        </p:nvSpPr>
        <p:spPr>
          <a:xfrm>
            <a:off x="3246120" y="1828800"/>
            <a:ext cx="2606040" cy="1783080"/>
          </a:xfrm>
          <a:prstGeom prst="rect">
            <a:avLst/>
          </a:prstGeom>
          <a:solidFill>
            <a:srgbClr val="FFFFFF"/>
          </a:solidFill>
          <a:ln w="9525">
            <a:solidFill>
              <a:srgbClr val="E5E5E5"/>
            </a:solidFill>
            <a:prstDash val="solid"/>
          </a:ln>
        </p:spPr>
      </p:sp>
      <p:sp>
        <p:nvSpPr>
          <p:cNvPr id="15" name="Shape 12"/>
          <p:cNvSpPr/>
          <p:nvPr/>
        </p:nvSpPr>
        <p:spPr>
          <a:xfrm>
            <a:off x="3474720" y="2057400"/>
            <a:ext cx="329184" cy="329184"/>
          </a:xfrm>
          <a:prstGeom prst="rect">
            <a:avLst/>
          </a:prstGeom>
          <a:solidFill>
            <a:srgbClr val="D14343"/>
          </a:solidFill>
          <a:ln/>
        </p:spPr>
      </p:sp>
      <p:sp>
        <p:nvSpPr>
          <p:cNvPr id="16" name="Text 13"/>
          <p:cNvSpPr txBox="1"/>
          <p:nvPr/>
        </p:nvSpPr>
        <p:spPr>
          <a:xfrm>
            <a:off x="3474720" y="2057400"/>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Geist" pitchFamily="34" charset="0"/>
                <a:ea typeface="Geist" pitchFamily="34" charset="-122"/>
                <a:cs typeface="Geist" pitchFamily="34" charset="-120"/>
              </a:rPr>
              <a:t>✕</a:t>
            </a:r>
            <a:endParaRPr lang="en-US" sz="1200" dirty="0"/>
          </a:p>
        </p:txBody>
      </p:sp>
      <p:sp>
        <p:nvSpPr>
          <p:cNvPr id="17" name="Text 14"/>
          <p:cNvSpPr txBox="1"/>
          <p:nvPr/>
        </p:nvSpPr>
        <p:spPr>
          <a:xfrm>
            <a:off x="3474720" y="2514600"/>
            <a:ext cx="2194560" cy="502920"/>
          </a:xfrm>
          <a:prstGeom prst="rect">
            <a:avLst/>
          </a:prstGeom>
          <a:noFill/>
          <a:ln/>
        </p:spPr>
        <p:txBody>
          <a:bodyPr wrap="square" lIns="0" tIns="0" rIns="0" bIns="0" rtlCol="0" anchor="t"/>
          <a:lstStyle/>
          <a:p>
            <a:pPr indent="0" marL="0">
              <a:buNone/>
            </a:pPr>
            <a:r>
              <a:rPr lang="en-US" sz="1400" b="1" spc="-50" kern="0" dirty="0">
                <a:solidFill>
                  <a:srgbClr val="1C1C1C"/>
                </a:solidFill>
                <a:latin typeface="Geist" pitchFamily="34" charset="0"/>
                <a:ea typeface="Geist" pitchFamily="34" charset="-122"/>
                <a:cs typeface="Geist" pitchFamily="34" charset="-120"/>
              </a:rPr>
              <a:t>Pipeline with one LLM step</a:t>
            </a:r>
            <a:endParaRPr lang="en-US" sz="1400" dirty="0"/>
          </a:p>
        </p:txBody>
      </p:sp>
      <p:sp>
        <p:nvSpPr>
          <p:cNvPr id="18" name="Text 15"/>
          <p:cNvSpPr txBox="1"/>
          <p:nvPr/>
        </p:nvSpPr>
        <p:spPr>
          <a:xfrm>
            <a:off x="3474720" y="3017520"/>
            <a:ext cx="2194560" cy="548640"/>
          </a:xfrm>
          <a:prstGeom prst="rect">
            <a:avLst/>
          </a:prstGeom>
          <a:noFill/>
          <a:ln/>
        </p:spPr>
        <p:txBody>
          <a:bodyPr wrap="square" lIns="0" tIns="0" rIns="0" bIns="0" rtlCol="0" anchor="t"/>
          <a:lstStyle/>
          <a:p>
            <a:pPr indent="0" marL="0">
              <a:buNone/>
            </a:pPr>
            <a:r>
              <a:rPr lang="en-US" sz="1100" dirty="0">
                <a:solidFill>
                  <a:srgbClr val="6B7280"/>
                </a:solidFill>
                <a:latin typeface="Geist" pitchFamily="34" charset="0"/>
                <a:ea typeface="Geist" pitchFamily="34" charset="-122"/>
                <a:cs typeface="Geist" pitchFamily="34" charset="-120"/>
              </a:rPr>
              <a:t>The developer decided the flow. The model fills in a blank.</a:t>
            </a:r>
            <a:endParaRPr lang="en-US" sz="1100" dirty="0"/>
          </a:p>
        </p:txBody>
      </p:sp>
      <p:sp>
        <p:nvSpPr>
          <p:cNvPr id="19" name="Shape 16"/>
          <p:cNvSpPr/>
          <p:nvPr/>
        </p:nvSpPr>
        <p:spPr>
          <a:xfrm>
            <a:off x="6035040" y="1828800"/>
            <a:ext cx="2606040" cy="1783080"/>
          </a:xfrm>
          <a:prstGeom prst="rect">
            <a:avLst/>
          </a:prstGeom>
          <a:solidFill>
            <a:srgbClr val="FFFFFF"/>
          </a:solidFill>
          <a:ln w="9525">
            <a:solidFill>
              <a:srgbClr val="E5E5E5"/>
            </a:solidFill>
            <a:prstDash val="solid"/>
          </a:ln>
        </p:spPr>
      </p:sp>
      <p:sp>
        <p:nvSpPr>
          <p:cNvPr id="20" name="Shape 17"/>
          <p:cNvSpPr/>
          <p:nvPr/>
        </p:nvSpPr>
        <p:spPr>
          <a:xfrm>
            <a:off x="6263640" y="2057400"/>
            <a:ext cx="329184" cy="329184"/>
          </a:xfrm>
          <a:prstGeom prst="rect">
            <a:avLst/>
          </a:prstGeom>
          <a:solidFill>
            <a:srgbClr val="D14343"/>
          </a:solidFill>
          <a:ln/>
        </p:spPr>
      </p:sp>
      <p:sp>
        <p:nvSpPr>
          <p:cNvPr id="21" name="Text 18"/>
          <p:cNvSpPr txBox="1"/>
          <p:nvPr/>
        </p:nvSpPr>
        <p:spPr>
          <a:xfrm>
            <a:off x="6263640" y="2057400"/>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Geist" pitchFamily="34" charset="0"/>
                <a:ea typeface="Geist" pitchFamily="34" charset="-122"/>
                <a:cs typeface="Geist" pitchFamily="34" charset="-120"/>
              </a:rPr>
              <a:t>✕</a:t>
            </a:r>
            <a:endParaRPr lang="en-US" sz="1200" dirty="0"/>
          </a:p>
        </p:txBody>
      </p:sp>
      <p:sp>
        <p:nvSpPr>
          <p:cNvPr id="22" name="Text 19"/>
          <p:cNvSpPr txBox="1"/>
          <p:nvPr/>
        </p:nvSpPr>
        <p:spPr>
          <a:xfrm>
            <a:off x="6263640" y="2514600"/>
            <a:ext cx="2194560" cy="502920"/>
          </a:xfrm>
          <a:prstGeom prst="rect">
            <a:avLst/>
          </a:prstGeom>
          <a:noFill/>
          <a:ln/>
        </p:spPr>
        <p:txBody>
          <a:bodyPr wrap="square" lIns="0" tIns="0" rIns="0" bIns="0" rtlCol="0" anchor="t"/>
          <a:lstStyle/>
          <a:p>
            <a:pPr indent="0" marL="0">
              <a:buNone/>
            </a:pPr>
            <a:r>
              <a:rPr lang="en-US" sz="1400" b="1" spc="-50" kern="0" dirty="0">
                <a:solidFill>
                  <a:srgbClr val="1C1C1C"/>
                </a:solidFill>
                <a:latin typeface="Geist" pitchFamily="34" charset="0"/>
                <a:ea typeface="Geist" pitchFamily="34" charset="-122"/>
                <a:cs typeface="Geist" pitchFamily="34" charset="-120"/>
              </a:rPr>
              <a:t>Rules engine + LLM classifier</a:t>
            </a:r>
            <a:endParaRPr lang="en-US" sz="1400" dirty="0"/>
          </a:p>
        </p:txBody>
      </p:sp>
      <p:sp>
        <p:nvSpPr>
          <p:cNvPr id="23" name="Text 20"/>
          <p:cNvSpPr txBox="1"/>
          <p:nvPr/>
        </p:nvSpPr>
        <p:spPr>
          <a:xfrm>
            <a:off x="6263640" y="3017520"/>
            <a:ext cx="2194560" cy="548640"/>
          </a:xfrm>
          <a:prstGeom prst="rect">
            <a:avLst/>
          </a:prstGeom>
          <a:noFill/>
          <a:ln/>
        </p:spPr>
        <p:txBody>
          <a:bodyPr wrap="square" lIns="0" tIns="0" rIns="0" bIns="0" rtlCol="0" anchor="t"/>
          <a:lstStyle/>
          <a:p>
            <a:pPr indent="0" marL="0">
              <a:buNone/>
            </a:pPr>
            <a:r>
              <a:rPr lang="en-US" sz="1100" dirty="0">
                <a:solidFill>
                  <a:srgbClr val="6B7280"/>
                </a:solidFill>
                <a:latin typeface="Geist" pitchFamily="34" charset="0"/>
                <a:ea typeface="Geist" pitchFamily="34" charset="-122"/>
                <a:cs typeface="Geist" pitchFamily="34" charset="-120"/>
              </a:rPr>
              <a:t>No loop. No tool choice. One call, one label.</a:t>
            </a:r>
            <a:endParaRPr lang="en-US" sz="1100" dirty="0"/>
          </a:p>
        </p:txBody>
      </p:sp>
      <p:sp>
        <p:nvSpPr>
          <p:cNvPr id="24" name="Shape 21"/>
          <p:cNvSpPr/>
          <p:nvPr/>
        </p:nvSpPr>
        <p:spPr>
          <a:xfrm>
            <a:off x="457200" y="3794760"/>
            <a:ext cx="8229600" cy="685800"/>
          </a:xfrm>
          <a:prstGeom prst="rect">
            <a:avLst/>
          </a:prstGeom>
          <a:solidFill>
            <a:srgbClr val="F7F7F5"/>
          </a:solidFill>
          <a:ln w="9525">
            <a:solidFill>
              <a:srgbClr val="E5E5E5"/>
            </a:solidFill>
            <a:prstDash val="solid"/>
          </a:ln>
        </p:spPr>
      </p:sp>
      <p:sp>
        <p:nvSpPr>
          <p:cNvPr id="25" name="Text 22"/>
          <p:cNvSpPr txBox="1"/>
          <p:nvPr/>
        </p:nvSpPr>
        <p:spPr>
          <a:xfrm>
            <a:off x="685800" y="3794760"/>
            <a:ext cx="7772400" cy="685800"/>
          </a:xfrm>
          <a:prstGeom prst="rect">
            <a:avLst/>
          </a:prstGeom>
          <a:noFill/>
          <a:ln/>
        </p:spPr>
        <p:txBody>
          <a:bodyPr wrap="square" lIns="0" tIns="0" rIns="0" bIns="0" rtlCol="0" anchor="ctr"/>
          <a:lstStyle/>
          <a:p>
            <a:pPr indent="0" marL="0">
              <a:buNone/>
            </a:pPr>
            <a:r>
              <a:rPr lang="en-US" sz="900" spc="200" kern="0" dirty="0">
                <a:solidFill>
                  <a:srgbClr val="FF5700"/>
                </a:solidFill>
                <a:latin typeface="IBM Plex Mono" pitchFamily="34" charset="0"/>
                <a:ea typeface="IBM Plex Mono" pitchFamily="34" charset="-122"/>
                <a:cs typeface="IBM Plex Mono" pitchFamily="34" charset="-120"/>
              </a:rPr>
              <a:t>SAY IT  </a:t>
            </a:r>
            <a:pPr indent="0" marL="0">
              <a:buNone/>
            </a:pPr>
            <a:r>
              <a:rPr lang="en-US" sz="1150" dirty="0">
                <a:solidFill>
                  <a:srgbClr val="1C1C1C"/>
                </a:solidFill>
                <a:latin typeface="Geist" pitchFamily="34" charset="0"/>
                <a:ea typeface="Geist" pitchFamily="34" charset="-122"/>
                <a:cs typeface="Geist" pitchFamily="34" charset="-120"/>
              </a:rPr>
              <a:t>These are often the right answer. Just don't call them agents in the architecture review.</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3" name="Text 0"/>
          <p:cNvSpPr txBox="1"/>
          <p:nvPr/>
        </p:nvSpPr>
        <p:spPr>
          <a:xfrm>
            <a:off x="457200" y="274320"/>
            <a:ext cx="8229600" cy="248920"/>
          </a:xfrm>
          <a:prstGeom prst="rect">
            <a:avLst/>
          </a:prstGeom>
          <a:noFill/>
          <a:ln/>
        </p:spPr>
        <p:txBody>
          <a:bodyPr wrap="square" lIns="0" tIns="0" rIns="0" bIns="0" rtlCol="0" anchor="ctr"/>
          <a:lstStyle/>
          <a:p>
            <a:pPr indent="0" marL="0">
              <a:buNone/>
            </a:pPr>
            <a:r>
              <a:rPr lang="en-US" sz="1400" b="1" spc="100" kern="0" dirty="0">
                <a:solidFill>
                  <a:srgbClr val="1C1C1C"/>
                </a:solidFill>
                <a:latin typeface="Geist" pitchFamily="34" charset="0"/>
                <a:ea typeface="Geist" pitchFamily="34" charset="-122"/>
                <a:cs typeface="Geist" pitchFamily="34" charset="-120"/>
              </a:rPr>
              <a:t>learn  with  </a:t>
            </a:r>
            <a:pPr indent="0" marL="0">
              <a:buNone/>
            </a:pPr>
            <a:r>
              <a:rPr lang="en-US" sz="1400" b="1" spc="100" kern="0" dirty="0">
                <a:solidFill>
                  <a:srgbClr val="FF5700"/>
                </a:solidFill>
                <a:latin typeface="Geist" pitchFamily="34" charset="0"/>
                <a:ea typeface="Geist" pitchFamily="34" charset="-122"/>
                <a:cs typeface="Geist" pitchFamily="34" charset="-120"/>
              </a:rPr>
              <a:t>harsha</a:t>
            </a:r>
            <a:pPr indent="0" marL="0">
              <a:buNone/>
            </a:pPr>
            <a:r>
              <a:rPr lang="en-US" sz="600" b="1" spc="100" kern="0" dirty="0">
                <a:solidFill>
                  <a:srgbClr val="FF5700"/>
                </a:solidFill>
                <a:latin typeface="Geist" pitchFamily="34" charset="0"/>
                <a:ea typeface="Geist" pitchFamily="34" charset="-122"/>
                <a:cs typeface="Geist" pitchFamily="34" charset="-120"/>
              </a:rPr>
              <a:t>  ■</a:t>
            </a:r>
            <a:endParaRPr lang="en-US" sz="1400" dirty="0"/>
          </a:p>
        </p:txBody>
      </p:sp>
      <p:sp>
        <p:nvSpPr>
          <p:cNvPr id="4" name="Shape 1"/>
          <p:cNvSpPr/>
          <p:nvPr/>
        </p:nvSpPr>
        <p:spPr>
          <a:xfrm>
            <a:off x="457200" y="905256"/>
            <a:ext cx="91440" cy="91440"/>
          </a:xfrm>
          <a:prstGeom prst="rect">
            <a:avLst/>
          </a:prstGeom>
          <a:solidFill>
            <a:srgbClr val="FF5700"/>
          </a:solidFill>
          <a:ln/>
        </p:spPr>
      </p:sp>
      <p:sp>
        <p:nvSpPr>
          <p:cNvPr id="5" name="Text 2"/>
          <p:cNvSpPr txBox="1"/>
          <p:nvPr/>
        </p:nvSpPr>
        <p:spPr>
          <a:xfrm>
            <a:off x="621792" y="804672"/>
            <a:ext cx="6400800" cy="292608"/>
          </a:xfrm>
          <a:prstGeom prst="rect">
            <a:avLst/>
          </a:prstGeom>
          <a:noFill/>
          <a:ln/>
        </p:spPr>
        <p:txBody>
          <a:bodyPr wrap="square" lIns="0" tIns="0" rIns="0" bIns="0" rtlCol="0" anchor="ctr"/>
          <a:lstStyle/>
          <a:p>
            <a:pPr indent="0" marL="0">
              <a:buNone/>
            </a:pPr>
            <a:r>
              <a:rPr lang="en-US" sz="1000" spc="400" kern="0" dirty="0">
                <a:solidFill>
                  <a:srgbClr val="FF5700"/>
                </a:solidFill>
                <a:latin typeface="IBM Plex Mono" pitchFamily="34" charset="0"/>
                <a:ea typeface="IBM Plex Mono" pitchFamily="34" charset="-122"/>
                <a:cs typeface="IBM Plex Mono" pitchFamily="34" charset="-120"/>
              </a:rPr>
              <a:t>THE REAL DIFFERENCE</a:t>
            </a:r>
            <a:endParaRPr lang="en-US" sz="1000" dirty="0"/>
          </a:p>
        </p:txBody>
      </p:sp>
      <p:sp>
        <p:nvSpPr>
          <p:cNvPr id="6" name="Text 3"/>
          <p:cNvSpPr txBox="1"/>
          <p:nvPr/>
        </p:nvSpPr>
        <p:spPr>
          <a:xfrm>
            <a:off x="457200" y="1078992"/>
            <a:ext cx="8229600" cy="640080"/>
          </a:xfrm>
          <a:prstGeom prst="rect">
            <a:avLst/>
          </a:prstGeom>
          <a:noFill/>
          <a:ln/>
        </p:spPr>
        <p:txBody>
          <a:bodyPr wrap="square" lIns="0" tIns="0" rIns="0" bIns="0" rtlCol="0" anchor="ctr"/>
          <a:lstStyle/>
          <a:p>
            <a:pPr indent="0" marL="0">
              <a:buNone/>
            </a:pPr>
            <a:r>
              <a:rPr lang="en-US" sz="2800" b="1" spc="-100" kern="0" dirty="0">
                <a:solidFill>
                  <a:srgbClr val="1C1C1C"/>
                </a:solidFill>
                <a:latin typeface="Geist" pitchFamily="34" charset="0"/>
                <a:ea typeface="Geist" pitchFamily="34" charset="-122"/>
                <a:cs typeface="Geist" pitchFamily="34" charset="-120"/>
              </a:rPr>
              <a:t>Who writes the branch?</a:t>
            </a:r>
            <a:endParaRPr lang="en-US" sz="2800" dirty="0"/>
          </a:p>
        </p:txBody>
      </p:sp>
      <p:sp>
        <p:nvSpPr>
          <p:cNvPr id="7" name="Text 4"/>
          <p:cNvSpPr txBox="1"/>
          <p:nvPr/>
        </p:nvSpPr>
        <p:spPr>
          <a:xfrm>
            <a:off x="457200" y="4754880"/>
            <a:ext cx="5943600" cy="228600"/>
          </a:xfrm>
          <a:prstGeom prst="rect">
            <a:avLst/>
          </a:prstGeom>
          <a:noFill/>
          <a:ln/>
        </p:spPr>
        <p:txBody>
          <a:bodyPr wrap="square" lIns="0" tIns="0" rIns="0" bIns="0" rtlCol="0" anchor="ctr"/>
          <a:lstStyle/>
          <a:p>
            <a:pPr indent="0" marL="0">
              <a:buNone/>
            </a:pPr>
            <a:r>
              <a:rPr lang="en-US" sz="800" spc="100" kern="0" dirty="0">
                <a:solidFill>
                  <a:srgbClr val="919191"/>
                </a:solidFill>
                <a:latin typeface="IBM Plex Mono" pitchFamily="34" charset="0"/>
                <a:ea typeface="IBM Plex Mono" pitchFamily="34" charset="-122"/>
                <a:cs typeface="IBM Plex Mono" pitchFamily="34" charset="-120"/>
              </a:rPr>
              <a:t>Arthashastra Learning · The Agentic Enterprise</a:t>
            </a:r>
            <a:endParaRPr lang="en-US" sz="800" dirty="0"/>
          </a:p>
        </p:txBody>
      </p:sp>
      <p:sp>
        <p:nvSpPr>
          <p:cNvPr id="8" name="Text 5"/>
          <p:cNvSpPr txBox="1"/>
          <p:nvPr/>
        </p:nvSpPr>
        <p:spPr>
          <a:xfrm>
            <a:off x="6858000" y="4754880"/>
            <a:ext cx="1828800" cy="228600"/>
          </a:xfrm>
          <a:prstGeom prst="rect">
            <a:avLst/>
          </a:prstGeom>
          <a:noFill/>
          <a:ln/>
        </p:spPr>
        <p:txBody>
          <a:bodyPr wrap="square" lIns="0" tIns="0" rIns="0" bIns="0" rtlCol="0" anchor="ctr"/>
          <a:lstStyle/>
          <a:p>
            <a:pPr algn="r" indent="0" marL="0">
              <a:buNone/>
            </a:pPr>
            <a:r>
              <a:rPr lang="en-US" sz="800" spc="100" kern="0" dirty="0">
                <a:solidFill>
                  <a:srgbClr val="919191"/>
                </a:solidFill>
                <a:latin typeface="IBM Plex Mono" pitchFamily="34" charset="0"/>
                <a:ea typeface="IBM Plex Mono" pitchFamily="34" charset="-122"/>
                <a:cs typeface="IBM Plex Mono" pitchFamily="34" charset="-120"/>
              </a:rPr>
              <a:t>arthashastra.ai</a:t>
            </a:r>
            <a:endParaRPr lang="en-US" sz="800" dirty="0"/>
          </a:p>
        </p:txBody>
      </p:sp>
      <p:sp>
        <p:nvSpPr>
          <p:cNvPr id="9" name="Text 6"/>
          <p:cNvSpPr txBox="1"/>
          <p:nvPr/>
        </p:nvSpPr>
        <p:spPr>
          <a:xfrm>
            <a:off x="457200" y="1874520"/>
            <a:ext cx="1828800" cy="228600"/>
          </a:xfrm>
          <a:prstGeom prst="rect">
            <a:avLst/>
          </a:prstGeom>
          <a:noFill/>
          <a:ln/>
        </p:spPr>
        <p:txBody>
          <a:bodyPr wrap="square" lIns="0" tIns="0" rIns="0" bIns="0" rtlCol="0" anchor="t"/>
          <a:lstStyle/>
          <a:p>
            <a:pPr indent="0" marL="0">
              <a:buNone/>
            </a:pPr>
            <a:endParaRPr lang="en-US" sz="800" dirty="0"/>
          </a:p>
        </p:txBody>
      </p:sp>
      <p:sp>
        <p:nvSpPr>
          <p:cNvPr id="10" name="Text 7"/>
          <p:cNvSpPr txBox="1"/>
          <p:nvPr/>
        </p:nvSpPr>
        <p:spPr>
          <a:xfrm>
            <a:off x="2286000" y="1874520"/>
            <a:ext cx="2194560" cy="228600"/>
          </a:xfrm>
          <a:prstGeom prst="rect">
            <a:avLst/>
          </a:prstGeom>
          <a:noFill/>
          <a:ln/>
        </p:spPr>
        <p:txBody>
          <a:bodyPr wrap="square" lIns="0" tIns="0" rIns="0" bIns="0" rtlCol="0" anchor="t"/>
          <a:lstStyle/>
          <a:p>
            <a:pPr indent="0" marL="0">
              <a:buNone/>
            </a:pPr>
            <a:r>
              <a:rPr lang="en-US" sz="800" dirty="0">
                <a:solidFill>
                  <a:srgbClr val="FF5700"/>
                </a:solidFill>
                <a:latin typeface="IBM Plex Mono" pitchFamily="34" charset="0"/>
                <a:ea typeface="IBM Plex Mono" pitchFamily="34" charset="-122"/>
                <a:cs typeface="IBM Plex Mono" pitchFamily="34" charset="-120"/>
              </a:rPr>
              <a:t>WHAT IT DECIDES</a:t>
            </a:r>
            <a:endParaRPr lang="en-US" sz="800" dirty="0"/>
          </a:p>
        </p:txBody>
      </p:sp>
      <p:sp>
        <p:nvSpPr>
          <p:cNvPr id="11" name="Text 8"/>
          <p:cNvSpPr txBox="1"/>
          <p:nvPr/>
        </p:nvSpPr>
        <p:spPr>
          <a:xfrm>
            <a:off x="4526280" y="1874520"/>
            <a:ext cx="2011680" cy="228600"/>
          </a:xfrm>
          <a:prstGeom prst="rect">
            <a:avLst/>
          </a:prstGeom>
          <a:noFill/>
          <a:ln/>
        </p:spPr>
        <p:txBody>
          <a:bodyPr wrap="square" lIns="0" tIns="0" rIns="0" bIns="0" rtlCol="0" anchor="t"/>
          <a:lstStyle/>
          <a:p>
            <a:pPr indent="0" marL="0">
              <a:buNone/>
            </a:pPr>
            <a:r>
              <a:rPr lang="en-US" sz="800" dirty="0">
                <a:solidFill>
                  <a:srgbClr val="FF5700"/>
                </a:solidFill>
                <a:latin typeface="IBM Plex Mono" pitchFamily="34" charset="0"/>
                <a:ea typeface="IBM Plex Mono" pitchFamily="34" charset="-122"/>
                <a:cs typeface="IBM Plex Mono" pitchFamily="34" charset="-120"/>
              </a:rPr>
              <a:t>WHO WROTE THE DECISION</a:t>
            </a:r>
            <a:endParaRPr lang="en-US" sz="800" dirty="0"/>
          </a:p>
        </p:txBody>
      </p:sp>
      <p:sp>
        <p:nvSpPr>
          <p:cNvPr id="12" name="Text 9"/>
          <p:cNvSpPr txBox="1"/>
          <p:nvPr/>
        </p:nvSpPr>
        <p:spPr>
          <a:xfrm>
            <a:off x="6583680" y="1874520"/>
            <a:ext cx="2103120" cy="228600"/>
          </a:xfrm>
          <a:prstGeom prst="rect">
            <a:avLst/>
          </a:prstGeom>
          <a:noFill/>
          <a:ln/>
        </p:spPr>
        <p:txBody>
          <a:bodyPr wrap="square" lIns="0" tIns="0" rIns="0" bIns="0" rtlCol="0" anchor="t"/>
          <a:lstStyle/>
          <a:p>
            <a:pPr indent="0" marL="0">
              <a:buNone/>
            </a:pPr>
            <a:r>
              <a:rPr lang="en-US" sz="800" dirty="0">
                <a:solidFill>
                  <a:srgbClr val="FF5700"/>
                </a:solidFill>
                <a:latin typeface="IBM Plex Mono" pitchFamily="34" charset="0"/>
                <a:ea typeface="IBM Plex Mono" pitchFamily="34" charset="-122"/>
                <a:cs typeface="IBM Plex Mono" pitchFamily="34" charset="-120"/>
              </a:rPr>
              <a:t>HANDLES THE UNEXPECTED?</a:t>
            </a:r>
            <a:endParaRPr lang="en-US" sz="800" dirty="0"/>
          </a:p>
        </p:txBody>
      </p:sp>
      <p:sp>
        <p:nvSpPr>
          <p:cNvPr id="13" name="Shape 10"/>
          <p:cNvSpPr/>
          <p:nvPr/>
        </p:nvSpPr>
        <p:spPr>
          <a:xfrm>
            <a:off x="457200" y="2130552"/>
            <a:ext cx="8229600" cy="0"/>
          </a:xfrm>
          <a:prstGeom prst="line">
            <a:avLst/>
          </a:prstGeom>
          <a:noFill/>
          <a:ln w="9525">
            <a:solidFill>
              <a:srgbClr val="E5E5E5"/>
            </a:solidFill>
            <a:prstDash val="solid"/>
          </a:ln>
        </p:spPr>
      </p:sp>
      <p:sp>
        <p:nvSpPr>
          <p:cNvPr id="14" name="Text 11"/>
          <p:cNvSpPr txBox="1"/>
          <p:nvPr/>
        </p:nvSpPr>
        <p:spPr>
          <a:xfrm>
            <a:off x="548640" y="2240280"/>
            <a:ext cx="1737360" cy="365760"/>
          </a:xfrm>
          <a:prstGeom prst="rect">
            <a:avLst/>
          </a:prstGeom>
          <a:noFill/>
          <a:ln/>
        </p:spPr>
        <p:txBody>
          <a:bodyPr wrap="square" lIns="0" tIns="0" rIns="0" bIns="0" rtlCol="0" anchor="t"/>
          <a:lstStyle/>
          <a:p>
            <a:pPr indent="0" marL="0">
              <a:buNone/>
            </a:pPr>
            <a:r>
              <a:rPr lang="en-US" sz="1200" b="1" spc="-50" kern="0" dirty="0">
                <a:solidFill>
                  <a:srgbClr val="1C1C1C"/>
                </a:solidFill>
                <a:latin typeface="Geist" pitchFamily="34" charset="0"/>
                <a:ea typeface="Geist" pitchFamily="34" charset="-122"/>
                <a:cs typeface="Geist" pitchFamily="34" charset="-120"/>
              </a:rPr>
              <a:t>Scheduler</a:t>
            </a:r>
            <a:endParaRPr lang="en-US" sz="1200" dirty="0"/>
          </a:p>
        </p:txBody>
      </p:sp>
      <p:sp>
        <p:nvSpPr>
          <p:cNvPr id="15" name="Text 12"/>
          <p:cNvSpPr txBox="1"/>
          <p:nvPr/>
        </p:nvSpPr>
        <p:spPr>
          <a:xfrm>
            <a:off x="548640" y="2432304"/>
            <a:ext cx="1737360" cy="228600"/>
          </a:xfrm>
          <a:prstGeom prst="rect">
            <a:avLst/>
          </a:prstGeom>
          <a:noFill/>
          <a:ln/>
        </p:spPr>
        <p:txBody>
          <a:bodyPr wrap="square" lIns="0" tIns="0" rIns="0" bIns="0" rtlCol="0" anchor="t"/>
          <a:lstStyle/>
          <a:p>
            <a:pPr indent="0" marL="0">
              <a:buNone/>
            </a:pPr>
            <a:r>
              <a:rPr lang="en-US" sz="800" dirty="0">
                <a:solidFill>
                  <a:srgbClr val="919191"/>
                </a:solidFill>
                <a:latin typeface="Geist" pitchFamily="34" charset="0"/>
                <a:ea typeface="Geist" pitchFamily="34" charset="-122"/>
                <a:cs typeface="Geist" pitchFamily="34" charset="-120"/>
              </a:rPr>
              <a:t>cron, Airflow</a:t>
            </a:r>
            <a:endParaRPr lang="en-US" sz="800" dirty="0"/>
          </a:p>
        </p:txBody>
      </p:sp>
      <p:sp>
        <p:nvSpPr>
          <p:cNvPr id="16" name="Text 13"/>
          <p:cNvSpPr txBox="1"/>
          <p:nvPr/>
        </p:nvSpPr>
        <p:spPr>
          <a:xfrm>
            <a:off x="2286000" y="2258568"/>
            <a:ext cx="2194560" cy="411480"/>
          </a:xfrm>
          <a:prstGeom prst="rect">
            <a:avLst/>
          </a:prstGeom>
          <a:noFill/>
          <a:ln/>
        </p:spPr>
        <p:txBody>
          <a:bodyPr wrap="square" lIns="0" tIns="0" rIns="0" bIns="0" rtlCol="0" anchor="t"/>
          <a:lstStyle/>
          <a:p>
            <a:pPr indent="0" marL="0">
              <a:buNone/>
            </a:pPr>
            <a:r>
              <a:rPr lang="en-US" sz="1050" dirty="0">
                <a:solidFill>
                  <a:srgbClr val="1C1C1C"/>
                </a:solidFill>
                <a:latin typeface="Geist" pitchFamily="34" charset="0"/>
                <a:ea typeface="Geist" pitchFamily="34" charset="-122"/>
                <a:cs typeface="Geist" pitchFamily="34" charset="-120"/>
              </a:rPr>
              <a:t>when to run a fixed thing</a:t>
            </a:r>
            <a:endParaRPr lang="en-US" sz="1050" dirty="0"/>
          </a:p>
        </p:txBody>
      </p:sp>
      <p:sp>
        <p:nvSpPr>
          <p:cNvPr id="17" name="Text 14"/>
          <p:cNvSpPr txBox="1"/>
          <p:nvPr/>
        </p:nvSpPr>
        <p:spPr>
          <a:xfrm>
            <a:off x="4526280" y="2258568"/>
            <a:ext cx="2011680" cy="411480"/>
          </a:xfrm>
          <a:prstGeom prst="rect">
            <a:avLst/>
          </a:prstGeom>
          <a:noFill/>
          <a:ln/>
        </p:spPr>
        <p:txBody>
          <a:bodyPr wrap="square" lIns="0" tIns="0" rIns="0" bIns="0" rtlCol="0" anchor="t"/>
          <a:lstStyle/>
          <a:p>
            <a:pPr indent="0" marL="0">
              <a:buNone/>
            </a:pPr>
            <a:r>
              <a:rPr lang="en-US" sz="1050" dirty="0">
                <a:solidFill>
                  <a:srgbClr val="1C1C1C"/>
                </a:solidFill>
                <a:latin typeface="Geist" pitchFamily="34" charset="0"/>
                <a:ea typeface="Geist" pitchFamily="34" charset="-122"/>
                <a:cs typeface="Geist" pitchFamily="34" charset="-120"/>
              </a:rPr>
              <a:t>the developer</a:t>
            </a:r>
            <a:endParaRPr lang="en-US" sz="1050" dirty="0"/>
          </a:p>
        </p:txBody>
      </p:sp>
      <p:sp>
        <p:nvSpPr>
          <p:cNvPr id="18" name="Text 15"/>
          <p:cNvSpPr txBox="1"/>
          <p:nvPr/>
        </p:nvSpPr>
        <p:spPr>
          <a:xfrm>
            <a:off x="6583680" y="2258568"/>
            <a:ext cx="2103120" cy="411480"/>
          </a:xfrm>
          <a:prstGeom prst="rect">
            <a:avLst/>
          </a:prstGeom>
          <a:noFill/>
          <a:ln/>
        </p:spPr>
        <p:txBody>
          <a:bodyPr wrap="square" lIns="0" tIns="0" rIns="0" bIns="0" rtlCol="0" anchor="t"/>
          <a:lstStyle/>
          <a:p>
            <a:pPr indent="0" marL="0">
              <a:buNone/>
            </a:pPr>
            <a:r>
              <a:rPr lang="en-US" sz="1050" dirty="0">
                <a:solidFill>
                  <a:srgbClr val="6B7280"/>
                </a:solidFill>
                <a:latin typeface="Geist" pitchFamily="34" charset="0"/>
                <a:ea typeface="Geist" pitchFamily="34" charset="-122"/>
                <a:cs typeface="Geist" pitchFamily="34" charset="-120"/>
              </a:rPr>
              <a:t>No</a:t>
            </a:r>
            <a:endParaRPr lang="en-US" sz="1050" dirty="0"/>
          </a:p>
        </p:txBody>
      </p:sp>
      <p:sp>
        <p:nvSpPr>
          <p:cNvPr id="19" name="Text 16"/>
          <p:cNvSpPr txBox="1"/>
          <p:nvPr/>
        </p:nvSpPr>
        <p:spPr>
          <a:xfrm>
            <a:off x="548640" y="2734056"/>
            <a:ext cx="1737360" cy="365760"/>
          </a:xfrm>
          <a:prstGeom prst="rect">
            <a:avLst/>
          </a:prstGeom>
          <a:noFill/>
          <a:ln/>
        </p:spPr>
        <p:txBody>
          <a:bodyPr wrap="square" lIns="0" tIns="0" rIns="0" bIns="0" rtlCol="0" anchor="t"/>
          <a:lstStyle/>
          <a:p>
            <a:pPr indent="0" marL="0">
              <a:buNone/>
            </a:pPr>
            <a:r>
              <a:rPr lang="en-US" sz="1200" b="1" spc="-50" kern="0" dirty="0">
                <a:solidFill>
                  <a:srgbClr val="1C1C1C"/>
                </a:solidFill>
                <a:latin typeface="Geist" pitchFamily="34" charset="0"/>
                <a:ea typeface="Geist" pitchFamily="34" charset="-122"/>
                <a:cs typeface="Geist" pitchFamily="34" charset="-120"/>
              </a:rPr>
              <a:t>Workflow / state machine</a:t>
            </a:r>
            <a:endParaRPr lang="en-US" sz="1200" dirty="0"/>
          </a:p>
        </p:txBody>
      </p:sp>
      <p:sp>
        <p:nvSpPr>
          <p:cNvPr id="20" name="Text 17"/>
          <p:cNvSpPr txBox="1"/>
          <p:nvPr/>
        </p:nvSpPr>
        <p:spPr>
          <a:xfrm>
            <a:off x="2286000" y="2752344"/>
            <a:ext cx="2194560" cy="411480"/>
          </a:xfrm>
          <a:prstGeom prst="rect">
            <a:avLst/>
          </a:prstGeom>
          <a:noFill/>
          <a:ln/>
        </p:spPr>
        <p:txBody>
          <a:bodyPr wrap="square" lIns="0" tIns="0" rIns="0" bIns="0" rtlCol="0" anchor="t"/>
          <a:lstStyle/>
          <a:p>
            <a:pPr indent="0" marL="0">
              <a:buNone/>
            </a:pPr>
            <a:r>
              <a:rPr lang="en-US" sz="1050" dirty="0">
                <a:solidFill>
                  <a:srgbClr val="1C1C1C"/>
                </a:solidFill>
                <a:latin typeface="Geist" pitchFamily="34" charset="0"/>
                <a:ea typeface="Geist" pitchFamily="34" charset="-122"/>
                <a:cs typeface="Geist" pitchFamily="34" charset="-120"/>
              </a:rPr>
              <a:t>which fixed step comes next</a:t>
            </a:r>
            <a:endParaRPr lang="en-US" sz="1050" dirty="0"/>
          </a:p>
        </p:txBody>
      </p:sp>
      <p:sp>
        <p:nvSpPr>
          <p:cNvPr id="21" name="Text 18"/>
          <p:cNvSpPr txBox="1"/>
          <p:nvPr/>
        </p:nvSpPr>
        <p:spPr>
          <a:xfrm>
            <a:off x="4526280" y="2752344"/>
            <a:ext cx="2011680" cy="411480"/>
          </a:xfrm>
          <a:prstGeom prst="rect">
            <a:avLst/>
          </a:prstGeom>
          <a:noFill/>
          <a:ln/>
        </p:spPr>
        <p:txBody>
          <a:bodyPr wrap="square" lIns="0" tIns="0" rIns="0" bIns="0" rtlCol="0" anchor="t"/>
          <a:lstStyle/>
          <a:p>
            <a:pPr indent="0" marL="0">
              <a:buNone/>
            </a:pPr>
            <a:r>
              <a:rPr lang="en-US" sz="1050" dirty="0">
                <a:solidFill>
                  <a:srgbClr val="1C1C1C"/>
                </a:solidFill>
                <a:latin typeface="Geist" pitchFamily="34" charset="0"/>
                <a:ea typeface="Geist" pitchFamily="34" charset="-122"/>
                <a:cs typeface="Geist" pitchFamily="34" charset="-120"/>
              </a:rPr>
              <a:t>the developer</a:t>
            </a:r>
            <a:endParaRPr lang="en-US" sz="1050" dirty="0"/>
          </a:p>
        </p:txBody>
      </p:sp>
      <p:sp>
        <p:nvSpPr>
          <p:cNvPr id="22" name="Text 19"/>
          <p:cNvSpPr txBox="1"/>
          <p:nvPr/>
        </p:nvSpPr>
        <p:spPr>
          <a:xfrm>
            <a:off x="6583680" y="2752344"/>
            <a:ext cx="2103120" cy="411480"/>
          </a:xfrm>
          <a:prstGeom prst="rect">
            <a:avLst/>
          </a:prstGeom>
          <a:noFill/>
          <a:ln/>
        </p:spPr>
        <p:txBody>
          <a:bodyPr wrap="square" lIns="0" tIns="0" rIns="0" bIns="0" rtlCol="0" anchor="t"/>
          <a:lstStyle/>
          <a:p>
            <a:pPr indent="0" marL="0">
              <a:buNone/>
            </a:pPr>
            <a:r>
              <a:rPr lang="en-US" sz="1050" dirty="0">
                <a:solidFill>
                  <a:srgbClr val="6B7280"/>
                </a:solidFill>
                <a:latin typeface="Geist" pitchFamily="34" charset="0"/>
                <a:ea typeface="Geist" pitchFamily="34" charset="-122"/>
                <a:cs typeface="Geist" pitchFamily="34" charset="-120"/>
              </a:rPr>
              <a:t>No — it takes the else branch</a:t>
            </a:r>
            <a:endParaRPr lang="en-US" sz="1050" dirty="0"/>
          </a:p>
        </p:txBody>
      </p:sp>
      <p:sp>
        <p:nvSpPr>
          <p:cNvPr id="23" name="Text 20"/>
          <p:cNvSpPr txBox="1"/>
          <p:nvPr/>
        </p:nvSpPr>
        <p:spPr>
          <a:xfrm>
            <a:off x="548640" y="3227832"/>
            <a:ext cx="1737360" cy="365760"/>
          </a:xfrm>
          <a:prstGeom prst="rect">
            <a:avLst/>
          </a:prstGeom>
          <a:noFill/>
          <a:ln/>
        </p:spPr>
        <p:txBody>
          <a:bodyPr wrap="square" lIns="0" tIns="0" rIns="0" bIns="0" rtlCol="0" anchor="t"/>
          <a:lstStyle/>
          <a:p>
            <a:pPr indent="0" marL="0">
              <a:buNone/>
            </a:pPr>
            <a:r>
              <a:rPr lang="en-US" sz="1200" b="1" spc="-50" kern="0" dirty="0">
                <a:solidFill>
                  <a:srgbClr val="1C1C1C"/>
                </a:solidFill>
                <a:latin typeface="Geist" pitchFamily="34" charset="0"/>
                <a:ea typeface="Geist" pitchFamily="34" charset="-122"/>
                <a:cs typeface="Geist" pitchFamily="34" charset="-120"/>
              </a:rPr>
              <a:t>Rules engine</a:t>
            </a:r>
            <a:endParaRPr lang="en-US" sz="1200" dirty="0"/>
          </a:p>
        </p:txBody>
      </p:sp>
      <p:sp>
        <p:nvSpPr>
          <p:cNvPr id="24" name="Text 21"/>
          <p:cNvSpPr txBox="1"/>
          <p:nvPr/>
        </p:nvSpPr>
        <p:spPr>
          <a:xfrm>
            <a:off x="2286000" y="3246120"/>
            <a:ext cx="2194560" cy="411480"/>
          </a:xfrm>
          <a:prstGeom prst="rect">
            <a:avLst/>
          </a:prstGeom>
          <a:noFill/>
          <a:ln/>
        </p:spPr>
        <p:txBody>
          <a:bodyPr wrap="square" lIns="0" tIns="0" rIns="0" bIns="0" rtlCol="0" anchor="t"/>
          <a:lstStyle/>
          <a:p>
            <a:pPr indent="0" marL="0">
              <a:buNone/>
            </a:pPr>
            <a:r>
              <a:rPr lang="en-US" sz="1050" dirty="0">
                <a:solidFill>
                  <a:srgbClr val="1C1C1C"/>
                </a:solidFill>
                <a:latin typeface="Geist" pitchFamily="34" charset="0"/>
                <a:ea typeface="Geist" pitchFamily="34" charset="-122"/>
                <a:cs typeface="Geist" pitchFamily="34" charset="-120"/>
              </a:rPr>
              <a:t>from explicit rules</a:t>
            </a:r>
            <a:endParaRPr lang="en-US" sz="1050" dirty="0"/>
          </a:p>
        </p:txBody>
      </p:sp>
      <p:sp>
        <p:nvSpPr>
          <p:cNvPr id="25" name="Text 22"/>
          <p:cNvSpPr txBox="1"/>
          <p:nvPr/>
        </p:nvSpPr>
        <p:spPr>
          <a:xfrm>
            <a:off x="4526280" y="3246120"/>
            <a:ext cx="2011680" cy="411480"/>
          </a:xfrm>
          <a:prstGeom prst="rect">
            <a:avLst/>
          </a:prstGeom>
          <a:noFill/>
          <a:ln/>
        </p:spPr>
        <p:txBody>
          <a:bodyPr wrap="square" lIns="0" tIns="0" rIns="0" bIns="0" rtlCol="0" anchor="t"/>
          <a:lstStyle/>
          <a:p>
            <a:pPr indent="0" marL="0">
              <a:buNone/>
            </a:pPr>
            <a:r>
              <a:rPr lang="en-US" sz="1050" dirty="0">
                <a:solidFill>
                  <a:srgbClr val="1C1C1C"/>
                </a:solidFill>
                <a:latin typeface="Geist" pitchFamily="34" charset="0"/>
                <a:ea typeface="Geist" pitchFamily="34" charset="-122"/>
                <a:cs typeface="Geist" pitchFamily="34" charset="-120"/>
              </a:rPr>
              <a:t>the rule author</a:t>
            </a:r>
            <a:endParaRPr lang="en-US" sz="1050" dirty="0"/>
          </a:p>
        </p:txBody>
      </p:sp>
      <p:sp>
        <p:nvSpPr>
          <p:cNvPr id="26" name="Text 23"/>
          <p:cNvSpPr txBox="1"/>
          <p:nvPr/>
        </p:nvSpPr>
        <p:spPr>
          <a:xfrm>
            <a:off x="6583680" y="3246120"/>
            <a:ext cx="2103120" cy="411480"/>
          </a:xfrm>
          <a:prstGeom prst="rect">
            <a:avLst/>
          </a:prstGeom>
          <a:noFill/>
          <a:ln/>
        </p:spPr>
        <p:txBody>
          <a:bodyPr wrap="square" lIns="0" tIns="0" rIns="0" bIns="0" rtlCol="0" anchor="t"/>
          <a:lstStyle/>
          <a:p>
            <a:pPr indent="0" marL="0">
              <a:buNone/>
            </a:pPr>
            <a:r>
              <a:rPr lang="en-US" sz="1050" dirty="0">
                <a:solidFill>
                  <a:srgbClr val="6B7280"/>
                </a:solidFill>
                <a:latin typeface="Geist" pitchFamily="34" charset="0"/>
                <a:ea typeface="Geist" pitchFamily="34" charset="-122"/>
                <a:cs typeface="Geist" pitchFamily="34" charset="-120"/>
              </a:rPr>
              <a:t>Only cases the rules cover</a:t>
            </a:r>
            <a:endParaRPr lang="en-US" sz="1050" dirty="0"/>
          </a:p>
        </p:txBody>
      </p:sp>
      <p:sp>
        <p:nvSpPr>
          <p:cNvPr id="27" name="Shape 24"/>
          <p:cNvSpPr/>
          <p:nvPr/>
        </p:nvSpPr>
        <p:spPr>
          <a:xfrm>
            <a:off x="457200" y="3648456"/>
            <a:ext cx="8229600" cy="457200"/>
          </a:xfrm>
          <a:prstGeom prst="rect">
            <a:avLst/>
          </a:prstGeom>
          <a:solidFill>
            <a:srgbClr val="F7F7F5"/>
          </a:solidFill>
          <a:ln w="6350">
            <a:solidFill>
              <a:srgbClr val="E5E5E5"/>
            </a:solidFill>
            <a:prstDash val="solid"/>
          </a:ln>
        </p:spPr>
      </p:sp>
      <p:sp>
        <p:nvSpPr>
          <p:cNvPr id="28" name="Text 25"/>
          <p:cNvSpPr txBox="1"/>
          <p:nvPr/>
        </p:nvSpPr>
        <p:spPr>
          <a:xfrm>
            <a:off x="548640" y="3721608"/>
            <a:ext cx="1737360" cy="365760"/>
          </a:xfrm>
          <a:prstGeom prst="rect">
            <a:avLst/>
          </a:prstGeom>
          <a:noFill/>
          <a:ln/>
        </p:spPr>
        <p:txBody>
          <a:bodyPr wrap="square" lIns="0" tIns="0" rIns="0" bIns="0" rtlCol="0" anchor="t"/>
          <a:lstStyle/>
          <a:p>
            <a:pPr indent="0" marL="0">
              <a:buNone/>
            </a:pPr>
            <a:r>
              <a:rPr lang="en-US" sz="1200" b="1" spc="-50" kern="0" dirty="0">
                <a:solidFill>
                  <a:srgbClr val="1C1C1C"/>
                </a:solidFill>
                <a:latin typeface="Geist" pitchFamily="34" charset="0"/>
                <a:ea typeface="Geist" pitchFamily="34" charset="-122"/>
                <a:cs typeface="Geist" pitchFamily="34" charset="-120"/>
              </a:rPr>
              <a:t>Agent</a:t>
            </a:r>
            <a:endParaRPr lang="en-US" sz="1200" dirty="0"/>
          </a:p>
        </p:txBody>
      </p:sp>
      <p:sp>
        <p:nvSpPr>
          <p:cNvPr id="29" name="Text 26"/>
          <p:cNvSpPr txBox="1"/>
          <p:nvPr/>
        </p:nvSpPr>
        <p:spPr>
          <a:xfrm>
            <a:off x="2286000" y="3739896"/>
            <a:ext cx="2194560" cy="411480"/>
          </a:xfrm>
          <a:prstGeom prst="rect">
            <a:avLst/>
          </a:prstGeom>
          <a:noFill/>
          <a:ln/>
        </p:spPr>
        <p:txBody>
          <a:bodyPr wrap="square" lIns="0" tIns="0" rIns="0" bIns="0" rtlCol="0" anchor="t"/>
          <a:lstStyle/>
          <a:p>
            <a:pPr indent="0" marL="0">
              <a:buNone/>
            </a:pPr>
            <a:r>
              <a:rPr lang="en-US" sz="1050" dirty="0">
                <a:solidFill>
                  <a:srgbClr val="1C1C1C"/>
                </a:solidFill>
                <a:latin typeface="Geist" pitchFamily="34" charset="0"/>
                <a:ea typeface="Geist" pitchFamily="34" charset="-122"/>
                <a:cs typeface="Geist" pitchFamily="34" charset="-120"/>
              </a:rPr>
              <a:t>from the goal + what the last tool returned</a:t>
            </a:r>
            <a:endParaRPr lang="en-US" sz="1050" dirty="0"/>
          </a:p>
        </p:txBody>
      </p:sp>
      <p:sp>
        <p:nvSpPr>
          <p:cNvPr id="30" name="Text 27"/>
          <p:cNvSpPr txBox="1"/>
          <p:nvPr/>
        </p:nvSpPr>
        <p:spPr>
          <a:xfrm>
            <a:off x="4526280" y="3739896"/>
            <a:ext cx="2011680" cy="411480"/>
          </a:xfrm>
          <a:prstGeom prst="rect">
            <a:avLst/>
          </a:prstGeom>
          <a:noFill/>
          <a:ln/>
        </p:spPr>
        <p:txBody>
          <a:bodyPr wrap="square" lIns="0" tIns="0" rIns="0" bIns="0" rtlCol="0" anchor="t"/>
          <a:lstStyle/>
          <a:p>
            <a:pPr indent="0" marL="0">
              <a:buNone/>
            </a:pPr>
            <a:r>
              <a:rPr lang="en-US" sz="1050" dirty="0">
                <a:solidFill>
                  <a:srgbClr val="FF5700"/>
                </a:solidFill>
                <a:latin typeface="Geist" pitchFamily="34" charset="0"/>
                <a:ea typeface="Geist" pitchFamily="34" charset="-122"/>
                <a:cs typeface="Geist" pitchFamily="34" charset="-120"/>
              </a:rPr>
              <a:t>the model, at runtime</a:t>
            </a:r>
            <a:endParaRPr lang="en-US" sz="1050" dirty="0"/>
          </a:p>
        </p:txBody>
      </p:sp>
      <p:sp>
        <p:nvSpPr>
          <p:cNvPr id="31" name="Text 28"/>
          <p:cNvSpPr txBox="1"/>
          <p:nvPr/>
        </p:nvSpPr>
        <p:spPr>
          <a:xfrm>
            <a:off x="6583680" y="3739896"/>
            <a:ext cx="2103120" cy="411480"/>
          </a:xfrm>
          <a:prstGeom prst="rect">
            <a:avLst/>
          </a:prstGeom>
          <a:noFill/>
          <a:ln/>
        </p:spPr>
        <p:txBody>
          <a:bodyPr wrap="square" lIns="0" tIns="0" rIns="0" bIns="0" rtlCol="0" anchor="t"/>
          <a:lstStyle/>
          <a:p>
            <a:pPr indent="0" marL="0">
              <a:buNone/>
            </a:pPr>
            <a:r>
              <a:rPr lang="en-US" sz="1050" dirty="0">
                <a:solidFill>
                  <a:srgbClr val="FF5700"/>
                </a:solidFill>
                <a:latin typeface="Geist" pitchFamily="34" charset="0"/>
                <a:ea typeface="Geist" pitchFamily="34" charset="-122"/>
                <a:cs typeface="Geist" pitchFamily="34" charset="-120"/>
              </a:rPr>
              <a:t>Yes — including cases nobody wanted</a:t>
            </a:r>
            <a:endParaRPr lang="en-US" sz="1050" dirty="0"/>
          </a:p>
        </p:txBody>
      </p:sp>
      <p:sp>
        <p:nvSpPr>
          <p:cNvPr id="32" name="Shape 29"/>
          <p:cNvSpPr/>
          <p:nvPr/>
        </p:nvSpPr>
        <p:spPr>
          <a:xfrm>
            <a:off x="457200" y="4160520"/>
            <a:ext cx="8229600" cy="548640"/>
          </a:xfrm>
          <a:prstGeom prst="rect">
            <a:avLst/>
          </a:prstGeom>
          <a:solidFill>
            <a:srgbClr val="F7F7F5"/>
          </a:solidFill>
          <a:ln w="9525">
            <a:solidFill>
              <a:srgbClr val="E5E5E5"/>
            </a:solidFill>
            <a:prstDash val="solid"/>
          </a:ln>
        </p:spPr>
      </p:sp>
      <p:sp>
        <p:nvSpPr>
          <p:cNvPr id="33" name="Text 30"/>
          <p:cNvSpPr txBox="1"/>
          <p:nvPr/>
        </p:nvSpPr>
        <p:spPr>
          <a:xfrm>
            <a:off x="685800" y="4160520"/>
            <a:ext cx="7772400" cy="548640"/>
          </a:xfrm>
          <a:prstGeom prst="rect">
            <a:avLst/>
          </a:prstGeom>
          <a:noFill/>
          <a:ln/>
        </p:spPr>
        <p:txBody>
          <a:bodyPr wrap="square" lIns="0" tIns="0" rIns="0" bIns="0" rtlCol="0" anchor="ctr"/>
          <a:lstStyle/>
          <a:p>
            <a:pPr indent="0" marL="0">
              <a:buNone/>
            </a:pPr>
            <a:r>
              <a:rPr lang="en-US" sz="900" spc="200" kern="0" dirty="0">
                <a:solidFill>
                  <a:srgbClr val="FF5700"/>
                </a:solidFill>
                <a:latin typeface="IBM Plex Mono" pitchFamily="34" charset="0"/>
                <a:ea typeface="IBM Plex Mono" pitchFamily="34" charset="-122"/>
                <a:cs typeface="IBM Plex Mono" pitchFamily="34" charset="-120"/>
              </a:rPr>
              <a:t>RULE  </a:t>
            </a:r>
            <a:pPr indent="0" marL="0">
              <a:buNone/>
            </a:pPr>
            <a:r>
              <a:rPr lang="en-US" sz="1150" dirty="0">
                <a:solidFill>
                  <a:srgbClr val="1C1C1C"/>
                </a:solidFill>
                <a:latin typeface="Geist" pitchFamily="34" charset="0"/>
                <a:ea typeface="Geist" pitchFamily="34" charset="-122"/>
                <a:cs typeface="Geist" pitchFamily="34" charset="-120"/>
              </a:rPr>
              <a:t>code decides before it runs; an agent decides as it runs. Use a workflow whenever the rules are known, an agent only when they aren't — and pay for it with limits, approvals and evals.</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3" name="Text 0"/>
          <p:cNvSpPr txBox="1"/>
          <p:nvPr/>
        </p:nvSpPr>
        <p:spPr>
          <a:xfrm>
            <a:off x="457200" y="274320"/>
            <a:ext cx="8229600" cy="248920"/>
          </a:xfrm>
          <a:prstGeom prst="rect">
            <a:avLst/>
          </a:prstGeom>
          <a:noFill/>
          <a:ln/>
        </p:spPr>
        <p:txBody>
          <a:bodyPr wrap="square" lIns="0" tIns="0" rIns="0" bIns="0" rtlCol="0" anchor="ctr"/>
          <a:lstStyle/>
          <a:p>
            <a:pPr indent="0" marL="0">
              <a:buNone/>
            </a:pPr>
            <a:r>
              <a:rPr lang="en-US" sz="1400" b="1" spc="100" kern="0" dirty="0">
                <a:solidFill>
                  <a:srgbClr val="1C1C1C"/>
                </a:solidFill>
                <a:latin typeface="Geist" pitchFamily="34" charset="0"/>
                <a:ea typeface="Geist" pitchFamily="34" charset="-122"/>
                <a:cs typeface="Geist" pitchFamily="34" charset="-120"/>
              </a:rPr>
              <a:t>learn  with  </a:t>
            </a:r>
            <a:pPr indent="0" marL="0">
              <a:buNone/>
            </a:pPr>
            <a:r>
              <a:rPr lang="en-US" sz="1400" b="1" spc="100" kern="0" dirty="0">
                <a:solidFill>
                  <a:srgbClr val="FF5700"/>
                </a:solidFill>
                <a:latin typeface="Geist" pitchFamily="34" charset="0"/>
                <a:ea typeface="Geist" pitchFamily="34" charset="-122"/>
                <a:cs typeface="Geist" pitchFamily="34" charset="-120"/>
              </a:rPr>
              <a:t>harsha</a:t>
            </a:r>
            <a:pPr indent="0" marL="0">
              <a:buNone/>
            </a:pPr>
            <a:r>
              <a:rPr lang="en-US" sz="600" b="1" spc="100" kern="0" dirty="0">
                <a:solidFill>
                  <a:srgbClr val="FF5700"/>
                </a:solidFill>
                <a:latin typeface="Geist" pitchFamily="34" charset="0"/>
                <a:ea typeface="Geist" pitchFamily="34" charset="-122"/>
                <a:cs typeface="Geist" pitchFamily="34" charset="-120"/>
              </a:rPr>
              <a:t>  ■</a:t>
            </a:r>
            <a:endParaRPr lang="en-US" sz="1400" dirty="0"/>
          </a:p>
        </p:txBody>
      </p:sp>
      <p:sp>
        <p:nvSpPr>
          <p:cNvPr id="4" name="Shape 1"/>
          <p:cNvSpPr/>
          <p:nvPr/>
        </p:nvSpPr>
        <p:spPr>
          <a:xfrm>
            <a:off x="457200" y="905256"/>
            <a:ext cx="91440" cy="91440"/>
          </a:xfrm>
          <a:prstGeom prst="rect">
            <a:avLst/>
          </a:prstGeom>
          <a:solidFill>
            <a:srgbClr val="FF5700"/>
          </a:solidFill>
          <a:ln/>
        </p:spPr>
      </p:sp>
      <p:sp>
        <p:nvSpPr>
          <p:cNvPr id="5" name="Text 2"/>
          <p:cNvSpPr txBox="1"/>
          <p:nvPr/>
        </p:nvSpPr>
        <p:spPr>
          <a:xfrm>
            <a:off x="621792" y="804672"/>
            <a:ext cx="6400800" cy="292608"/>
          </a:xfrm>
          <a:prstGeom prst="rect">
            <a:avLst/>
          </a:prstGeom>
          <a:noFill/>
          <a:ln/>
        </p:spPr>
        <p:txBody>
          <a:bodyPr wrap="square" lIns="0" tIns="0" rIns="0" bIns="0" rtlCol="0" anchor="ctr"/>
          <a:lstStyle/>
          <a:p>
            <a:pPr indent="0" marL="0">
              <a:buNone/>
            </a:pPr>
            <a:r>
              <a:rPr lang="en-US" sz="1000" spc="400" kern="0" dirty="0">
                <a:solidFill>
                  <a:srgbClr val="FF5700"/>
                </a:solidFill>
                <a:latin typeface="IBM Plex Mono" pitchFamily="34" charset="0"/>
                <a:ea typeface="IBM Plex Mono" pitchFamily="34" charset="-122"/>
                <a:cs typeface="IBM Plex Mono" pitchFamily="34" charset="-120"/>
              </a:rPr>
              <a:t>THE SERIES</a:t>
            </a:r>
            <a:endParaRPr lang="en-US" sz="1000" dirty="0"/>
          </a:p>
        </p:txBody>
      </p:sp>
      <p:sp>
        <p:nvSpPr>
          <p:cNvPr id="6" name="Text 3"/>
          <p:cNvSpPr txBox="1"/>
          <p:nvPr/>
        </p:nvSpPr>
        <p:spPr>
          <a:xfrm>
            <a:off x="457200" y="1078992"/>
            <a:ext cx="8229600" cy="640080"/>
          </a:xfrm>
          <a:prstGeom prst="rect">
            <a:avLst/>
          </a:prstGeom>
          <a:noFill/>
          <a:ln/>
        </p:spPr>
        <p:txBody>
          <a:bodyPr wrap="square" lIns="0" tIns="0" rIns="0" bIns="0" rtlCol="0" anchor="ctr"/>
          <a:lstStyle/>
          <a:p>
            <a:pPr indent="0" marL="0">
              <a:buNone/>
            </a:pPr>
            <a:r>
              <a:rPr lang="en-US" sz="2800" b="1" spc="-100" kern="0" dirty="0">
                <a:solidFill>
                  <a:srgbClr val="1C1C1C"/>
                </a:solidFill>
                <a:latin typeface="Geist" pitchFamily="34" charset="0"/>
                <a:ea typeface="Geist" pitchFamily="34" charset="-122"/>
                <a:cs typeface="Geist" pitchFamily="34" charset="-120"/>
              </a:rPr>
              <a:t>Where agents live in an ERP</a:t>
            </a:r>
            <a:endParaRPr lang="en-US" sz="2800" dirty="0"/>
          </a:p>
        </p:txBody>
      </p:sp>
      <p:sp>
        <p:nvSpPr>
          <p:cNvPr id="7" name="Text 4"/>
          <p:cNvSpPr txBox="1"/>
          <p:nvPr/>
        </p:nvSpPr>
        <p:spPr>
          <a:xfrm>
            <a:off x="457200" y="4754880"/>
            <a:ext cx="5943600" cy="228600"/>
          </a:xfrm>
          <a:prstGeom prst="rect">
            <a:avLst/>
          </a:prstGeom>
          <a:noFill/>
          <a:ln/>
        </p:spPr>
        <p:txBody>
          <a:bodyPr wrap="square" lIns="0" tIns="0" rIns="0" bIns="0" rtlCol="0" anchor="ctr"/>
          <a:lstStyle/>
          <a:p>
            <a:pPr indent="0" marL="0">
              <a:buNone/>
            </a:pPr>
            <a:r>
              <a:rPr lang="en-US" sz="800" spc="100" kern="0" dirty="0">
                <a:solidFill>
                  <a:srgbClr val="919191"/>
                </a:solidFill>
                <a:latin typeface="IBM Plex Mono" pitchFamily="34" charset="0"/>
                <a:ea typeface="IBM Plex Mono" pitchFamily="34" charset="-122"/>
                <a:cs typeface="IBM Plex Mono" pitchFamily="34" charset="-120"/>
              </a:rPr>
              <a:t>Arthashastra Learning · The Agentic Enterprise</a:t>
            </a:r>
            <a:endParaRPr lang="en-US" sz="800" dirty="0"/>
          </a:p>
        </p:txBody>
      </p:sp>
      <p:sp>
        <p:nvSpPr>
          <p:cNvPr id="8" name="Text 5"/>
          <p:cNvSpPr txBox="1"/>
          <p:nvPr/>
        </p:nvSpPr>
        <p:spPr>
          <a:xfrm>
            <a:off x="6858000" y="4754880"/>
            <a:ext cx="1828800" cy="228600"/>
          </a:xfrm>
          <a:prstGeom prst="rect">
            <a:avLst/>
          </a:prstGeom>
          <a:noFill/>
          <a:ln/>
        </p:spPr>
        <p:txBody>
          <a:bodyPr wrap="square" lIns="0" tIns="0" rIns="0" bIns="0" rtlCol="0" anchor="ctr"/>
          <a:lstStyle/>
          <a:p>
            <a:pPr algn="r" indent="0" marL="0">
              <a:buNone/>
            </a:pPr>
            <a:r>
              <a:rPr lang="en-US" sz="800" spc="100" kern="0" dirty="0">
                <a:solidFill>
                  <a:srgbClr val="919191"/>
                </a:solidFill>
                <a:latin typeface="IBM Plex Mono" pitchFamily="34" charset="0"/>
                <a:ea typeface="IBM Plex Mono" pitchFamily="34" charset="-122"/>
                <a:cs typeface="IBM Plex Mono" pitchFamily="34" charset="-120"/>
              </a:rPr>
              <a:t>arthashastra.ai</a:t>
            </a:r>
            <a:endParaRPr lang="en-US" sz="800" dirty="0"/>
          </a:p>
        </p:txBody>
      </p:sp>
      <p:sp>
        <p:nvSpPr>
          <p:cNvPr id="9" name="Shape 6"/>
          <p:cNvSpPr/>
          <p:nvPr/>
        </p:nvSpPr>
        <p:spPr>
          <a:xfrm>
            <a:off x="457200" y="1783080"/>
            <a:ext cx="2606040" cy="1097280"/>
          </a:xfrm>
          <a:prstGeom prst="rect">
            <a:avLst/>
          </a:prstGeom>
          <a:solidFill>
            <a:srgbClr val="F7F7F5"/>
          </a:solidFill>
          <a:ln w="9525">
            <a:solidFill>
              <a:srgbClr val="E5E5E5"/>
            </a:solidFill>
            <a:prstDash val="solid"/>
          </a:ln>
        </p:spPr>
      </p:sp>
      <p:sp>
        <p:nvSpPr>
          <p:cNvPr id="10" name="Text 7"/>
          <p:cNvSpPr txBox="1"/>
          <p:nvPr/>
        </p:nvSpPr>
        <p:spPr>
          <a:xfrm>
            <a:off x="685800" y="1920240"/>
            <a:ext cx="1645920" cy="320040"/>
          </a:xfrm>
          <a:prstGeom prst="rect">
            <a:avLst/>
          </a:prstGeom>
          <a:noFill/>
          <a:ln/>
        </p:spPr>
        <p:txBody>
          <a:bodyPr wrap="square" lIns="0" tIns="0" rIns="0" bIns="0" rtlCol="0" anchor="t"/>
          <a:lstStyle/>
          <a:p>
            <a:pPr indent="0" marL="0">
              <a:buNone/>
            </a:pPr>
            <a:r>
              <a:rPr lang="en-US" sz="1400" b="1" spc="-50" kern="0" dirty="0">
                <a:solidFill>
                  <a:srgbClr val="1C1C1C"/>
                </a:solidFill>
                <a:latin typeface="Geist" pitchFamily="34" charset="0"/>
                <a:ea typeface="Geist" pitchFamily="34" charset="-122"/>
                <a:cs typeface="Geist" pitchFamily="34" charset="-120"/>
              </a:rPr>
              <a:t>Sales / CRM</a:t>
            </a:r>
            <a:endParaRPr lang="en-US" sz="1400" dirty="0"/>
          </a:p>
        </p:txBody>
      </p:sp>
      <p:sp>
        <p:nvSpPr>
          <p:cNvPr id="11" name="Text 8"/>
          <p:cNvSpPr txBox="1"/>
          <p:nvPr/>
        </p:nvSpPr>
        <p:spPr>
          <a:xfrm>
            <a:off x="2194560" y="1938528"/>
            <a:ext cx="685800" cy="274320"/>
          </a:xfrm>
          <a:prstGeom prst="rect">
            <a:avLst/>
          </a:prstGeom>
          <a:noFill/>
          <a:ln/>
        </p:spPr>
        <p:txBody>
          <a:bodyPr wrap="square" lIns="0" tIns="0" rIns="0" bIns="0" rtlCol="0" anchor="ctr"/>
          <a:lstStyle/>
          <a:p>
            <a:pPr algn="r" indent="0" marL="0">
              <a:buNone/>
            </a:pPr>
            <a:r>
              <a:rPr lang="en-US" sz="800" dirty="0">
                <a:solidFill>
                  <a:srgbClr val="FF5700"/>
                </a:solidFill>
                <a:latin typeface="IBM Plex Mono" pitchFamily="34" charset="0"/>
                <a:ea typeface="IBM Plex Mono" pitchFamily="34" charset="-122"/>
                <a:cs typeface="IBM Plex Mono" pitchFamily="34" charset="-120"/>
              </a:rPr>
              <a:t>Ep 2</a:t>
            </a:r>
            <a:endParaRPr lang="en-US" sz="800" dirty="0"/>
          </a:p>
        </p:txBody>
      </p:sp>
      <p:sp>
        <p:nvSpPr>
          <p:cNvPr id="12" name="Text 9"/>
          <p:cNvSpPr txBox="1"/>
          <p:nvPr/>
        </p:nvSpPr>
        <p:spPr>
          <a:xfrm>
            <a:off x="685800" y="2286000"/>
            <a:ext cx="2194560" cy="548640"/>
          </a:xfrm>
          <a:prstGeom prst="rect">
            <a:avLst/>
          </a:prstGeom>
          <a:noFill/>
          <a:ln/>
        </p:spPr>
        <p:txBody>
          <a:bodyPr wrap="square" lIns="0" tIns="0" rIns="0" bIns="0" rtlCol="0" anchor="t"/>
          <a:lstStyle/>
          <a:p>
            <a:pPr indent="0" marL="0">
              <a:buNone/>
            </a:pPr>
            <a:r>
              <a:rPr lang="en-US" sz="1050" dirty="0">
                <a:solidFill>
                  <a:srgbClr val="6B7280"/>
                </a:solidFill>
                <a:latin typeface="Geist" pitchFamily="34" charset="0"/>
                <a:ea typeface="Geist" pitchFamily="34" charset="-122"/>
                <a:cs typeface="Geist" pitchFamily="34" charset="-120"/>
              </a:rPr>
              <a:t>quote-to-order · returns · lead triage</a:t>
            </a:r>
            <a:endParaRPr lang="en-US" sz="1050" dirty="0"/>
          </a:p>
        </p:txBody>
      </p:sp>
      <p:sp>
        <p:nvSpPr>
          <p:cNvPr id="13" name="Shape 10"/>
          <p:cNvSpPr/>
          <p:nvPr/>
        </p:nvSpPr>
        <p:spPr>
          <a:xfrm>
            <a:off x="3246120" y="1783080"/>
            <a:ext cx="2606040" cy="1097280"/>
          </a:xfrm>
          <a:prstGeom prst="rect">
            <a:avLst/>
          </a:prstGeom>
          <a:solidFill>
            <a:srgbClr val="FFFFFF"/>
          </a:solidFill>
          <a:ln w="9525">
            <a:solidFill>
              <a:srgbClr val="E5E5E5"/>
            </a:solidFill>
            <a:prstDash val="solid"/>
          </a:ln>
        </p:spPr>
      </p:sp>
      <p:sp>
        <p:nvSpPr>
          <p:cNvPr id="14" name="Text 11"/>
          <p:cNvSpPr txBox="1"/>
          <p:nvPr/>
        </p:nvSpPr>
        <p:spPr>
          <a:xfrm>
            <a:off x="3474720" y="1920240"/>
            <a:ext cx="1645920" cy="320040"/>
          </a:xfrm>
          <a:prstGeom prst="rect">
            <a:avLst/>
          </a:prstGeom>
          <a:noFill/>
          <a:ln/>
        </p:spPr>
        <p:txBody>
          <a:bodyPr wrap="square" lIns="0" tIns="0" rIns="0" bIns="0" rtlCol="0" anchor="t"/>
          <a:lstStyle/>
          <a:p>
            <a:pPr indent="0" marL="0">
              <a:buNone/>
            </a:pPr>
            <a:r>
              <a:rPr lang="en-US" sz="1400" b="1" spc="-50" kern="0" dirty="0">
                <a:solidFill>
                  <a:srgbClr val="1C1C1C"/>
                </a:solidFill>
                <a:latin typeface="Geist" pitchFamily="34" charset="0"/>
                <a:ea typeface="Geist" pitchFamily="34" charset="-122"/>
                <a:cs typeface="Geist" pitchFamily="34" charset="-120"/>
              </a:rPr>
              <a:t>Inventory</a:t>
            </a:r>
            <a:endParaRPr lang="en-US" sz="1400" dirty="0"/>
          </a:p>
        </p:txBody>
      </p:sp>
      <p:sp>
        <p:nvSpPr>
          <p:cNvPr id="15" name="Text 12"/>
          <p:cNvSpPr txBox="1"/>
          <p:nvPr/>
        </p:nvSpPr>
        <p:spPr>
          <a:xfrm>
            <a:off x="4983480" y="1938528"/>
            <a:ext cx="685800" cy="274320"/>
          </a:xfrm>
          <a:prstGeom prst="rect">
            <a:avLst/>
          </a:prstGeom>
          <a:noFill/>
          <a:ln/>
        </p:spPr>
        <p:txBody>
          <a:bodyPr wrap="square" lIns="0" tIns="0" rIns="0" bIns="0" rtlCol="0" anchor="ctr"/>
          <a:lstStyle/>
          <a:p>
            <a:pPr algn="r" indent="0" marL="0">
              <a:buNone/>
            </a:pPr>
            <a:r>
              <a:rPr lang="en-US" sz="800" dirty="0">
                <a:solidFill>
                  <a:srgbClr val="FF5700"/>
                </a:solidFill>
                <a:latin typeface="IBM Plex Mono" pitchFamily="34" charset="0"/>
                <a:ea typeface="IBM Plex Mono" pitchFamily="34" charset="-122"/>
                <a:cs typeface="IBM Plex Mono" pitchFamily="34" charset="-120"/>
              </a:rPr>
              <a:t>Ep 6</a:t>
            </a:r>
            <a:endParaRPr lang="en-US" sz="800" dirty="0"/>
          </a:p>
        </p:txBody>
      </p:sp>
      <p:sp>
        <p:nvSpPr>
          <p:cNvPr id="16" name="Text 13"/>
          <p:cNvSpPr txBox="1"/>
          <p:nvPr/>
        </p:nvSpPr>
        <p:spPr>
          <a:xfrm>
            <a:off x="3474720" y="2286000"/>
            <a:ext cx="2194560" cy="548640"/>
          </a:xfrm>
          <a:prstGeom prst="rect">
            <a:avLst/>
          </a:prstGeom>
          <a:noFill/>
          <a:ln/>
        </p:spPr>
        <p:txBody>
          <a:bodyPr wrap="square" lIns="0" tIns="0" rIns="0" bIns="0" rtlCol="0" anchor="t"/>
          <a:lstStyle/>
          <a:p>
            <a:pPr indent="0" marL="0">
              <a:buNone/>
            </a:pPr>
            <a:r>
              <a:rPr lang="en-US" sz="1050" dirty="0">
                <a:solidFill>
                  <a:srgbClr val="6B7280"/>
                </a:solidFill>
                <a:latin typeface="Geist" pitchFamily="34" charset="0"/>
                <a:ea typeface="Geist" pitchFamily="34" charset="-122"/>
                <a:cs typeface="Geist" pitchFamily="34" charset="-120"/>
              </a:rPr>
              <a:t>reorder · stock exceptions</a:t>
            </a:r>
            <a:endParaRPr lang="en-US" sz="1050" dirty="0"/>
          </a:p>
        </p:txBody>
      </p:sp>
      <p:sp>
        <p:nvSpPr>
          <p:cNvPr id="17" name="Shape 14"/>
          <p:cNvSpPr/>
          <p:nvPr/>
        </p:nvSpPr>
        <p:spPr>
          <a:xfrm>
            <a:off x="6035040" y="1783080"/>
            <a:ext cx="2606040" cy="1097280"/>
          </a:xfrm>
          <a:prstGeom prst="rect">
            <a:avLst/>
          </a:prstGeom>
          <a:solidFill>
            <a:srgbClr val="FFFFFF"/>
          </a:solidFill>
          <a:ln w="9525">
            <a:solidFill>
              <a:srgbClr val="E5E5E5"/>
            </a:solidFill>
            <a:prstDash val="solid"/>
          </a:ln>
        </p:spPr>
      </p:sp>
      <p:sp>
        <p:nvSpPr>
          <p:cNvPr id="18" name="Text 15"/>
          <p:cNvSpPr txBox="1"/>
          <p:nvPr/>
        </p:nvSpPr>
        <p:spPr>
          <a:xfrm>
            <a:off x="6263640" y="1920240"/>
            <a:ext cx="1645920" cy="320040"/>
          </a:xfrm>
          <a:prstGeom prst="rect">
            <a:avLst/>
          </a:prstGeom>
          <a:noFill/>
          <a:ln/>
        </p:spPr>
        <p:txBody>
          <a:bodyPr wrap="square" lIns="0" tIns="0" rIns="0" bIns="0" rtlCol="0" anchor="t"/>
          <a:lstStyle/>
          <a:p>
            <a:pPr indent="0" marL="0">
              <a:buNone/>
            </a:pPr>
            <a:r>
              <a:rPr lang="en-US" sz="1400" b="1" spc="-50" kern="0" dirty="0">
                <a:solidFill>
                  <a:srgbClr val="1C1C1C"/>
                </a:solidFill>
                <a:latin typeface="Geist" pitchFamily="34" charset="0"/>
                <a:ea typeface="Geist" pitchFamily="34" charset="-122"/>
                <a:cs typeface="Geist" pitchFamily="34" charset="-120"/>
              </a:rPr>
              <a:t>Finance</a:t>
            </a:r>
            <a:endParaRPr lang="en-US" sz="1400" dirty="0"/>
          </a:p>
        </p:txBody>
      </p:sp>
      <p:sp>
        <p:nvSpPr>
          <p:cNvPr id="19" name="Text 16"/>
          <p:cNvSpPr txBox="1"/>
          <p:nvPr/>
        </p:nvSpPr>
        <p:spPr>
          <a:xfrm>
            <a:off x="7772400" y="1938528"/>
            <a:ext cx="685800" cy="274320"/>
          </a:xfrm>
          <a:prstGeom prst="rect">
            <a:avLst/>
          </a:prstGeom>
          <a:noFill/>
          <a:ln/>
        </p:spPr>
        <p:txBody>
          <a:bodyPr wrap="square" lIns="0" tIns="0" rIns="0" bIns="0" rtlCol="0" anchor="ctr"/>
          <a:lstStyle/>
          <a:p>
            <a:pPr algn="r" indent="0" marL="0">
              <a:buNone/>
            </a:pPr>
            <a:r>
              <a:rPr lang="en-US" sz="800" dirty="0">
                <a:solidFill>
                  <a:srgbClr val="FF5700"/>
                </a:solidFill>
                <a:latin typeface="IBM Plex Mono" pitchFamily="34" charset="0"/>
                <a:ea typeface="IBM Plex Mono" pitchFamily="34" charset="-122"/>
                <a:cs typeface="IBM Plex Mono" pitchFamily="34" charset="-120"/>
              </a:rPr>
              <a:t>Ep 12, 26</a:t>
            </a:r>
            <a:endParaRPr lang="en-US" sz="800" dirty="0"/>
          </a:p>
        </p:txBody>
      </p:sp>
      <p:sp>
        <p:nvSpPr>
          <p:cNvPr id="20" name="Text 17"/>
          <p:cNvSpPr txBox="1"/>
          <p:nvPr/>
        </p:nvSpPr>
        <p:spPr>
          <a:xfrm>
            <a:off x="6263640" y="2286000"/>
            <a:ext cx="2194560" cy="548640"/>
          </a:xfrm>
          <a:prstGeom prst="rect">
            <a:avLst/>
          </a:prstGeom>
          <a:noFill/>
          <a:ln/>
        </p:spPr>
        <p:txBody>
          <a:bodyPr wrap="square" lIns="0" tIns="0" rIns="0" bIns="0" rtlCol="0" anchor="t"/>
          <a:lstStyle/>
          <a:p>
            <a:pPr indent="0" marL="0">
              <a:buNone/>
            </a:pPr>
            <a:r>
              <a:rPr lang="en-US" sz="1050" dirty="0">
                <a:solidFill>
                  <a:srgbClr val="6B7280"/>
                </a:solidFill>
                <a:latin typeface="Geist" pitchFamily="34" charset="0"/>
                <a:ea typeface="Geist" pitchFamily="34" charset="-122"/>
                <a:cs typeface="Geist" pitchFamily="34" charset="-120"/>
              </a:rPr>
              <a:t>invoice matching · month-end reconciliation</a:t>
            </a:r>
            <a:endParaRPr lang="en-US" sz="1050" dirty="0"/>
          </a:p>
        </p:txBody>
      </p:sp>
      <p:sp>
        <p:nvSpPr>
          <p:cNvPr id="21" name="Shape 18"/>
          <p:cNvSpPr/>
          <p:nvPr/>
        </p:nvSpPr>
        <p:spPr>
          <a:xfrm>
            <a:off x="457200" y="3017520"/>
            <a:ext cx="2606040" cy="1097280"/>
          </a:xfrm>
          <a:prstGeom prst="rect">
            <a:avLst/>
          </a:prstGeom>
          <a:solidFill>
            <a:srgbClr val="FFFFFF"/>
          </a:solidFill>
          <a:ln w="9525">
            <a:solidFill>
              <a:srgbClr val="E5E5E5"/>
            </a:solidFill>
            <a:prstDash val="solid"/>
          </a:ln>
        </p:spPr>
      </p:sp>
      <p:sp>
        <p:nvSpPr>
          <p:cNvPr id="22" name="Text 19"/>
          <p:cNvSpPr txBox="1"/>
          <p:nvPr/>
        </p:nvSpPr>
        <p:spPr>
          <a:xfrm>
            <a:off x="685800" y="3154680"/>
            <a:ext cx="1645920" cy="320040"/>
          </a:xfrm>
          <a:prstGeom prst="rect">
            <a:avLst/>
          </a:prstGeom>
          <a:noFill/>
          <a:ln/>
        </p:spPr>
        <p:txBody>
          <a:bodyPr wrap="square" lIns="0" tIns="0" rIns="0" bIns="0" rtlCol="0" anchor="t"/>
          <a:lstStyle/>
          <a:p>
            <a:pPr indent="0" marL="0">
              <a:buNone/>
            </a:pPr>
            <a:r>
              <a:rPr lang="en-US" sz="1400" b="1" spc="-50" kern="0" dirty="0">
                <a:solidFill>
                  <a:srgbClr val="1C1C1C"/>
                </a:solidFill>
                <a:latin typeface="Geist" pitchFamily="34" charset="0"/>
                <a:ea typeface="Geist" pitchFamily="34" charset="-122"/>
                <a:cs typeface="Geist" pitchFamily="34" charset="-120"/>
              </a:rPr>
              <a:t>Procurement</a:t>
            </a:r>
            <a:endParaRPr lang="en-US" sz="1400" dirty="0"/>
          </a:p>
        </p:txBody>
      </p:sp>
      <p:sp>
        <p:nvSpPr>
          <p:cNvPr id="23" name="Text 20"/>
          <p:cNvSpPr txBox="1"/>
          <p:nvPr/>
        </p:nvSpPr>
        <p:spPr>
          <a:xfrm>
            <a:off x="2194560" y="3172968"/>
            <a:ext cx="685800" cy="274320"/>
          </a:xfrm>
          <a:prstGeom prst="rect">
            <a:avLst/>
          </a:prstGeom>
          <a:noFill/>
          <a:ln/>
        </p:spPr>
        <p:txBody>
          <a:bodyPr wrap="square" lIns="0" tIns="0" rIns="0" bIns="0" rtlCol="0" anchor="ctr"/>
          <a:lstStyle/>
          <a:p>
            <a:pPr algn="r" indent="0" marL="0">
              <a:buNone/>
            </a:pPr>
            <a:r>
              <a:rPr lang="en-US" sz="800" dirty="0">
                <a:solidFill>
                  <a:srgbClr val="FF5700"/>
                </a:solidFill>
                <a:latin typeface="IBM Plex Mono" pitchFamily="34" charset="0"/>
                <a:ea typeface="IBM Plex Mono" pitchFamily="34" charset="-122"/>
                <a:cs typeface="IBM Plex Mono" pitchFamily="34" charset="-120"/>
              </a:rPr>
              <a:t>Ep 6–8</a:t>
            </a:r>
            <a:endParaRPr lang="en-US" sz="800" dirty="0"/>
          </a:p>
        </p:txBody>
      </p:sp>
      <p:sp>
        <p:nvSpPr>
          <p:cNvPr id="24" name="Text 21"/>
          <p:cNvSpPr txBox="1"/>
          <p:nvPr/>
        </p:nvSpPr>
        <p:spPr>
          <a:xfrm>
            <a:off x="685800" y="3520440"/>
            <a:ext cx="2194560" cy="548640"/>
          </a:xfrm>
          <a:prstGeom prst="rect">
            <a:avLst/>
          </a:prstGeom>
          <a:noFill/>
          <a:ln/>
        </p:spPr>
        <p:txBody>
          <a:bodyPr wrap="square" lIns="0" tIns="0" rIns="0" bIns="0" rtlCol="0" anchor="t"/>
          <a:lstStyle/>
          <a:p>
            <a:pPr indent="0" marL="0">
              <a:buNone/>
            </a:pPr>
            <a:r>
              <a:rPr lang="en-US" sz="1050" dirty="0">
                <a:solidFill>
                  <a:srgbClr val="6B7280"/>
                </a:solidFill>
                <a:latin typeface="Geist" pitchFamily="34" charset="0"/>
                <a:ea typeface="Geist" pitchFamily="34" charset="-122"/>
                <a:cs typeface="Geist" pitchFamily="34" charset="-120"/>
              </a:rPr>
              <a:t>supplier search · PO approval</a:t>
            </a:r>
            <a:endParaRPr lang="en-US" sz="1050" dirty="0"/>
          </a:p>
        </p:txBody>
      </p:sp>
      <p:sp>
        <p:nvSpPr>
          <p:cNvPr id="25" name="Shape 22"/>
          <p:cNvSpPr/>
          <p:nvPr/>
        </p:nvSpPr>
        <p:spPr>
          <a:xfrm>
            <a:off x="3246120" y="3017520"/>
            <a:ext cx="2606040" cy="1097280"/>
          </a:xfrm>
          <a:prstGeom prst="rect">
            <a:avLst/>
          </a:prstGeom>
          <a:solidFill>
            <a:srgbClr val="FFFFFF"/>
          </a:solidFill>
          <a:ln w="9525">
            <a:solidFill>
              <a:srgbClr val="E5E5E5"/>
            </a:solidFill>
            <a:prstDash val="solid"/>
          </a:ln>
        </p:spPr>
      </p:sp>
      <p:sp>
        <p:nvSpPr>
          <p:cNvPr id="26" name="Text 23"/>
          <p:cNvSpPr txBox="1"/>
          <p:nvPr/>
        </p:nvSpPr>
        <p:spPr>
          <a:xfrm>
            <a:off x="3474720" y="3154680"/>
            <a:ext cx="1645920" cy="320040"/>
          </a:xfrm>
          <a:prstGeom prst="rect">
            <a:avLst/>
          </a:prstGeom>
          <a:noFill/>
          <a:ln/>
        </p:spPr>
        <p:txBody>
          <a:bodyPr wrap="square" lIns="0" tIns="0" rIns="0" bIns="0" rtlCol="0" anchor="t"/>
          <a:lstStyle/>
          <a:p>
            <a:pPr indent="0" marL="0">
              <a:buNone/>
            </a:pPr>
            <a:r>
              <a:rPr lang="en-US" sz="1400" b="1" spc="-50" kern="0" dirty="0">
                <a:solidFill>
                  <a:srgbClr val="1C1C1C"/>
                </a:solidFill>
                <a:latin typeface="Geist" pitchFamily="34" charset="0"/>
                <a:ea typeface="Geist" pitchFamily="34" charset="-122"/>
                <a:cs typeface="Geist" pitchFamily="34" charset="-120"/>
              </a:rPr>
              <a:t>HR</a:t>
            </a:r>
            <a:endParaRPr lang="en-US" sz="1400" dirty="0"/>
          </a:p>
        </p:txBody>
      </p:sp>
      <p:sp>
        <p:nvSpPr>
          <p:cNvPr id="27" name="Text 24"/>
          <p:cNvSpPr txBox="1"/>
          <p:nvPr/>
        </p:nvSpPr>
        <p:spPr>
          <a:xfrm>
            <a:off x="4983480" y="3172968"/>
            <a:ext cx="685800" cy="274320"/>
          </a:xfrm>
          <a:prstGeom prst="rect">
            <a:avLst/>
          </a:prstGeom>
          <a:noFill/>
          <a:ln/>
        </p:spPr>
        <p:txBody>
          <a:bodyPr wrap="square" lIns="0" tIns="0" rIns="0" bIns="0" rtlCol="0" anchor="ctr"/>
          <a:lstStyle/>
          <a:p>
            <a:pPr algn="r" indent="0" marL="0">
              <a:buNone/>
            </a:pPr>
            <a:r>
              <a:rPr lang="en-US" sz="800" dirty="0">
                <a:solidFill>
                  <a:srgbClr val="FF5700"/>
                </a:solidFill>
                <a:latin typeface="IBM Plex Mono" pitchFamily="34" charset="0"/>
                <a:ea typeface="IBM Plex Mono" pitchFamily="34" charset="-122"/>
                <a:cs typeface="IBM Plex Mono" pitchFamily="34" charset="-120"/>
              </a:rPr>
              <a:t>later</a:t>
            </a:r>
            <a:endParaRPr lang="en-US" sz="800" dirty="0"/>
          </a:p>
        </p:txBody>
      </p:sp>
      <p:sp>
        <p:nvSpPr>
          <p:cNvPr id="28" name="Text 25"/>
          <p:cNvSpPr txBox="1"/>
          <p:nvPr/>
        </p:nvSpPr>
        <p:spPr>
          <a:xfrm>
            <a:off x="3474720" y="3520440"/>
            <a:ext cx="2194560" cy="548640"/>
          </a:xfrm>
          <a:prstGeom prst="rect">
            <a:avLst/>
          </a:prstGeom>
          <a:noFill/>
          <a:ln/>
        </p:spPr>
        <p:txBody>
          <a:bodyPr wrap="square" lIns="0" tIns="0" rIns="0" bIns="0" rtlCol="0" anchor="t"/>
          <a:lstStyle/>
          <a:p>
            <a:pPr indent="0" marL="0">
              <a:buNone/>
            </a:pPr>
            <a:r>
              <a:rPr lang="en-US" sz="1050" dirty="0">
                <a:solidFill>
                  <a:srgbClr val="6B7280"/>
                </a:solidFill>
                <a:latin typeface="Geist" pitchFamily="34" charset="0"/>
                <a:ea typeface="Geist" pitchFamily="34" charset="-122"/>
                <a:cs typeface="Geist" pitchFamily="34" charset="-120"/>
              </a:rPr>
              <a:t>leave · expense approvals</a:t>
            </a:r>
            <a:endParaRPr lang="en-US" sz="1050" dirty="0"/>
          </a:p>
        </p:txBody>
      </p:sp>
      <p:sp>
        <p:nvSpPr>
          <p:cNvPr id="29" name="Shape 26"/>
          <p:cNvSpPr/>
          <p:nvPr/>
        </p:nvSpPr>
        <p:spPr>
          <a:xfrm>
            <a:off x="6035040" y="3017520"/>
            <a:ext cx="2606040" cy="1097280"/>
          </a:xfrm>
          <a:prstGeom prst="rect">
            <a:avLst/>
          </a:prstGeom>
          <a:solidFill>
            <a:srgbClr val="FFFFFF"/>
          </a:solidFill>
          <a:ln w="9525">
            <a:solidFill>
              <a:srgbClr val="E5E5E5"/>
            </a:solidFill>
            <a:prstDash val="solid"/>
          </a:ln>
        </p:spPr>
      </p:sp>
      <p:sp>
        <p:nvSpPr>
          <p:cNvPr id="30" name="Text 27"/>
          <p:cNvSpPr txBox="1"/>
          <p:nvPr/>
        </p:nvSpPr>
        <p:spPr>
          <a:xfrm>
            <a:off x="6263640" y="3154680"/>
            <a:ext cx="1645920" cy="320040"/>
          </a:xfrm>
          <a:prstGeom prst="rect">
            <a:avLst/>
          </a:prstGeom>
          <a:noFill/>
          <a:ln/>
        </p:spPr>
        <p:txBody>
          <a:bodyPr wrap="square" lIns="0" tIns="0" rIns="0" bIns="0" rtlCol="0" anchor="t"/>
          <a:lstStyle/>
          <a:p>
            <a:pPr indent="0" marL="0">
              <a:buNone/>
            </a:pPr>
            <a:r>
              <a:rPr lang="en-US" sz="1400" b="1" spc="-50" kern="0" dirty="0">
                <a:solidFill>
                  <a:srgbClr val="1C1C1C"/>
                </a:solidFill>
                <a:latin typeface="Geist" pitchFamily="34" charset="0"/>
                <a:ea typeface="Geist" pitchFamily="34" charset="-122"/>
                <a:cs typeface="Geist" pitchFamily="34" charset="-120"/>
              </a:rPr>
              <a:t>Platform</a:t>
            </a:r>
            <a:endParaRPr lang="en-US" sz="1400" dirty="0"/>
          </a:p>
        </p:txBody>
      </p:sp>
      <p:sp>
        <p:nvSpPr>
          <p:cNvPr id="31" name="Text 28"/>
          <p:cNvSpPr txBox="1"/>
          <p:nvPr/>
        </p:nvSpPr>
        <p:spPr>
          <a:xfrm>
            <a:off x="7772400" y="3172968"/>
            <a:ext cx="685800" cy="274320"/>
          </a:xfrm>
          <a:prstGeom prst="rect">
            <a:avLst/>
          </a:prstGeom>
          <a:noFill/>
          <a:ln/>
        </p:spPr>
        <p:txBody>
          <a:bodyPr wrap="square" lIns="0" tIns="0" rIns="0" bIns="0" rtlCol="0" anchor="ctr"/>
          <a:lstStyle/>
          <a:p>
            <a:pPr algn="r" indent="0" marL="0">
              <a:buNone/>
            </a:pPr>
            <a:r>
              <a:rPr lang="en-US" sz="800" dirty="0">
                <a:solidFill>
                  <a:srgbClr val="FF5700"/>
                </a:solidFill>
                <a:latin typeface="IBM Plex Mono" pitchFamily="34" charset="0"/>
                <a:ea typeface="IBM Plex Mono" pitchFamily="34" charset="-122"/>
                <a:cs typeface="IBM Plex Mono" pitchFamily="34" charset="-120"/>
              </a:rPr>
              <a:t>Ep 4, 9–11, 15, 25</a:t>
            </a:r>
            <a:endParaRPr lang="en-US" sz="800" dirty="0"/>
          </a:p>
        </p:txBody>
      </p:sp>
      <p:sp>
        <p:nvSpPr>
          <p:cNvPr id="32" name="Text 29"/>
          <p:cNvSpPr txBox="1"/>
          <p:nvPr/>
        </p:nvSpPr>
        <p:spPr>
          <a:xfrm>
            <a:off x="6263640" y="3520440"/>
            <a:ext cx="2194560" cy="548640"/>
          </a:xfrm>
          <a:prstGeom prst="rect">
            <a:avLst/>
          </a:prstGeom>
          <a:noFill/>
          <a:ln/>
        </p:spPr>
        <p:txBody>
          <a:bodyPr wrap="square" lIns="0" tIns="0" rIns="0" bIns="0" rtlCol="0" anchor="t"/>
          <a:lstStyle/>
          <a:p>
            <a:pPr indent="0" marL="0">
              <a:buNone/>
            </a:pPr>
            <a:r>
              <a:rPr lang="en-US" sz="1050" dirty="0">
                <a:solidFill>
                  <a:srgbClr val="6B7280"/>
                </a:solidFill>
                <a:latin typeface="Geist" pitchFamily="34" charset="0"/>
                <a:ea typeface="Geist" pitchFamily="34" charset="-122"/>
                <a:cs typeface="Geist" pitchFamily="34" charset="-120"/>
              </a:rPr>
              <a:t>identity · tenancy · evals · tracing · guardrails · cost</a:t>
            </a:r>
            <a:endParaRPr lang="en-US" sz="1050" dirty="0"/>
          </a:p>
        </p:txBody>
      </p:sp>
      <p:sp>
        <p:nvSpPr>
          <p:cNvPr id="33" name="Text 30"/>
          <p:cNvSpPr txBox="1"/>
          <p:nvPr/>
        </p:nvSpPr>
        <p:spPr>
          <a:xfrm>
            <a:off x="457200" y="4297680"/>
            <a:ext cx="8229600" cy="274320"/>
          </a:xfrm>
          <a:prstGeom prst="rect">
            <a:avLst/>
          </a:prstGeom>
          <a:noFill/>
          <a:ln/>
        </p:spPr>
        <p:txBody>
          <a:bodyPr wrap="square" lIns="0" tIns="0" rIns="0" bIns="0" rtlCol="0" anchor="t"/>
          <a:lstStyle/>
          <a:p>
            <a:pPr indent="0" marL="0">
              <a:buNone/>
            </a:pPr>
            <a:r>
              <a:rPr lang="en-US" sz="1000" dirty="0">
                <a:solidFill>
                  <a:srgbClr val="919191"/>
                </a:solidFill>
                <a:latin typeface="Geist" pitchFamily="34" charset="0"/>
                <a:ea typeface="Geist" pitchFamily="34" charset="-122"/>
                <a:cs typeface="Geist" pitchFamily="34" charset="-120"/>
              </a:rPr>
              <a:t>Every one is a loop over tools with an approval in the middle.</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3" name="Text 0"/>
          <p:cNvSpPr txBox="1"/>
          <p:nvPr/>
        </p:nvSpPr>
        <p:spPr>
          <a:xfrm>
            <a:off x="457200" y="274320"/>
            <a:ext cx="8229600" cy="248920"/>
          </a:xfrm>
          <a:prstGeom prst="rect">
            <a:avLst/>
          </a:prstGeom>
          <a:noFill/>
          <a:ln/>
        </p:spPr>
        <p:txBody>
          <a:bodyPr wrap="square" lIns="0" tIns="0" rIns="0" bIns="0" rtlCol="0" anchor="ctr"/>
          <a:lstStyle/>
          <a:p>
            <a:pPr indent="0" marL="0">
              <a:buNone/>
            </a:pPr>
            <a:r>
              <a:rPr lang="en-US" sz="1400" b="1" spc="100" kern="0" dirty="0">
                <a:solidFill>
                  <a:srgbClr val="1C1C1C"/>
                </a:solidFill>
                <a:latin typeface="Geist" pitchFamily="34" charset="0"/>
                <a:ea typeface="Geist" pitchFamily="34" charset="-122"/>
                <a:cs typeface="Geist" pitchFamily="34" charset="-120"/>
              </a:rPr>
              <a:t>learn  with  </a:t>
            </a:r>
            <a:pPr indent="0" marL="0">
              <a:buNone/>
            </a:pPr>
            <a:r>
              <a:rPr lang="en-US" sz="1400" b="1" spc="100" kern="0" dirty="0">
                <a:solidFill>
                  <a:srgbClr val="FF5700"/>
                </a:solidFill>
                <a:latin typeface="Geist" pitchFamily="34" charset="0"/>
                <a:ea typeface="Geist" pitchFamily="34" charset="-122"/>
                <a:cs typeface="Geist" pitchFamily="34" charset="-120"/>
              </a:rPr>
              <a:t>harsha</a:t>
            </a:r>
            <a:pPr indent="0" marL="0">
              <a:buNone/>
            </a:pPr>
            <a:r>
              <a:rPr lang="en-US" sz="600" b="1" spc="100" kern="0" dirty="0">
                <a:solidFill>
                  <a:srgbClr val="FF5700"/>
                </a:solidFill>
                <a:latin typeface="Geist" pitchFamily="34" charset="0"/>
                <a:ea typeface="Geist" pitchFamily="34" charset="-122"/>
                <a:cs typeface="Geist" pitchFamily="34" charset="-120"/>
              </a:rPr>
              <a:t>  ■</a:t>
            </a:r>
            <a:endParaRPr lang="en-US" sz="1400" dirty="0"/>
          </a:p>
        </p:txBody>
      </p:sp>
      <p:sp>
        <p:nvSpPr>
          <p:cNvPr id="4" name="Shape 1"/>
          <p:cNvSpPr/>
          <p:nvPr/>
        </p:nvSpPr>
        <p:spPr>
          <a:xfrm>
            <a:off x="457200" y="905256"/>
            <a:ext cx="91440" cy="91440"/>
          </a:xfrm>
          <a:prstGeom prst="rect">
            <a:avLst/>
          </a:prstGeom>
          <a:solidFill>
            <a:srgbClr val="FF5700"/>
          </a:solidFill>
          <a:ln/>
        </p:spPr>
      </p:sp>
      <p:sp>
        <p:nvSpPr>
          <p:cNvPr id="5" name="Text 2"/>
          <p:cNvSpPr txBox="1"/>
          <p:nvPr/>
        </p:nvSpPr>
        <p:spPr>
          <a:xfrm>
            <a:off x="621792" y="804672"/>
            <a:ext cx="6400800" cy="292608"/>
          </a:xfrm>
          <a:prstGeom prst="rect">
            <a:avLst/>
          </a:prstGeom>
          <a:noFill/>
          <a:ln/>
        </p:spPr>
        <p:txBody>
          <a:bodyPr wrap="square" lIns="0" tIns="0" rIns="0" bIns="0" rtlCol="0" anchor="ctr"/>
          <a:lstStyle/>
          <a:p>
            <a:pPr indent="0" marL="0">
              <a:buNone/>
            </a:pPr>
            <a:r>
              <a:rPr lang="en-US" sz="1000" spc="400" kern="0" dirty="0">
                <a:solidFill>
                  <a:srgbClr val="FF5700"/>
                </a:solidFill>
                <a:latin typeface="IBM Plex Mono" pitchFamily="34" charset="0"/>
                <a:ea typeface="IBM Plex Mono" pitchFamily="34" charset="-122"/>
                <a:cs typeface="IBM Plex Mono" pitchFamily="34" charset="-120"/>
              </a:rPr>
              <a:t>WHAT BREAKS IN THE ENTERPRISE · 1 OF 3</a:t>
            </a:r>
            <a:endParaRPr lang="en-US" sz="1000" dirty="0"/>
          </a:p>
        </p:txBody>
      </p:sp>
      <p:sp>
        <p:nvSpPr>
          <p:cNvPr id="6" name="Text 3"/>
          <p:cNvSpPr txBox="1"/>
          <p:nvPr/>
        </p:nvSpPr>
        <p:spPr>
          <a:xfrm>
            <a:off x="457200" y="1078992"/>
            <a:ext cx="8229600" cy="640080"/>
          </a:xfrm>
          <a:prstGeom prst="rect">
            <a:avLst/>
          </a:prstGeom>
          <a:noFill/>
          <a:ln/>
        </p:spPr>
        <p:txBody>
          <a:bodyPr wrap="square" lIns="0" tIns="0" rIns="0" bIns="0" rtlCol="0" anchor="ctr"/>
          <a:lstStyle/>
          <a:p>
            <a:pPr indent="0" marL="0">
              <a:buNone/>
            </a:pPr>
            <a:r>
              <a:rPr lang="en-US" sz="2300" b="1" spc="-100" kern="0" dirty="0">
                <a:solidFill>
                  <a:srgbClr val="1C1C1C"/>
                </a:solidFill>
                <a:latin typeface="Geist" pitchFamily="34" charset="0"/>
                <a:ea typeface="Geist" pitchFamily="34" charset="-122"/>
                <a:cs typeface="Geist" pitchFamily="34" charset="-120"/>
              </a:rPr>
              <a:t>Identity: the agent posts to the ledger — as whom?</a:t>
            </a:r>
            <a:endParaRPr lang="en-US" sz="2300" dirty="0"/>
          </a:p>
        </p:txBody>
      </p:sp>
      <p:sp>
        <p:nvSpPr>
          <p:cNvPr id="7" name="Text 4"/>
          <p:cNvSpPr txBox="1"/>
          <p:nvPr/>
        </p:nvSpPr>
        <p:spPr>
          <a:xfrm>
            <a:off x="457200" y="4754880"/>
            <a:ext cx="5943600" cy="228600"/>
          </a:xfrm>
          <a:prstGeom prst="rect">
            <a:avLst/>
          </a:prstGeom>
          <a:noFill/>
          <a:ln/>
        </p:spPr>
        <p:txBody>
          <a:bodyPr wrap="square" lIns="0" tIns="0" rIns="0" bIns="0" rtlCol="0" anchor="ctr"/>
          <a:lstStyle/>
          <a:p>
            <a:pPr indent="0" marL="0">
              <a:buNone/>
            </a:pPr>
            <a:r>
              <a:rPr lang="en-US" sz="800" spc="100" kern="0" dirty="0">
                <a:solidFill>
                  <a:srgbClr val="919191"/>
                </a:solidFill>
                <a:latin typeface="IBM Plex Mono" pitchFamily="34" charset="0"/>
                <a:ea typeface="IBM Plex Mono" pitchFamily="34" charset="-122"/>
                <a:cs typeface="IBM Plex Mono" pitchFamily="34" charset="-120"/>
              </a:rPr>
              <a:t>Arthashastra Learning · The Agentic Enterprise</a:t>
            </a:r>
            <a:endParaRPr lang="en-US" sz="800" dirty="0"/>
          </a:p>
        </p:txBody>
      </p:sp>
      <p:sp>
        <p:nvSpPr>
          <p:cNvPr id="8" name="Text 5"/>
          <p:cNvSpPr txBox="1"/>
          <p:nvPr/>
        </p:nvSpPr>
        <p:spPr>
          <a:xfrm>
            <a:off x="6858000" y="4754880"/>
            <a:ext cx="1828800" cy="228600"/>
          </a:xfrm>
          <a:prstGeom prst="rect">
            <a:avLst/>
          </a:prstGeom>
          <a:noFill/>
          <a:ln/>
        </p:spPr>
        <p:txBody>
          <a:bodyPr wrap="square" lIns="0" tIns="0" rIns="0" bIns="0" rtlCol="0" anchor="ctr"/>
          <a:lstStyle/>
          <a:p>
            <a:pPr algn="r" indent="0" marL="0">
              <a:buNone/>
            </a:pPr>
            <a:r>
              <a:rPr lang="en-US" sz="800" spc="100" kern="0" dirty="0">
                <a:solidFill>
                  <a:srgbClr val="919191"/>
                </a:solidFill>
                <a:latin typeface="IBM Plex Mono" pitchFamily="34" charset="0"/>
                <a:ea typeface="IBM Plex Mono" pitchFamily="34" charset="-122"/>
                <a:cs typeface="IBM Plex Mono" pitchFamily="34" charset="-120"/>
              </a:rPr>
              <a:t>arthashastra.ai</a:t>
            </a:r>
            <a:endParaRPr lang="en-US" sz="800" dirty="0"/>
          </a:p>
        </p:txBody>
      </p:sp>
      <p:sp>
        <p:nvSpPr>
          <p:cNvPr id="9" name="Shape 6"/>
          <p:cNvSpPr/>
          <p:nvPr/>
        </p:nvSpPr>
        <p:spPr>
          <a:xfrm>
            <a:off x="457200" y="1828800"/>
            <a:ext cx="2606040" cy="2103120"/>
          </a:xfrm>
          <a:prstGeom prst="rect">
            <a:avLst/>
          </a:prstGeom>
          <a:solidFill>
            <a:srgbClr val="FFFFFF"/>
          </a:solidFill>
          <a:ln w="9525">
            <a:solidFill>
              <a:srgbClr val="E5E5E5"/>
            </a:solidFill>
            <a:prstDash val="solid"/>
          </a:ln>
        </p:spPr>
      </p:sp>
      <p:sp>
        <p:nvSpPr>
          <p:cNvPr id="10" name="Shape 7"/>
          <p:cNvSpPr/>
          <p:nvPr/>
        </p:nvSpPr>
        <p:spPr>
          <a:xfrm>
            <a:off x="685800" y="2057400"/>
            <a:ext cx="329184" cy="329184"/>
          </a:xfrm>
          <a:prstGeom prst="rect">
            <a:avLst/>
          </a:prstGeom>
          <a:solidFill>
            <a:srgbClr val="D14343"/>
          </a:solidFill>
          <a:ln/>
        </p:spPr>
      </p:sp>
      <p:sp>
        <p:nvSpPr>
          <p:cNvPr id="11" name="Text 8"/>
          <p:cNvSpPr txBox="1"/>
          <p:nvPr/>
        </p:nvSpPr>
        <p:spPr>
          <a:xfrm>
            <a:off x="685800" y="2057400"/>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Geist" pitchFamily="34" charset="0"/>
                <a:ea typeface="Geist" pitchFamily="34" charset="-122"/>
                <a:cs typeface="Geist" pitchFamily="34" charset="-120"/>
              </a:rPr>
              <a:t>✕</a:t>
            </a:r>
            <a:endParaRPr lang="en-US" sz="1200" dirty="0"/>
          </a:p>
        </p:txBody>
      </p:sp>
      <p:sp>
        <p:nvSpPr>
          <p:cNvPr id="12" name="Text 9"/>
          <p:cNvSpPr txBox="1"/>
          <p:nvPr/>
        </p:nvSpPr>
        <p:spPr>
          <a:xfrm>
            <a:off x="685800" y="2514600"/>
            <a:ext cx="2194560" cy="365760"/>
          </a:xfrm>
          <a:prstGeom prst="rect">
            <a:avLst/>
          </a:prstGeom>
          <a:noFill/>
          <a:ln/>
        </p:spPr>
        <p:txBody>
          <a:bodyPr wrap="square" lIns="0" tIns="0" rIns="0" bIns="0" rtlCol="0" anchor="t"/>
          <a:lstStyle/>
          <a:p>
            <a:pPr indent="0" marL="0">
              <a:buNone/>
            </a:pPr>
            <a:r>
              <a:rPr lang="en-US" sz="1400" b="1" spc="-50" kern="0" dirty="0">
                <a:solidFill>
                  <a:srgbClr val="1C1C1C"/>
                </a:solidFill>
                <a:latin typeface="Geist" pitchFamily="34" charset="0"/>
                <a:ea typeface="Geist" pitchFamily="34" charset="-122"/>
                <a:cs typeface="Geist" pitchFamily="34" charset="-120"/>
              </a:rPr>
              <a:t>Service account</a:t>
            </a:r>
            <a:endParaRPr lang="en-US" sz="1400" dirty="0"/>
          </a:p>
        </p:txBody>
      </p:sp>
      <p:sp>
        <p:nvSpPr>
          <p:cNvPr id="13" name="Text 10"/>
          <p:cNvSpPr txBox="1"/>
          <p:nvPr/>
        </p:nvSpPr>
        <p:spPr>
          <a:xfrm>
            <a:off x="685800" y="2880360"/>
            <a:ext cx="2194560" cy="1005840"/>
          </a:xfrm>
          <a:prstGeom prst="rect">
            <a:avLst/>
          </a:prstGeom>
          <a:noFill/>
          <a:ln/>
        </p:spPr>
        <p:txBody>
          <a:bodyPr wrap="square" lIns="0" tIns="0" rIns="0" bIns="0" rtlCol="0" anchor="t"/>
          <a:lstStyle/>
          <a:p>
            <a:pPr indent="0" marL="0">
              <a:buNone/>
            </a:pPr>
            <a:r>
              <a:rPr lang="en-US" sz="1100" dirty="0">
                <a:solidFill>
                  <a:srgbClr val="6B7280"/>
                </a:solidFill>
                <a:latin typeface="Geist" pitchFamily="34" charset="0"/>
                <a:ea typeface="Geist" pitchFamily="34" charset="-122"/>
                <a:cs typeface="Geist" pitchFamily="34" charset="-120"/>
              </a:rPr>
              <a:t>Simple. Over-privileged. One prompt injection away from every company's books.</a:t>
            </a:r>
            <a:endParaRPr lang="en-US" sz="1100" dirty="0"/>
          </a:p>
        </p:txBody>
      </p:sp>
      <p:sp>
        <p:nvSpPr>
          <p:cNvPr id="14" name="Shape 11"/>
          <p:cNvSpPr/>
          <p:nvPr/>
        </p:nvSpPr>
        <p:spPr>
          <a:xfrm>
            <a:off x="3246120" y="1828800"/>
            <a:ext cx="2606040" cy="2103120"/>
          </a:xfrm>
          <a:prstGeom prst="rect">
            <a:avLst/>
          </a:prstGeom>
          <a:solidFill>
            <a:srgbClr val="FFFFFF"/>
          </a:solidFill>
          <a:ln w="9525">
            <a:solidFill>
              <a:srgbClr val="E5E5E5"/>
            </a:solidFill>
            <a:prstDash val="solid"/>
          </a:ln>
        </p:spPr>
      </p:sp>
      <p:sp>
        <p:nvSpPr>
          <p:cNvPr id="15" name="Shape 12"/>
          <p:cNvSpPr/>
          <p:nvPr/>
        </p:nvSpPr>
        <p:spPr>
          <a:xfrm>
            <a:off x="3474720" y="2057400"/>
            <a:ext cx="329184" cy="329184"/>
          </a:xfrm>
          <a:prstGeom prst="rect">
            <a:avLst/>
          </a:prstGeom>
          <a:solidFill>
            <a:srgbClr val="FF5700"/>
          </a:solidFill>
          <a:ln/>
        </p:spPr>
      </p:sp>
      <p:sp>
        <p:nvSpPr>
          <p:cNvPr id="16" name="Text 13"/>
          <p:cNvSpPr txBox="1"/>
          <p:nvPr/>
        </p:nvSpPr>
        <p:spPr>
          <a:xfrm>
            <a:off x="3474720" y="2057400"/>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Geist" pitchFamily="34" charset="0"/>
                <a:ea typeface="Geist" pitchFamily="34" charset="-122"/>
                <a:cs typeface="Geist" pitchFamily="34" charset="-120"/>
              </a:rPr>
              <a:t>~</a:t>
            </a:r>
            <a:endParaRPr lang="en-US" sz="1200" dirty="0"/>
          </a:p>
        </p:txBody>
      </p:sp>
      <p:sp>
        <p:nvSpPr>
          <p:cNvPr id="17" name="Text 14"/>
          <p:cNvSpPr txBox="1"/>
          <p:nvPr/>
        </p:nvSpPr>
        <p:spPr>
          <a:xfrm>
            <a:off x="3474720" y="2514600"/>
            <a:ext cx="2194560" cy="365760"/>
          </a:xfrm>
          <a:prstGeom prst="rect">
            <a:avLst/>
          </a:prstGeom>
          <a:noFill/>
          <a:ln/>
        </p:spPr>
        <p:txBody>
          <a:bodyPr wrap="square" lIns="0" tIns="0" rIns="0" bIns="0" rtlCol="0" anchor="t"/>
          <a:lstStyle/>
          <a:p>
            <a:pPr indent="0" marL="0">
              <a:buNone/>
            </a:pPr>
            <a:r>
              <a:rPr lang="en-US" sz="1400" b="1" spc="-50" kern="0" dirty="0">
                <a:solidFill>
                  <a:srgbClr val="1C1C1C"/>
                </a:solidFill>
                <a:latin typeface="Geist" pitchFamily="34" charset="0"/>
                <a:ea typeface="Geist" pitchFamily="34" charset="-122"/>
                <a:cs typeface="Geist" pitchFamily="34" charset="-120"/>
              </a:rPr>
              <a:t>The user's token</a:t>
            </a:r>
            <a:endParaRPr lang="en-US" sz="1400" dirty="0"/>
          </a:p>
        </p:txBody>
      </p:sp>
      <p:sp>
        <p:nvSpPr>
          <p:cNvPr id="18" name="Text 15"/>
          <p:cNvSpPr txBox="1"/>
          <p:nvPr/>
        </p:nvSpPr>
        <p:spPr>
          <a:xfrm>
            <a:off x="3474720" y="2880360"/>
            <a:ext cx="2194560" cy="1005840"/>
          </a:xfrm>
          <a:prstGeom prst="rect">
            <a:avLst/>
          </a:prstGeom>
          <a:noFill/>
          <a:ln/>
        </p:spPr>
        <p:txBody>
          <a:bodyPr wrap="square" lIns="0" tIns="0" rIns="0" bIns="0" rtlCol="0" anchor="t"/>
          <a:lstStyle/>
          <a:p>
            <a:pPr indent="0" marL="0">
              <a:buNone/>
            </a:pPr>
            <a:r>
              <a:rPr lang="en-US" sz="1100" dirty="0">
                <a:solidFill>
                  <a:srgbClr val="6B7280"/>
                </a:solidFill>
                <a:latin typeface="Geist" pitchFamily="34" charset="0"/>
                <a:ea typeface="Geist" pitchFamily="34" charset="-122"/>
                <a:cs typeface="Geist" pitchFamily="34" charset="-120"/>
              </a:rPr>
              <a:t>Scoped right — but how do you delegate it safely to a process that runs for minutes?</a:t>
            </a:r>
            <a:endParaRPr lang="en-US" sz="1100" dirty="0"/>
          </a:p>
        </p:txBody>
      </p:sp>
      <p:sp>
        <p:nvSpPr>
          <p:cNvPr id="19" name="Shape 16"/>
          <p:cNvSpPr/>
          <p:nvPr/>
        </p:nvSpPr>
        <p:spPr>
          <a:xfrm>
            <a:off x="6035040" y="1828800"/>
            <a:ext cx="2606040" cy="2103120"/>
          </a:xfrm>
          <a:prstGeom prst="rect">
            <a:avLst/>
          </a:prstGeom>
          <a:solidFill>
            <a:srgbClr val="F7F7F5"/>
          </a:solidFill>
          <a:ln w="9525">
            <a:solidFill>
              <a:srgbClr val="E5E5E5"/>
            </a:solidFill>
            <a:prstDash val="solid"/>
          </a:ln>
        </p:spPr>
      </p:sp>
      <p:sp>
        <p:nvSpPr>
          <p:cNvPr id="20" name="Shape 17"/>
          <p:cNvSpPr/>
          <p:nvPr/>
        </p:nvSpPr>
        <p:spPr>
          <a:xfrm>
            <a:off x="6263640" y="2057400"/>
            <a:ext cx="329184" cy="329184"/>
          </a:xfrm>
          <a:prstGeom prst="rect">
            <a:avLst/>
          </a:prstGeom>
          <a:solidFill>
            <a:srgbClr val="0E7C7B"/>
          </a:solidFill>
          <a:ln/>
        </p:spPr>
      </p:sp>
      <p:sp>
        <p:nvSpPr>
          <p:cNvPr id="21" name="Text 18"/>
          <p:cNvSpPr txBox="1"/>
          <p:nvPr/>
        </p:nvSpPr>
        <p:spPr>
          <a:xfrm>
            <a:off x="6263640" y="2057400"/>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Geist" pitchFamily="34" charset="0"/>
                <a:ea typeface="Geist" pitchFamily="34" charset="-122"/>
                <a:cs typeface="Geist" pitchFamily="34" charset="-120"/>
              </a:rPr>
              <a:t>✓</a:t>
            </a:r>
            <a:endParaRPr lang="en-US" sz="1200" dirty="0"/>
          </a:p>
        </p:txBody>
      </p:sp>
      <p:sp>
        <p:nvSpPr>
          <p:cNvPr id="22" name="Text 19"/>
          <p:cNvSpPr txBox="1"/>
          <p:nvPr/>
        </p:nvSpPr>
        <p:spPr>
          <a:xfrm>
            <a:off x="6263640" y="2514600"/>
            <a:ext cx="2194560" cy="365760"/>
          </a:xfrm>
          <a:prstGeom prst="rect">
            <a:avLst/>
          </a:prstGeom>
          <a:noFill/>
          <a:ln/>
        </p:spPr>
        <p:txBody>
          <a:bodyPr wrap="square" lIns="0" tIns="0" rIns="0" bIns="0" rtlCol="0" anchor="t"/>
          <a:lstStyle/>
          <a:p>
            <a:pPr indent="0" marL="0">
              <a:buNone/>
            </a:pPr>
            <a:r>
              <a:rPr lang="en-US" sz="1400" b="1" spc="-50" kern="0" dirty="0">
                <a:solidFill>
                  <a:srgbClr val="1C1C1C"/>
                </a:solidFill>
                <a:latin typeface="Geist" pitchFamily="34" charset="0"/>
                <a:ea typeface="Geist" pitchFamily="34" charset="-122"/>
                <a:cs typeface="Geist" pitchFamily="34" charset="-120"/>
              </a:rPr>
              <a:t>Agent identity</a:t>
            </a:r>
            <a:endParaRPr lang="en-US" sz="1400" dirty="0"/>
          </a:p>
        </p:txBody>
      </p:sp>
      <p:sp>
        <p:nvSpPr>
          <p:cNvPr id="23" name="Text 20"/>
          <p:cNvSpPr txBox="1"/>
          <p:nvPr/>
        </p:nvSpPr>
        <p:spPr>
          <a:xfrm>
            <a:off x="6263640" y="2880360"/>
            <a:ext cx="2194560" cy="1005840"/>
          </a:xfrm>
          <a:prstGeom prst="rect">
            <a:avLst/>
          </a:prstGeom>
          <a:noFill/>
          <a:ln/>
        </p:spPr>
        <p:txBody>
          <a:bodyPr wrap="square" lIns="0" tIns="0" rIns="0" bIns="0" rtlCol="0" anchor="t"/>
          <a:lstStyle/>
          <a:p>
            <a:pPr indent="0" marL="0">
              <a:buNone/>
            </a:pPr>
            <a:r>
              <a:rPr lang="en-US" sz="1100" dirty="0">
                <a:solidFill>
                  <a:srgbClr val="6B7280"/>
                </a:solidFill>
                <a:latin typeface="Geist" pitchFamily="34" charset="0"/>
                <a:ea typeface="Geist" pitchFamily="34" charset="-122"/>
                <a:cs typeface="Geist" pitchFamily="34" charset="-120"/>
              </a:rPr>
              <a:t>Its own principal, scoped per company, per user, per task. Least-privilege tools. Auditable.</a:t>
            </a:r>
            <a:endParaRPr lang="en-US" sz="1100" dirty="0"/>
          </a:p>
        </p:txBody>
      </p:sp>
      <p:sp>
        <p:nvSpPr>
          <p:cNvPr id="24" name="Text 21"/>
          <p:cNvSpPr txBox="1"/>
          <p:nvPr/>
        </p:nvSpPr>
        <p:spPr>
          <a:xfrm>
            <a:off x="457200" y="4160520"/>
            <a:ext cx="8229600" cy="274320"/>
          </a:xfrm>
          <a:prstGeom prst="rect">
            <a:avLst/>
          </a:prstGeom>
          <a:noFill/>
          <a:ln/>
        </p:spPr>
        <p:txBody>
          <a:bodyPr wrap="square" lIns="0" tIns="0" rIns="0" bIns="0" rtlCol="0" anchor="t"/>
          <a:lstStyle/>
          <a:p>
            <a:pPr indent="0" marL="0">
              <a:buNone/>
            </a:pPr>
            <a:r>
              <a:rPr lang="en-US" sz="1000" dirty="0">
                <a:solidFill>
                  <a:srgbClr val="919191"/>
                </a:solidFill>
                <a:latin typeface="Geist" pitchFamily="34" charset="0"/>
                <a:ea typeface="Geist" pitchFamily="34" charset="-122"/>
                <a:cs typeface="Geist" pitchFamily="34" charset="-120"/>
              </a:rPr>
              <a:t>Episode 15 goes deep on delegated auth and least-privilege tools.</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3" name="Text 0"/>
          <p:cNvSpPr txBox="1"/>
          <p:nvPr/>
        </p:nvSpPr>
        <p:spPr>
          <a:xfrm>
            <a:off x="457200" y="274320"/>
            <a:ext cx="8229600" cy="248920"/>
          </a:xfrm>
          <a:prstGeom prst="rect">
            <a:avLst/>
          </a:prstGeom>
          <a:noFill/>
          <a:ln/>
        </p:spPr>
        <p:txBody>
          <a:bodyPr wrap="square" lIns="0" tIns="0" rIns="0" bIns="0" rtlCol="0" anchor="ctr"/>
          <a:lstStyle/>
          <a:p>
            <a:pPr indent="0" marL="0">
              <a:buNone/>
            </a:pPr>
            <a:r>
              <a:rPr lang="en-US" sz="1400" b="1" spc="100" kern="0" dirty="0">
                <a:solidFill>
                  <a:srgbClr val="1C1C1C"/>
                </a:solidFill>
                <a:latin typeface="Geist" pitchFamily="34" charset="0"/>
                <a:ea typeface="Geist" pitchFamily="34" charset="-122"/>
                <a:cs typeface="Geist" pitchFamily="34" charset="-120"/>
              </a:rPr>
              <a:t>learn  with  </a:t>
            </a:r>
            <a:pPr indent="0" marL="0">
              <a:buNone/>
            </a:pPr>
            <a:r>
              <a:rPr lang="en-US" sz="1400" b="1" spc="100" kern="0" dirty="0">
                <a:solidFill>
                  <a:srgbClr val="FF5700"/>
                </a:solidFill>
                <a:latin typeface="Geist" pitchFamily="34" charset="0"/>
                <a:ea typeface="Geist" pitchFamily="34" charset="-122"/>
                <a:cs typeface="Geist" pitchFamily="34" charset="-120"/>
              </a:rPr>
              <a:t>harsha</a:t>
            </a:r>
            <a:pPr indent="0" marL="0">
              <a:buNone/>
            </a:pPr>
            <a:r>
              <a:rPr lang="en-US" sz="600" b="1" spc="100" kern="0" dirty="0">
                <a:solidFill>
                  <a:srgbClr val="FF5700"/>
                </a:solidFill>
                <a:latin typeface="Geist" pitchFamily="34" charset="0"/>
                <a:ea typeface="Geist" pitchFamily="34" charset="-122"/>
                <a:cs typeface="Geist" pitchFamily="34" charset="-120"/>
              </a:rPr>
              <a:t>  ■</a:t>
            </a:r>
            <a:endParaRPr lang="en-US" sz="1400" dirty="0"/>
          </a:p>
        </p:txBody>
      </p:sp>
      <p:sp>
        <p:nvSpPr>
          <p:cNvPr id="4" name="Shape 1"/>
          <p:cNvSpPr/>
          <p:nvPr/>
        </p:nvSpPr>
        <p:spPr>
          <a:xfrm>
            <a:off x="457200" y="905256"/>
            <a:ext cx="91440" cy="91440"/>
          </a:xfrm>
          <a:prstGeom prst="rect">
            <a:avLst/>
          </a:prstGeom>
          <a:solidFill>
            <a:srgbClr val="FF5700"/>
          </a:solidFill>
          <a:ln/>
        </p:spPr>
      </p:sp>
      <p:sp>
        <p:nvSpPr>
          <p:cNvPr id="5" name="Text 2"/>
          <p:cNvSpPr txBox="1"/>
          <p:nvPr/>
        </p:nvSpPr>
        <p:spPr>
          <a:xfrm>
            <a:off x="621792" y="804672"/>
            <a:ext cx="6400800" cy="292608"/>
          </a:xfrm>
          <a:prstGeom prst="rect">
            <a:avLst/>
          </a:prstGeom>
          <a:noFill/>
          <a:ln/>
        </p:spPr>
        <p:txBody>
          <a:bodyPr wrap="square" lIns="0" tIns="0" rIns="0" bIns="0" rtlCol="0" anchor="ctr"/>
          <a:lstStyle/>
          <a:p>
            <a:pPr indent="0" marL="0">
              <a:buNone/>
            </a:pPr>
            <a:r>
              <a:rPr lang="en-US" sz="1000" spc="400" kern="0" dirty="0">
                <a:solidFill>
                  <a:srgbClr val="FF5700"/>
                </a:solidFill>
                <a:latin typeface="IBM Plex Mono" pitchFamily="34" charset="0"/>
                <a:ea typeface="IBM Plex Mono" pitchFamily="34" charset="-122"/>
                <a:cs typeface="IBM Plex Mono" pitchFamily="34" charset="-120"/>
              </a:rPr>
              <a:t>WHAT BREAKS IN THE ENTERPRISE · 2 OF 3</a:t>
            </a:r>
            <a:endParaRPr lang="en-US" sz="1000" dirty="0"/>
          </a:p>
        </p:txBody>
      </p:sp>
      <p:sp>
        <p:nvSpPr>
          <p:cNvPr id="6" name="Text 3"/>
          <p:cNvSpPr txBox="1"/>
          <p:nvPr/>
        </p:nvSpPr>
        <p:spPr>
          <a:xfrm>
            <a:off x="457200" y="1078992"/>
            <a:ext cx="8229600" cy="640080"/>
          </a:xfrm>
          <a:prstGeom prst="rect">
            <a:avLst/>
          </a:prstGeom>
          <a:noFill/>
          <a:ln/>
        </p:spPr>
        <p:txBody>
          <a:bodyPr wrap="square" lIns="0" tIns="0" rIns="0" bIns="0" rtlCol="0" anchor="ctr"/>
          <a:lstStyle/>
          <a:p>
            <a:pPr indent="0" marL="0">
              <a:buNone/>
            </a:pPr>
            <a:r>
              <a:rPr lang="en-US" sz="2800" b="1" spc="-100" kern="0" dirty="0">
                <a:solidFill>
                  <a:srgbClr val="1C1C1C"/>
                </a:solidFill>
                <a:latin typeface="Geist" pitchFamily="34" charset="0"/>
                <a:ea typeface="Geist" pitchFamily="34" charset="-122"/>
                <a:cs typeface="Geist" pitchFamily="34" charset="-120"/>
              </a:rPr>
              <a:t>Tenancy: one ERP, many companies</a:t>
            </a:r>
            <a:endParaRPr lang="en-US" sz="2800" dirty="0"/>
          </a:p>
        </p:txBody>
      </p:sp>
      <p:sp>
        <p:nvSpPr>
          <p:cNvPr id="7" name="Text 4"/>
          <p:cNvSpPr txBox="1"/>
          <p:nvPr/>
        </p:nvSpPr>
        <p:spPr>
          <a:xfrm>
            <a:off x="457200" y="4754880"/>
            <a:ext cx="5943600" cy="228600"/>
          </a:xfrm>
          <a:prstGeom prst="rect">
            <a:avLst/>
          </a:prstGeom>
          <a:noFill/>
          <a:ln/>
        </p:spPr>
        <p:txBody>
          <a:bodyPr wrap="square" lIns="0" tIns="0" rIns="0" bIns="0" rtlCol="0" anchor="ctr"/>
          <a:lstStyle/>
          <a:p>
            <a:pPr indent="0" marL="0">
              <a:buNone/>
            </a:pPr>
            <a:r>
              <a:rPr lang="en-US" sz="800" spc="100" kern="0" dirty="0">
                <a:solidFill>
                  <a:srgbClr val="919191"/>
                </a:solidFill>
                <a:latin typeface="IBM Plex Mono" pitchFamily="34" charset="0"/>
                <a:ea typeface="IBM Plex Mono" pitchFamily="34" charset="-122"/>
                <a:cs typeface="IBM Plex Mono" pitchFamily="34" charset="-120"/>
              </a:rPr>
              <a:t>Arthashastra Learning · The Agentic Enterprise</a:t>
            </a:r>
            <a:endParaRPr lang="en-US" sz="800" dirty="0"/>
          </a:p>
        </p:txBody>
      </p:sp>
      <p:sp>
        <p:nvSpPr>
          <p:cNvPr id="8" name="Text 5"/>
          <p:cNvSpPr txBox="1"/>
          <p:nvPr/>
        </p:nvSpPr>
        <p:spPr>
          <a:xfrm>
            <a:off x="6858000" y="4754880"/>
            <a:ext cx="1828800" cy="228600"/>
          </a:xfrm>
          <a:prstGeom prst="rect">
            <a:avLst/>
          </a:prstGeom>
          <a:noFill/>
          <a:ln/>
        </p:spPr>
        <p:txBody>
          <a:bodyPr wrap="square" lIns="0" tIns="0" rIns="0" bIns="0" rtlCol="0" anchor="ctr"/>
          <a:lstStyle/>
          <a:p>
            <a:pPr algn="r" indent="0" marL="0">
              <a:buNone/>
            </a:pPr>
            <a:r>
              <a:rPr lang="en-US" sz="800" spc="100" kern="0" dirty="0">
                <a:solidFill>
                  <a:srgbClr val="919191"/>
                </a:solidFill>
                <a:latin typeface="IBM Plex Mono" pitchFamily="34" charset="0"/>
                <a:ea typeface="IBM Plex Mono" pitchFamily="34" charset="-122"/>
                <a:cs typeface="IBM Plex Mono" pitchFamily="34" charset="-120"/>
              </a:rPr>
              <a:t>arthashastra.ai</a:t>
            </a:r>
            <a:endParaRPr lang="en-US" sz="800" dirty="0"/>
          </a:p>
        </p:txBody>
      </p:sp>
      <p:sp>
        <p:nvSpPr>
          <p:cNvPr id="9" name="Shape 6"/>
          <p:cNvSpPr/>
          <p:nvPr/>
        </p:nvSpPr>
        <p:spPr>
          <a:xfrm>
            <a:off x="457200" y="2423160"/>
            <a:ext cx="1828800" cy="1188720"/>
          </a:xfrm>
          <a:prstGeom prst="rect">
            <a:avLst/>
          </a:prstGeom>
          <a:solidFill>
            <a:srgbClr val="FFFFFF"/>
          </a:solidFill>
          <a:ln w="15875">
            <a:solidFill>
              <a:srgbClr val="FF5700"/>
            </a:solidFill>
            <a:prstDash val="solid"/>
          </a:ln>
        </p:spPr>
      </p:sp>
      <p:sp>
        <p:nvSpPr>
          <p:cNvPr id="10" name="Text 7"/>
          <p:cNvSpPr txBox="1"/>
          <p:nvPr/>
        </p:nvSpPr>
        <p:spPr>
          <a:xfrm>
            <a:off x="457200" y="2423160"/>
            <a:ext cx="1828800" cy="1188720"/>
          </a:xfrm>
          <a:prstGeom prst="rect">
            <a:avLst/>
          </a:prstGeom>
          <a:noFill/>
          <a:ln/>
        </p:spPr>
        <p:txBody>
          <a:bodyPr wrap="square" lIns="635" tIns="635" rIns="635" bIns="635" rtlCol="0" anchor="ctr"/>
          <a:lstStyle/>
          <a:p>
            <a:pPr algn="ctr" indent="0" marL="0">
              <a:buNone/>
            </a:pPr>
            <a:r>
              <a:rPr lang="en-US" sz="1300" b="1" dirty="0">
                <a:solidFill>
                  <a:srgbClr val="FF5700"/>
                </a:solidFill>
                <a:latin typeface="Geist" pitchFamily="34" charset="0"/>
                <a:ea typeface="Geist" pitchFamily="34" charset="-122"/>
                <a:cs typeface="Geist" pitchFamily="34" charset="-120"/>
              </a:rPr>
              <a:t>Agent</a:t>
            </a:r>
            <a:endParaRPr lang="en-US" sz="1300" dirty="0"/>
          </a:p>
          <a:p>
            <a:pPr algn="ctr" indent="0" marL="0">
              <a:buNone/>
            </a:pPr>
            <a:r>
              <a:rPr lang="en-US" sz="1300" b="1" dirty="0">
                <a:solidFill>
                  <a:srgbClr val="FF5700"/>
                </a:solidFill>
                <a:latin typeface="Geist" pitchFamily="34" charset="0"/>
                <a:ea typeface="Geist" pitchFamily="34" charset="-122"/>
                <a:cs typeface="Geist" pitchFamily="34" charset="-120"/>
              </a:rPr>
              <a:t>(model + loop)</a:t>
            </a:r>
            <a:endParaRPr lang="en-US" sz="1300" dirty="0"/>
          </a:p>
        </p:txBody>
      </p:sp>
      <p:sp>
        <p:nvSpPr>
          <p:cNvPr id="11" name="Shape 8"/>
          <p:cNvSpPr/>
          <p:nvPr/>
        </p:nvSpPr>
        <p:spPr>
          <a:xfrm>
            <a:off x="2377440" y="2286000"/>
            <a:ext cx="457200" cy="0"/>
          </a:xfrm>
          <a:prstGeom prst="line">
            <a:avLst/>
          </a:prstGeom>
          <a:noFill/>
          <a:ln w="15875">
            <a:solidFill>
              <a:srgbClr val="919191"/>
            </a:solidFill>
            <a:prstDash val="solid"/>
            <a:tailEnd type="triangle"/>
          </a:ln>
        </p:spPr>
      </p:sp>
      <p:sp>
        <p:nvSpPr>
          <p:cNvPr id="12" name="Shape 9"/>
          <p:cNvSpPr/>
          <p:nvPr/>
        </p:nvSpPr>
        <p:spPr>
          <a:xfrm>
            <a:off x="2926080" y="1965960"/>
            <a:ext cx="2651760" cy="685800"/>
          </a:xfrm>
          <a:prstGeom prst="rect">
            <a:avLst/>
          </a:prstGeom>
          <a:solidFill>
            <a:srgbClr val="FFFFFF"/>
          </a:solidFill>
          <a:ln w="9525">
            <a:solidFill>
              <a:srgbClr val="E5E5E5"/>
            </a:solidFill>
            <a:prstDash val="solid"/>
          </a:ln>
        </p:spPr>
      </p:sp>
      <p:sp>
        <p:nvSpPr>
          <p:cNvPr id="13" name="Text 10"/>
          <p:cNvSpPr txBox="1"/>
          <p:nvPr/>
        </p:nvSpPr>
        <p:spPr>
          <a:xfrm>
            <a:off x="3108960" y="2039112"/>
            <a:ext cx="2286000" cy="274320"/>
          </a:xfrm>
          <a:prstGeom prst="rect">
            <a:avLst/>
          </a:prstGeom>
          <a:noFill/>
          <a:ln/>
        </p:spPr>
        <p:txBody>
          <a:bodyPr wrap="square" lIns="0" tIns="0" rIns="0" bIns="0" rtlCol="0" anchor="t"/>
          <a:lstStyle/>
          <a:p>
            <a:pPr indent="0" marL="0">
              <a:buNone/>
            </a:pPr>
            <a:r>
              <a:rPr lang="en-US" sz="1300" b="1" spc="-50" kern="0" dirty="0">
                <a:solidFill>
                  <a:srgbClr val="1C1C1C"/>
                </a:solidFill>
                <a:latin typeface="Geist" pitchFamily="34" charset="0"/>
                <a:ea typeface="Geist" pitchFamily="34" charset="-122"/>
                <a:cs typeface="Geist" pitchFamily="34" charset="-120"/>
              </a:rPr>
              <a:t>Memory</a:t>
            </a:r>
            <a:endParaRPr lang="en-US" sz="1300" dirty="0"/>
          </a:p>
        </p:txBody>
      </p:sp>
      <p:sp>
        <p:nvSpPr>
          <p:cNvPr id="14" name="Text 11"/>
          <p:cNvSpPr txBox="1"/>
          <p:nvPr/>
        </p:nvSpPr>
        <p:spPr>
          <a:xfrm>
            <a:off x="3108960" y="2331720"/>
            <a:ext cx="2377440" cy="320040"/>
          </a:xfrm>
          <a:prstGeom prst="rect">
            <a:avLst/>
          </a:prstGeom>
          <a:noFill/>
          <a:ln/>
        </p:spPr>
        <p:txBody>
          <a:bodyPr wrap="square" lIns="0" tIns="0" rIns="0" bIns="0" rtlCol="0" anchor="t"/>
          <a:lstStyle/>
          <a:p>
            <a:pPr indent="0" marL="0">
              <a:buNone/>
            </a:pPr>
            <a:r>
              <a:rPr lang="en-US" sz="950" dirty="0">
                <a:solidFill>
                  <a:srgbClr val="6B7280"/>
                </a:solidFill>
                <a:latin typeface="Geist" pitchFamily="34" charset="0"/>
                <a:ea typeface="Geist" pitchFamily="34" charset="-122"/>
                <a:cs typeface="Geist" pitchFamily="34" charset="-120"/>
              </a:rPr>
              <a:t>per-company store, never shared context</a:t>
            </a:r>
            <a:endParaRPr lang="en-US" sz="950" dirty="0"/>
          </a:p>
        </p:txBody>
      </p:sp>
      <p:sp>
        <p:nvSpPr>
          <p:cNvPr id="15" name="Shape 12"/>
          <p:cNvSpPr/>
          <p:nvPr/>
        </p:nvSpPr>
        <p:spPr>
          <a:xfrm>
            <a:off x="5852160" y="2075688"/>
            <a:ext cx="822960" cy="457200"/>
          </a:xfrm>
          <a:prstGeom prst="rect">
            <a:avLst/>
          </a:prstGeom>
          <a:solidFill>
            <a:srgbClr val="FFFFFF"/>
          </a:solidFill>
          <a:ln w="9525">
            <a:solidFill>
              <a:srgbClr val="E5E5E5"/>
            </a:solidFill>
            <a:prstDash val="solid"/>
          </a:ln>
        </p:spPr>
      </p:sp>
      <p:sp>
        <p:nvSpPr>
          <p:cNvPr id="16" name="Text 13"/>
          <p:cNvSpPr txBox="1"/>
          <p:nvPr/>
        </p:nvSpPr>
        <p:spPr>
          <a:xfrm>
            <a:off x="5852160" y="2075688"/>
            <a:ext cx="822960" cy="457200"/>
          </a:xfrm>
          <a:prstGeom prst="rect">
            <a:avLst/>
          </a:prstGeom>
          <a:noFill/>
          <a:ln/>
        </p:spPr>
        <p:txBody>
          <a:bodyPr wrap="square" lIns="635" tIns="635" rIns="635" bIns="635" rtlCol="0" anchor="ctr"/>
          <a:lstStyle/>
          <a:p>
            <a:pPr algn="ctr" indent="0" marL="0">
              <a:buNone/>
            </a:pPr>
            <a:r>
              <a:rPr lang="en-US" sz="900" b="1" dirty="0">
                <a:solidFill>
                  <a:srgbClr val="0E7C7B"/>
                </a:solidFill>
                <a:latin typeface="Geist" pitchFamily="34" charset="0"/>
                <a:ea typeface="Geist" pitchFamily="34" charset="-122"/>
                <a:cs typeface="Geist" pitchFamily="34" charset="-120"/>
              </a:rPr>
              <a:t>ACME</a:t>
            </a:r>
            <a:endParaRPr lang="en-US" sz="900" dirty="0"/>
          </a:p>
        </p:txBody>
      </p:sp>
      <p:sp>
        <p:nvSpPr>
          <p:cNvPr id="17" name="Shape 14"/>
          <p:cNvSpPr/>
          <p:nvPr/>
        </p:nvSpPr>
        <p:spPr>
          <a:xfrm>
            <a:off x="6812280" y="2075688"/>
            <a:ext cx="822960" cy="457200"/>
          </a:xfrm>
          <a:prstGeom prst="rect">
            <a:avLst/>
          </a:prstGeom>
          <a:solidFill>
            <a:srgbClr val="FFFFFF"/>
          </a:solidFill>
          <a:ln w="9525">
            <a:solidFill>
              <a:srgbClr val="E5E5E5"/>
            </a:solidFill>
            <a:prstDash val="solid"/>
          </a:ln>
        </p:spPr>
      </p:sp>
      <p:sp>
        <p:nvSpPr>
          <p:cNvPr id="18" name="Text 15"/>
          <p:cNvSpPr txBox="1"/>
          <p:nvPr/>
        </p:nvSpPr>
        <p:spPr>
          <a:xfrm>
            <a:off x="6812280" y="2075688"/>
            <a:ext cx="822960" cy="457200"/>
          </a:xfrm>
          <a:prstGeom prst="rect">
            <a:avLst/>
          </a:prstGeom>
          <a:noFill/>
          <a:ln/>
        </p:spPr>
        <p:txBody>
          <a:bodyPr wrap="square" lIns="635" tIns="635" rIns="635" bIns="635" rtlCol="0" anchor="ctr"/>
          <a:lstStyle/>
          <a:p>
            <a:pPr algn="ctr" indent="0" marL="0">
              <a:buNone/>
            </a:pPr>
            <a:r>
              <a:rPr lang="en-US" sz="900" b="1" dirty="0">
                <a:solidFill>
                  <a:srgbClr val="0E7C7B"/>
                </a:solidFill>
                <a:latin typeface="Geist" pitchFamily="34" charset="0"/>
                <a:ea typeface="Geist" pitchFamily="34" charset="-122"/>
                <a:cs typeface="Geist" pitchFamily="34" charset="-120"/>
              </a:rPr>
              <a:t>NORTH</a:t>
            </a:r>
            <a:endParaRPr lang="en-US" sz="900" dirty="0"/>
          </a:p>
        </p:txBody>
      </p:sp>
      <p:sp>
        <p:nvSpPr>
          <p:cNvPr id="19" name="Shape 16"/>
          <p:cNvSpPr/>
          <p:nvPr/>
        </p:nvSpPr>
        <p:spPr>
          <a:xfrm>
            <a:off x="7772400" y="2075688"/>
            <a:ext cx="822960" cy="457200"/>
          </a:xfrm>
          <a:prstGeom prst="rect">
            <a:avLst/>
          </a:prstGeom>
          <a:solidFill>
            <a:srgbClr val="FFFFFF"/>
          </a:solidFill>
          <a:ln w="9525">
            <a:solidFill>
              <a:srgbClr val="E5E5E5"/>
            </a:solidFill>
            <a:prstDash val="solid"/>
          </a:ln>
        </p:spPr>
      </p:sp>
      <p:sp>
        <p:nvSpPr>
          <p:cNvPr id="20" name="Text 17"/>
          <p:cNvSpPr txBox="1"/>
          <p:nvPr/>
        </p:nvSpPr>
        <p:spPr>
          <a:xfrm>
            <a:off x="7772400" y="2075688"/>
            <a:ext cx="822960" cy="457200"/>
          </a:xfrm>
          <a:prstGeom prst="rect">
            <a:avLst/>
          </a:prstGeom>
          <a:noFill/>
          <a:ln/>
        </p:spPr>
        <p:txBody>
          <a:bodyPr wrap="square" lIns="635" tIns="635" rIns="635" bIns="635" rtlCol="0" anchor="ctr"/>
          <a:lstStyle/>
          <a:p>
            <a:pPr algn="ctr" indent="0" marL="0">
              <a:buNone/>
            </a:pPr>
            <a:r>
              <a:rPr lang="en-US" sz="900" b="1" dirty="0">
                <a:solidFill>
                  <a:srgbClr val="0E7C7B"/>
                </a:solidFill>
                <a:latin typeface="Geist" pitchFamily="34" charset="0"/>
                <a:ea typeface="Geist" pitchFamily="34" charset="-122"/>
                <a:cs typeface="Geist" pitchFamily="34" charset="-120"/>
              </a:rPr>
              <a:t>C3</a:t>
            </a:r>
            <a:endParaRPr lang="en-US" sz="900" dirty="0"/>
          </a:p>
        </p:txBody>
      </p:sp>
      <p:sp>
        <p:nvSpPr>
          <p:cNvPr id="21" name="Shape 18"/>
          <p:cNvSpPr/>
          <p:nvPr/>
        </p:nvSpPr>
        <p:spPr>
          <a:xfrm>
            <a:off x="2377440" y="3108960"/>
            <a:ext cx="457200" cy="0"/>
          </a:xfrm>
          <a:prstGeom prst="line">
            <a:avLst/>
          </a:prstGeom>
          <a:noFill/>
          <a:ln w="15875">
            <a:solidFill>
              <a:srgbClr val="919191"/>
            </a:solidFill>
            <a:prstDash val="solid"/>
            <a:tailEnd type="triangle"/>
          </a:ln>
        </p:spPr>
      </p:sp>
      <p:sp>
        <p:nvSpPr>
          <p:cNvPr id="22" name="Shape 19"/>
          <p:cNvSpPr/>
          <p:nvPr/>
        </p:nvSpPr>
        <p:spPr>
          <a:xfrm>
            <a:off x="2926080" y="2788920"/>
            <a:ext cx="2651760" cy="685800"/>
          </a:xfrm>
          <a:prstGeom prst="rect">
            <a:avLst/>
          </a:prstGeom>
          <a:solidFill>
            <a:srgbClr val="FFFFFF"/>
          </a:solidFill>
          <a:ln w="9525">
            <a:solidFill>
              <a:srgbClr val="E5E5E5"/>
            </a:solidFill>
            <a:prstDash val="solid"/>
          </a:ln>
        </p:spPr>
      </p:sp>
      <p:sp>
        <p:nvSpPr>
          <p:cNvPr id="23" name="Text 20"/>
          <p:cNvSpPr txBox="1"/>
          <p:nvPr/>
        </p:nvSpPr>
        <p:spPr>
          <a:xfrm>
            <a:off x="3108960" y="2862072"/>
            <a:ext cx="2286000" cy="274320"/>
          </a:xfrm>
          <a:prstGeom prst="rect">
            <a:avLst/>
          </a:prstGeom>
          <a:noFill/>
          <a:ln/>
        </p:spPr>
        <p:txBody>
          <a:bodyPr wrap="square" lIns="0" tIns="0" rIns="0" bIns="0" rtlCol="0" anchor="t"/>
          <a:lstStyle/>
          <a:p>
            <a:pPr indent="0" marL="0">
              <a:buNone/>
            </a:pPr>
            <a:r>
              <a:rPr lang="en-US" sz="1300" b="1" spc="-50" kern="0" dirty="0">
                <a:solidFill>
                  <a:srgbClr val="1C1C1C"/>
                </a:solidFill>
                <a:latin typeface="Geist" pitchFamily="34" charset="0"/>
                <a:ea typeface="Geist" pitchFamily="34" charset="-122"/>
                <a:cs typeface="Geist" pitchFamily="34" charset="-120"/>
              </a:rPr>
              <a:t>Tools</a:t>
            </a:r>
            <a:endParaRPr lang="en-US" sz="1300" dirty="0"/>
          </a:p>
        </p:txBody>
      </p:sp>
      <p:sp>
        <p:nvSpPr>
          <p:cNvPr id="24" name="Text 21"/>
          <p:cNvSpPr txBox="1"/>
          <p:nvPr/>
        </p:nvSpPr>
        <p:spPr>
          <a:xfrm>
            <a:off x="3108960" y="3154680"/>
            <a:ext cx="2377440" cy="320040"/>
          </a:xfrm>
          <a:prstGeom prst="rect">
            <a:avLst/>
          </a:prstGeom>
          <a:noFill/>
          <a:ln/>
        </p:spPr>
        <p:txBody>
          <a:bodyPr wrap="square" lIns="0" tIns="0" rIns="0" bIns="0" rtlCol="0" anchor="t"/>
          <a:lstStyle/>
          <a:p>
            <a:pPr indent="0" marL="0">
              <a:buNone/>
            </a:pPr>
            <a:r>
              <a:rPr lang="en-US" sz="950" dirty="0">
                <a:solidFill>
                  <a:srgbClr val="6B7280"/>
                </a:solidFill>
                <a:latin typeface="Geist" pitchFamily="34" charset="0"/>
                <a:ea typeface="Geist" pitchFamily="34" charset="-122"/>
                <a:cs typeface="Geist" pitchFamily="34" charset="-120"/>
              </a:rPr>
              <a:t>company_id injected server-side on every call</a:t>
            </a:r>
            <a:endParaRPr lang="en-US" sz="950" dirty="0"/>
          </a:p>
        </p:txBody>
      </p:sp>
      <p:sp>
        <p:nvSpPr>
          <p:cNvPr id="25" name="Shape 22"/>
          <p:cNvSpPr/>
          <p:nvPr/>
        </p:nvSpPr>
        <p:spPr>
          <a:xfrm>
            <a:off x="5852160" y="2898648"/>
            <a:ext cx="822960" cy="457200"/>
          </a:xfrm>
          <a:prstGeom prst="rect">
            <a:avLst/>
          </a:prstGeom>
          <a:solidFill>
            <a:srgbClr val="FFFFFF"/>
          </a:solidFill>
          <a:ln w="9525">
            <a:solidFill>
              <a:srgbClr val="E5E5E5"/>
            </a:solidFill>
            <a:prstDash val="solid"/>
          </a:ln>
        </p:spPr>
      </p:sp>
      <p:sp>
        <p:nvSpPr>
          <p:cNvPr id="26" name="Text 23"/>
          <p:cNvSpPr txBox="1"/>
          <p:nvPr/>
        </p:nvSpPr>
        <p:spPr>
          <a:xfrm>
            <a:off x="5852160" y="2898648"/>
            <a:ext cx="822960" cy="457200"/>
          </a:xfrm>
          <a:prstGeom prst="rect">
            <a:avLst/>
          </a:prstGeom>
          <a:noFill/>
          <a:ln/>
        </p:spPr>
        <p:txBody>
          <a:bodyPr wrap="square" lIns="635" tIns="635" rIns="635" bIns="635" rtlCol="0" anchor="ctr"/>
          <a:lstStyle/>
          <a:p>
            <a:pPr algn="ctr" indent="0" marL="0">
              <a:buNone/>
            </a:pPr>
            <a:r>
              <a:rPr lang="en-US" sz="900" b="1" dirty="0">
                <a:solidFill>
                  <a:srgbClr val="0E7C7B"/>
                </a:solidFill>
                <a:latin typeface="Geist" pitchFamily="34" charset="0"/>
                <a:ea typeface="Geist" pitchFamily="34" charset="-122"/>
                <a:cs typeface="Geist" pitchFamily="34" charset="-120"/>
              </a:rPr>
              <a:t>ACME</a:t>
            </a:r>
            <a:endParaRPr lang="en-US" sz="900" dirty="0"/>
          </a:p>
        </p:txBody>
      </p:sp>
      <p:sp>
        <p:nvSpPr>
          <p:cNvPr id="27" name="Shape 24"/>
          <p:cNvSpPr/>
          <p:nvPr/>
        </p:nvSpPr>
        <p:spPr>
          <a:xfrm>
            <a:off x="6812280" y="2898648"/>
            <a:ext cx="822960" cy="457200"/>
          </a:xfrm>
          <a:prstGeom prst="rect">
            <a:avLst/>
          </a:prstGeom>
          <a:solidFill>
            <a:srgbClr val="FFFFFF"/>
          </a:solidFill>
          <a:ln w="9525">
            <a:solidFill>
              <a:srgbClr val="E5E5E5"/>
            </a:solidFill>
            <a:prstDash val="solid"/>
          </a:ln>
        </p:spPr>
      </p:sp>
      <p:sp>
        <p:nvSpPr>
          <p:cNvPr id="28" name="Text 25"/>
          <p:cNvSpPr txBox="1"/>
          <p:nvPr/>
        </p:nvSpPr>
        <p:spPr>
          <a:xfrm>
            <a:off x="6812280" y="2898648"/>
            <a:ext cx="822960" cy="457200"/>
          </a:xfrm>
          <a:prstGeom prst="rect">
            <a:avLst/>
          </a:prstGeom>
          <a:noFill/>
          <a:ln/>
        </p:spPr>
        <p:txBody>
          <a:bodyPr wrap="square" lIns="635" tIns="635" rIns="635" bIns="635" rtlCol="0" anchor="ctr"/>
          <a:lstStyle/>
          <a:p>
            <a:pPr algn="ctr" indent="0" marL="0">
              <a:buNone/>
            </a:pPr>
            <a:r>
              <a:rPr lang="en-US" sz="900" b="1" dirty="0">
                <a:solidFill>
                  <a:srgbClr val="0E7C7B"/>
                </a:solidFill>
                <a:latin typeface="Geist" pitchFamily="34" charset="0"/>
                <a:ea typeface="Geist" pitchFamily="34" charset="-122"/>
                <a:cs typeface="Geist" pitchFamily="34" charset="-120"/>
              </a:rPr>
              <a:t>NORTH</a:t>
            </a:r>
            <a:endParaRPr lang="en-US" sz="900" dirty="0"/>
          </a:p>
        </p:txBody>
      </p:sp>
      <p:sp>
        <p:nvSpPr>
          <p:cNvPr id="29" name="Shape 26"/>
          <p:cNvSpPr/>
          <p:nvPr/>
        </p:nvSpPr>
        <p:spPr>
          <a:xfrm>
            <a:off x="7772400" y="2898648"/>
            <a:ext cx="822960" cy="457200"/>
          </a:xfrm>
          <a:prstGeom prst="rect">
            <a:avLst/>
          </a:prstGeom>
          <a:solidFill>
            <a:srgbClr val="FFFFFF"/>
          </a:solidFill>
          <a:ln w="9525">
            <a:solidFill>
              <a:srgbClr val="E5E5E5"/>
            </a:solidFill>
            <a:prstDash val="solid"/>
          </a:ln>
        </p:spPr>
      </p:sp>
      <p:sp>
        <p:nvSpPr>
          <p:cNvPr id="30" name="Text 27"/>
          <p:cNvSpPr txBox="1"/>
          <p:nvPr/>
        </p:nvSpPr>
        <p:spPr>
          <a:xfrm>
            <a:off x="7772400" y="2898648"/>
            <a:ext cx="822960" cy="457200"/>
          </a:xfrm>
          <a:prstGeom prst="rect">
            <a:avLst/>
          </a:prstGeom>
          <a:noFill/>
          <a:ln/>
        </p:spPr>
        <p:txBody>
          <a:bodyPr wrap="square" lIns="635" tIns="635" rIns="635" bIns="635" rtlCol="0" anchor="ctr"/>
          <a:lstStyle/>
          <a:p>
            <a:pPr algn="ctr" indent="0" marL="0">
              <a:buNone/>
            </a:pPr>
            <a:r>
              <a:rPr lang="en-US" sz="900" b="1" dirty="0">
                <a:solidFill>
                  <a:srgbClr val="0E7C7B"/>
                </a:solidFill>
                <a:latin typeface="Geist" pitchFamily="34" charset="0"/>
                <a:ea typeface="Geist" pitchFamily="34" charset="-122"/>
                <a:cs typeface="Geist" pitchFamily="34" charset="-120"/>
              </a:rPr>
              <a:t>C3</a:t>
            </a:r>
            <a:endParaRPr lang="en-US" sz="900" dirty="0"/>
          </a:p>
        </p:txBody>
      </p:sp>
      <p:sp>
        <p:nvSpPr>
          <p:cNvPr id="31" name="Shape 28"/>
          <p:cNvSpPr/>
          <p:nvPr/>
        </p:nvSpPr>
        <p:spPr>
          <a:xfrm>
            <a:off x="2377440" y="3931920"/>
            <a:ext cx="457200" cy="0"/>
          </a:xfrm>
          <a:prstGeom prst="line">
            <a:avLst/>
          </a:prstGeom>
          <a:noFill/>
          <a:ln w="15875">
            <a:solidFill>
              <a:srgbClr val="919191"/>
            </a:solidFill>
            <a:prstDash val="solid"/>
            <a:tailEnd type="triangle"/>
          </a:ln>
        </p:spPr>
      </p:sp>
      <p:sp>
        <p:nvSpPr>
          <p:cNvPr id="32" name="Shape 29"/>
          <p:cNvSpPr/>
          <p:nvPr/>
        </p:nvSpPr>
        <p:spPr>
          <a:xfrm>
            <a:off x="2926080" y="3611880"/>
            <a:ext cx="2651760" cy="685800"/>
          </a:xfrm>
          <a:prstGeom prst="rect">
            <a:avLst/>
          </a:prstGeom>
          <a:solidFill>
            <a:srgbClr val="FFFFFF"/>
          </a:solidFill>
          <a:ln w="9525">
            <a:solidFill>
              <a:srgbClr val="E5E5E5"/>
            </a:solidFill>
            <a:prstDash val="solid"/>
          </a:ln>
        </p:spPr>
      </p:sp>
      <p:sp>
        <p:nvSpPr>
          <p:cNvPr id="33" name="Text 30"/>
          <p:cNvSpPr txBox="1"/>
          <p:nvPr/>
        </p:nvSpPr>
        <p:spPr>
          <a:xfrm>
            <a:off x="3108960" y="3685032"/>
            <a:ext cx="2286000" cy="274320"/>
          </a:xfrm>
          <a:prstGeom prst="rect">
            <a:avLst/>
          </a:prstGeom>
          <a:noFill/>
          <a:ln/>
        </p:spPr>
        <p:txBody>
          <a:bodyPr wrap="square" lIns="0" tIns="0" rIns="0" bIns="0" rtlCol="0" anchor="t"/>
          <a:lstStyle/>
          <a:p>
            <a:pPr indent="0" marL="0">
              <a:buNone/>
            </a:pPr>
            <a:r>
              <a:rPr lang="en-US" sz="1300" b="1" spc="-50" kern="0" dirty="0">
                <a:solidFill>
                  <a:srgbClr val="1C1C1C"/>
                </a:solidFill>
                <a:latin typeface="Geist" pitchFamily="34" charset="0"/>
                <a:ea typeface="Geist" pitchFamily="34" charset="-122"/>
                <a:cs typeface="Geist" pitchFamily="34" charset="-120"/>
              </a:rPr>
              <a:t>Retrieval</a:t>
            </a:r>
            <a:endParaRPr lang="en-US" sz="1300" dirty="0"/>
          </a:p>
        </p:txBody>
      </p:sp>
      <p:sp>
        <p:nvSpPr>
          <p:cNvPr id="34" name="Text 31"/>
          <p:cNvSpPr txBox="1"/>
          <p:nvPr/>
        </p:nvSpPr>
        <p:spPr>
          <a:xfrm>
            <a:off x="3108960" y="3977640"/>
            <a:ext cx="2377440" cy="320040"/>
          </a:xfrm>
          <a:prstGeom prst="rect">
            <a:avLst/>
          </a:prstGeom>
          <a:noFill/>
          <a:ln/>
        </p:spPr>
        <p:txBody>
          <a:bodyPr wrap="square" lIns="0" tIns="0" rIns="0" bIns="0" rtlCol="0" anchor="t"/>
          <a:lstStyle/>
          <a:p>
            <a:pPr indent="0" marL="0">
              <a:buNone/>
            </a:pPr>
            <a:r>
              <a:rPr lang="en-US" sz="950" dirty="0">
                <a:solidFill>
                  <a:srgbClr val="6B7280"/>
                </a:solidFill>
                <a:latin typeface="Geist" pitchFamily="34" charset="0"/>
                <a:ea typeface="Geist" pitchFamily="34" charset="-122"/>
                <a:cs typeface="Geist" pitchFamily="34" charset="-120"/>
              </a:rPr>
              <a:t>index partitioned, filtered before ranking</a:t>
            </a:r>
            <a:endParaRPr lang="en-US" sz="950" dirty="0"/>
          </a:p>
        </p:txBody>
      </p:sp>
      <p:sp>
        <p:nvSpPr>
          <p:cNvPr id="35" name="Shape 32"/>
          <p:cNvSpPr/>
          <p:nvPr/>
        </p:nvSpPr>
        <p:spPr>
          <a:xfrm>
            <a:off x="5852160" y="3721608"/>
            <a:ext cx="822960" cy="457200"/>
          </a:xfrm>
          <a:prstGeom prst="rect">
            <a:avLst/>
          </a:prstGeom>
          <a:solidFill>
            <a:srgbClr val="FFFFFF"/>
          </a:solidFill>
          <a:ln w="9525">
            <a:solidFill>
              <a:srgbClr val="E5E5E5"/>
            </a:solidFill>
            <a:prstDash val="solid"/>
          </a:ln>
        </p:spPr>
      </p:sp>
      <p:sp>
        <p:nvSpPr>
          <p:cNvPr id="36" name="Text 33"/>
          <p:cNvSpPr txBox="1"/>
          <p:nvPr/>
        </p:nvSpPr>
        <p:spPr>
          <a:xfrm>
            <a:off x="5852160" y="3721608"/>
            <a:ext cx="822960" cy="457200"/>
          </a:xfrm>
          <a:prstGeom prst="rect">
            <a:avLst/>
          </a:prstGeom>
          <a:noFill/>
          <a:ln/>
        </p:spPr>
        <p:txBody>
          <a:bodyPr wrap="square" lIns="635" tIns="635" rIns="635" bIns="635" rtlCol="0" anchor="ctr"/>
          <a:lstStyle/>
          <a:p>
            <a:pPr algn="ctr" indent="0" marL="0">
              <a:buNone/>
            </a:pPr>
            <a:r>
              <a:rPr lang="en-US" sz="900" b="1" dirty="0">
                <a:solidFill>
                  <a:srgbClr val="0E7C7B"/>
                </a:solidFill>
                <a:latin typeface="Geist" pitchFamily="34" charset="0"/>
                <a:ea typeface="Geist" pitchFamily="34" charset="-122"/>
                <a:cs typeface="Geist" pitchFamily="34" charset="-120"/>
              </a:rPr>
              <a:t>ACME</a:t>
            </a:r>
            <a:endParaRPr lang="en-US" sz="900" dirty="0"/>
          </a:p>
        </p:txBody>
      </p:sp>
      <p:sp>
        <p:nvSpPr>
          <p:cNvPr id="37" name="Shape 34"/>
          <p:cNvSpPr/>
          <p:nvPr/>
        </p:nvSpPr>
        <p:spPr>
          <a:xfrm>
            <a:off x="6812280" y="3721608"/>
            <a:ext cx="822960" cy="457200"/>
          </a:xfrm>
          <a:prstGeom prst="rect">
            <a:avLst/>
          </a:prstGeom>
          <a:solidFill>
            <a:srgbClr val="FFFFFF"/>
          </a:solidFill>
          <a:ln w="9525">
            <a:solidFill>
              <a:srgbClr val="E5E5E5"/>
            </a:solidFill>
            <a:prstDash val="solid"/>
          </a:ln>
        </p:spPr>
      </p:sp>
      <p:sp>
        <p:nvSpPr>
          <p:cNvPr id="38" name="Text 35"/>
          <p:cNvSpPr txBox="1"/>
          <p:nvPr/>
        </p:nvSpPr>
        <p:spPr>
          <a:xfrm>
            <a:off x="6812280" y="3721608"/>
            <a:ext cx="822960" cy="457200"/>
          </a:xfrm>
          <a:prstGeom prst="rect">
            <a:avLst/>
          </a:prstGeom>
          <a:noFill/>
          <a:ln/>
        </p:spPr>
        <p:txBody>
          <a:bodyPr wrap="square" lIns="635" tIns="635" rIns="635" bIns="635" rtlCol="0" anchor="ctr"/>
          <a:lstStyle/>
          <a:p>
            <a:pPr algn="ctr" indent="0" marL="0">
              <a:buNone/>
            </a:pPr>
            <a:r>
              <a:rPr lang="en-US" sz="900" b="1" dirty="0">
                <a:solidFill>
                  <a:srgbClr val="0E7C7B"/>
                </a:solidFill>
                <a:latin typeface="Geist" pitchFamily="34" charset="0"/>
                <a:ea typeface="Geist" pitchFamily="34" charset="-122"/>
                <a:cs typeface="Geist" pitchFamily="34" charset="-120"/>
              </a:rPr>
              <a:t>NORTH</a:t>
            </a:r>
            <a:endParaRPr lang="en-US" sz="900" dirty="0"/>
          </a:p>
        </p:txBody>
      </p:sp>
      <p:sp>
        <p:nvSpPr>
          <p:cNvPr id="39" name="Shape 36"/>
          <p:cNvSpPr/>
          <p:nvPr/>
        </p:nvSpPr>
        <p:spPr>
          <a:xfrm>
            <a:off x="7772400" y="3721608"/>
            <a:ext cx="822960" cy="457200"/>
          </a:xfrm>
          <a:prstGeom prst="rect">
            <a:avLst/>
          </a:prstGeom>
          <a:solidFill>
            <a:srgbClr val="FFFFFF"/>
          </a:solidFill>
          <a:ln w="9525">
            <a:solidFill>
              <a:srgbClr val="E5E5E5"/>
            </a:solidFill>
            <a:prstDash val="solid"/>
          </a:ln>
        </p:spPr>
      </p:sp>
      <p:sp>
        <p:nvSpPr>
          <p:cNvPr id="40" name="Text 37"/>
          <p:cNvSpPr txBox="1"/>
          <p:nvPr/>
        </p:nvSpPr>
        <p:spPr>
          <a:xfrm>
            <a:off x="7772400" y="3721608"/>
            <a:ext cx="822960" cy="457200"/>
          </a:xfrm>
          <a:prstGeom prst="rect">
            <a:avLst/>
          </a:prstGeom>
          <a:noFill/>
          <a:ln/>
        </p:spPr>
        <p:txBody>
          <a:bodyPr wrap="square" lIns="635" tIns="635" rIns="635" bIns="635" rtlCol="0" anchor="ctr"/>
          <a:lstStyle/>
          <a:p>
            <a:pPr algn="ctr" indent="0" marL="0">
              <a:buNone/>
            </a:pPr>
            <a:r>
              <a:rPr lang="en-US" sz="900" b="1" dirty="0">
                <a:solidFill>
                  <a:srgbClr val="0E7C7B"/>
                </a:solidFill>
                <a:latin typeface="Geist" pitchFamily="34" charset="0"/>
                <a:ea typeface="Geist" pitchFamily="34" charset="-122"/>
                <a:cs typeface="Geist" pitchFamily="34" charset="-120"/>
              </a:rPr>
              <a:t>C3</a:t>
            </a:r>
            <a:endParaRPr lang="en-US" sz="900" dirty="0"/>
          </a:p>
        </p:txBody>
      </p:sp>
      <p:sp>
        <p:nvSpPr>
          <p:cNvPr id="41" name="Text 38"/>
          <p:cNvSpPr txBox="1"/>
          <p:nvPr/>
        </p:nvSpPr>
        <p:spPr>
          <a:xfrm>
            <a:off x="5852160" y="1691640"/>
            <a:ext cx="2834640" cy="274320"/>
          </a:xfrm>
          <a:prstGeom prst="rect">
            <a:avLst/>
          </a:prstGeom>
          <a:noFill/>
          <a:ln/>
        </p:spPr>
        <p:txBody>
          <a:bodyPr wrap="square" lIns="0" tIns="0" rIns="0" bIns="0" rtlCol="0" anchor="t"/>
          <a:lstStyle/>
          <a:p>
            <a:pPr indent="0" marL="0">
              <a:buNone/>
            </a:pPr>
            <a:r>
              <a:rPr lang="en-US" sz="800" dirty="0">
                <a:solidFill>
                  <a:srgbClr val="0E7C7B"/>
                </a:solidFill>
                <a:latin typeface="IBM Plex Mono" pitchFamily="34" charset="0"/>
                <a:ea typeface="IBM Plex Mono" pitchFamily="34" charset="-122"/>
                <a:cs typeface="IBM Plex Mono" pitchFamily="34" charset="-120"/>
              </a:rPr>
              <a:t>COMPANIES — ISOLATED AT EVERY LAYER</a:t>
            </a:r>
            <a:endParaRPr lang="en-US" sz="800" dirty="0"/>
          </a:p>
        </p:txBody>
      </p:sp>
      <p:sp>
        <p:nvSpPr>
          <p:cNvPr id="42" name="Text 39"/>
          <p:cNvSpPr txBox="1"/>
          <p:nvPr/>
        </p:nvSpPr>
        <p:spPr>
          <a:xfrm>
            <a:off x="457200" y="4343400"/>
            <a:ext cx="8229600" cy="274320"/>
          </a:xfrm>
          <a:prstGeom prst="rect">
            <a:avLst/>
          </a:prstGeom>
          <a:noFill/>
          <a:ln/>
        </p:spPr>
        <p:txBody>
          <a:bodyPr wrap="square" lIns="0" tIns="0" rIns="0" bIns="0" rtlCol="0" anchor="t"/>
          <a:lstStyle/>
          <a:p>
            <a:pPr indent="0" marL="0">
              <a:buNone/>
            </a:pPr>
            <a:r>
              <a:rPr lang="en-US" sz="1000" dirty="0">
                <a:solidFill>
                  <a:srgbClr val="919191"/>
                </a:solidFill>
                <a:latin typeface="Geist" pitchFamily="34" charset="0"/>
                <a:ea typeface="Geist" pitchFamily="34" charset="-122"/>
                <a:cs typeface="Geist" pitchFamily="34" charset="-120"/>
              </a:rPr>
              <a:t>Get one lane wrong and you've built a data leak with a chat window.</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3" name="Text 0"/>
          <p:cNvSpPr txBox="1"/>
          <p:nvPr/>
        </p:nvSpPr>
        <p:spPr>
          <a:xfrm>
            <a:off x="457200" y="274320"/>
            <a:ext cx="8229600" cy="248920"/>
          </a:xfrm>
          <a:prstGeom prst="rect">
            <a:avLst/>
          </a:prstGeom>
          <a:noFill/>
          <a:ln/>
        </p:spPr>
        <p:txBody>
          <a:bodyPr wrap="square" lIns="0" tIns="0" rIns="0" bIns="0" rtlCol="0" anchor="ctr"/>
          <a:lstStyle/>
          <a:p>
            <a:pPr indent="0" marL="0">
              <a:buNone/>
            </a:pPr>
            <a:r>
              <a:rPr lang="en-US" sz="1400" b="1" spc="100" kern="0" dirty="0">
                <a:solidFill>
                  <a:srgbClr val="1C1C1C"/>
                </a:solidFill>
                <a:latin typeface="Geist" pitchFamily="34" charset="0"/>
                <a:ea typeface="Geist" pitchFamily="34" charset="-122"/>
                <a:cs typeface="Geist" pitchFamily="34" charset="-120"/>
              </a:rPr>
              <a:t>learn  with  </a:t>
            </a:r>
            <a:pPr indent="0" marL="0">
              <a:buNone/>
            </a:pPr>
            <a:r>
              <a:rPr lang="en-US" sz="1400" b="1" spc="100" kern="0" dirty="0">
                <a:solidFill>
                  <a:srgbClr val="FF5700"/>
                </a:solidFill>
                <a:latin typeface="Geist" pitchFamily="34" charset="0"/>
                <a:ea typeface="Geist" pitchFamily="34" charset="-122"/>
                <a:cs typeface="Geist" pitchFamily="34" charset="-120"/>
              </a:rPr>
              <a:t>harsha</a:t>
            </a:r>
            <a:pPr indent="0" marL="0">
              <a:buNone/>
            </a:pPr>
            <a:r>
              <a:rPr lang="en-US" sz="600" b="1" spc="100" kern="0" dirty="0">
                <a:solidFill>
                  <a:srgbClr val="FF5700"/>
                </a:solidFill>
                <a:latin typeface="Geist" pitchFamily="34" charset="0"/>
                <a:ea typeface="Geist" pitchFamily="34" charset="-122"/>
                <a:cs typeface="Geist" pitchFamily="34" charset="-120"/>
              </a:rPr>
              <a:t>  ■</a:t>
            </a:r>
            <a:endParaRPr lang="en-US" sz="1400" dirty="0"/>
          </a:p>
        </p:txBody>
      </p:sp>
      <p:sp>
        <p:nvSpPr>
          <p:cNvPr id="4" name="Shape 1"/>
          <p:cNvSpPr/>
          <p:nvPr/>
        </p:nvSpPr>
        <p:spPr>
          <a:xfrm>
            <a:off x="457200" y="905256"/>
            <a:ext cx="91440" cy="91440"/>
          </a:xfrm>
          <a:prstGeom prst="rect">
            <a:avLst/>
          </a:prstGeom>
          <a:solidFill>
            <a:srgbClr val="FF5700"/>
          </a:solidFill>
          <a:ln/>
        </p:spPr>
      </p:sp>
      <p:sp>
        <p:nvSpPr>
          <p:cNvPr id="5" name="Text 2"/>
          <p:cNvSpPr txBox="1"/>
          <p:nvPr/>
        </p:nvSpPr>
        <p:spPr>
          <a:xfrm>
            <a:off x="621792" y="804672"/>
            <a:ext cx="6400800" cy="292608"/>
          </a:xfrm>
          <a:prstGeom prst="rect">
            <a:avLst/>
          </a:prstGeom>
          <a:noFill/>
          <a:ln/>
        </p:spPr>
        <p:txBody>
          <a:bodyPr wrap="square" lIns="0" tIns="0" rIns="0" bIns="0" rtlCol="0" anchor="ctr"/>
          <a:lstStyle/>
          <a:p>
            <a:pPr indent="0" marL="0">
              <a:buNone/>
            </a:pPr>
            <a:r>
              <a:rPr lang="en-US" sz="1000" spc="400" kern="0" dirty="0">
                <a:solidFill>
                  <a:srgbClr val="FF5700"/>
                </a:solidFill>
                <a:latin typeface="IBM Plex Mono" pitchFamily="34" charset="0"/>
                <a:ea typeface="IBM Plex Mono" pitchFamily="34" charset="-122"/>
                <a:cs typeface="IBM Plex Mono" pitchFamily="34" charset="-120"/>
              </a:rPr>
              <a:t>WHAT BREAKS IN THE ENTERPRISE · 3 OF 3</a:t>
            </a:r>
            <a:endParaRPr lang="en-US" sz="1000" dirty="0"/>
          </a:p>
        </p:txBody>
      </p:sp>
      <p:sp>
        <p:nvSpPr>
          <p:cNvPr id="6" name="Text 3"/>
          <p:cNvSpPr txBox="1"/>
          <p:nvPr/>
        </p:nvSpPr>
        <p:spPr>
          <a:xfrm>
            <a:off x="457200" y="1078992"/>
            <a:ext cx="8229600" cy="640080"/>
          </a:xfrm>
          <a:prstGeom prst="rect">
            <a:avLst/>
          </a:prstGeom>
          <a:noFill/>
          <a:ln/>
        </p:spPr>
        <p:txBody>
          <a:bodyPr wrap="square" lIns="0" tIns="0" rIns="0" bIns="0" rtlCol="0" anchor="ctr"/>
          <a:lstStyle/>
          <a:p>
            <a:pPr indent="0" marL="0">
              <a:buNone/>
            </a:pPr>
            <a:r>
              <a:rPr lang="en-US" sz="2300" b="1" spc="-100" kern="0" dirty="0">
                <a:solidFill>
                  <a:srgbClr val="1C1C1C"/>
                </a:solidFill>
                <a:latin typeface="Geist" pitchFamily="34" charset="0"/>
                <a:ea typeface="Geist" pitchFamily="34" charset="-122"/>
                <a:cs typeface="Geist" pitchFamily="34" charset="-120"/>
              </a:rPr>
              <a:t>Accountability: who answers for step 7 of 12?</a:t>
            </a:r>
            <a:endParaRPr lang="en-US" sz="2300" dirty="0"/>
          </a:p>
        </p:txBody>
      </p:sp>
      <p:sp>
        <p:nvSpPr>
          <p:cNvPr id="7" name="Text 4"/>
          <p:cNvSpPr txBox="1"/>
          <p:nvPr/>
        </p:nvSpPr>
        <p:spPr>
          <a:xfrm>
            <a:off x="457200" y="4754880"/>
            <a:ext cx="5943600" cy="228600"/>
          </a:xfrm>
          <a:prstGeom prst="rect">
            <a:avLst/>
          </a:prstGeom>
          <a:noFill/>
          <a:ln/>
        </p:spPr>
        <p:txBody>
          <a:bodyPr wrap="square" lIns="0" tIns="0" rIns="0" bIns="0" rtlCol="0" anchor="ctr"/>
          <a:lstStyle/>
          <a:p>
            <a:pPr indent="0" marL="0">
              <a:buNone/>
            </a:pPr>
            <a:r>
              <a:rPr lang="en-US" sz="800" spc="100" kern="0" dirty="0">
                <a:solidFill>
                  <a:srgbClr val="919191"/>
                </a:solidFill>
                <a:latin typeface="IBM Plex Mono" pitchFamily="34" charset="0"/>
                <a:ea typeface="IBM Plex Mono" pitchFamily="34" charset="-122"/>
                <a:cs typeface="IBM Plex Mono" pitchFamily="34" charset="-120"/>
              </a:rPr>
              <a:t>Arthashastra Learning · The Agentic Enterprise</a:t>
            </a:r>
            <a:endParaRPr lang="en-US" sz="800" dirty="0"/>
          </a:p>
        </p:txBody>
      </p:sp>
      <p:sp>
        <p:nvSpPr>
          <p:cNvPr id="8" name="Text 5"/>
          <p:cNvSpPr txBox="1"/>
          <p:nvPr/>
        </p:nvSpPr>
        <p:spPr>
          <a:xfrm>
            <a:off x="6858000" y="4754880"/>
            <a:ext cx="1828800" cy="228600"/>
          </a:xfrm>
          <a:prstGeom prst="rect">
            <a:avLst/>
          </a:prstGeom>
          <a:noFill/>
          <a:ln/>
        </p:spPr>
        <p:txBody>
          <a:bodyPr wrap="square" lIns="0" tIns="0" rIns="0" bIns="0" rtlCol="0" anchor="ctr"/>
          <a:lstStyle/>
          <a:p>
            <a:pPr algn="r" indent="0" marL="0">
              <a:buNone/>
            </a:pPr>
            <a:r>
              <a:rPr lang="en-US" sz="800" spc="100" kern="0" dirty="0">
                <a:solidFill>
                  <a:srgbClr val="919191"/>
                </a:solidFill>
                <a:latin typeface="IBM Plex Mono" pitchFamily="34" charset="0"/>
                <a:ea typeface="IBM Plex Mono" pitchFamily="34" charset="-122"/>
                <a:cs typeface="IBM Plex Mono" pitchFamily="34" charset="-120"/>
              </a:rPr>
              <a:t>arthashastra.ai</a:t>
            </a:r>
            <a:endParaRPr lang="en-US" sz="800" dirty="0"/>
          </a:p>
        </p:txBody>
      </p:sp>
      <p:sp>
        <p:nvSpPr>
          <p:cNvPr id="9" name="Shape 6"/>
          <p:cNvSpPr/>
          <p:nvPr/>
        </p:nvSpPr>
        <p:spPr>
          <a:xfrm>
            <a:off x="457200" y="1783080"/>
            <a:ext cx="4023360" cy="1097280"/>
          </a:xfrm>
          <a:prstGeom prst="rect">
            <a:avLst/>
          </a:prstGeom>
          <a:solidFill>
            <a:srgbClr val="FFFFFF"/>
          </a:solidFill>
          <a:ln w="9525">
            <a:solidFill>
              <a:srgbClr val="E5E5E5"/>
            </a:solidFill>
            <a:prstDash val="solid"/>
          </a:ln>
        </p:spPr>
      </p:sp>
      <p:sp>
        <p:nvSpPr>
          <p:cNvPr id="10" name="Shape 7"/>
          <p:cNvSpPr/>
          <p:nvPr/>
        </p:nvSpPr>
        <p:spPr>
          <a:xfrm>
            <a:off x="685800" y="1984248"/>
            <a:ext cx="310896" cy="310896"/>
          </a:xfrm>
          <a:prstGeom prst="rect">
            <a:avLst/>
          </a:prstGeom>
          <a:solidFill>
            <a:srgbClr val="FF5700"/>
          </a:solidFill>
          <a:ln/>
        </p:spPr>
      </p:sp>
      <p:sp>
        <p:nvSpPr>
          <p:cNvPr id="11" name="Text 8"/>
          <p:cNvSpPr txBox="1"/>
          <p:nvPr/>
        </p:nvSpPr>
        <p:spPr>
          <a:xfrm>
            <a:off x="685800" y="1984248"/>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IBM Plex Mono" pitchFamily="34" charset="0"/>
                <a:ea typeface="IBM Plex Mono" pitchFamily="34" charset="-122"/>
                <a:cs typeface="IBM Plex Mono" pitchFamily="34" charset="-120"/>
              </a:rPr>
              <a:t>1</a:t>
            </a:r>
            <a:endParaRPr lang="en-US" sz="1100" dirty="0"/>
          </a:p>
        </p:txBody>
      </p:sp>
      <p:sp>
        <p:nvSpPr>
          <p:cNvPr id="12" name="Text 9"/>
          <p:cNvSpPr txBox="1"/>
          <p:nvPr/>
        </p:nvSpPr>
        <p:spPr>
          <a:xfrm>
            <a:off x="1143000" y="1947672"/>
            <a:ext cx="3200400" cy="365760"/>
          </a:xfrm>
          <a:prstGeom prst="rect">
            <a:avLst/>
          </a:prstGeom>
          <a:noFill/>
          <a:ln/>
        </p:spPr>
        <p:txBody>
          <a:bodyPr wrap="square" lIns="0" tIns="0" rIns="0" bIns="0" rtlCol="0" anchor="t"/>
          <a:lstStyle/>
          <a:p>
            <a:pPr indent="0" marL="0">
              <a:buNone/>
            </a:pPr>
            <a:r>
              <a:rPr lang="en-US" sz="1400" b="1" spc="-50" kern="0" dirty="0">
                <a:solidFill>
                  <a:srgbClr val="1C1C1C"/>
                </a:solidFill>
                <a:latin typeface="Geist" pitchFamily="34" charset="0"/>
                <a:ea typeface="Geist" pitchFamily="34" charset="-122"/>
                <a:cs typeface="Geist" pitchFamily="34" charset="-120"/>
              </a:rPr>
              <a:t>Trace every step</a:t>
            </a:r>
            <a:endParaRPr lang="en-US" sz="1400" dirty="0"/>
          </a:p>
        </p:txBody>
      </p:sp>
      <p:sp>
        <p:nvSpPr>
          <p:cNvPr id="13" name="Text 10"/>
          <p:cNvSpPr txBox="1"/>
          <p:nvPr/>
        </p:nvSpPr>
        <p:spPr>
          <a:xfrm>
            <a:off x="1143000" y="2313432"/>
            <a:ext cx="3200400" cy="502920"/>
          </a:xfrm>
          <a:prstGeom prst="rect">
            <a:avLst/>
          </a:prstGeom>
          <a:noFill/>
          <a:ln/>
        </p:spPr>
        <p:txBody>
          <a:bodyPr wrap="square" lIns="0" tIns="0" rIns="0" bIns="0" rtlCol="0" anchor="t"/>
          <a:lstStyle/>
          <a:p>
            <a:pPr indent="0" marL="0">
              <a:buNone/>
            </a:pPr>
            <a:r>
              <a:rPr lang="en-US" sz="1050" dirty="0">
                <a:solidFill>
                  <a:srgbClr val="6B7280"/>
                </a:solidFill>
                <a:latin typeface="Geist" pitchFamily="34" charset="0"/>
                <a:ea typeface="Geist" pitchFamily="34" charset="-122"/>
                <a:cs typeface="Geist" pitchFamily="34" charset="-120"/>
              </a:rPr>
              <a:t>every model call, tool call and result, tied to a user and a company</a:t>
            </a:r>
            <a:endParaRPr lang="en-US" sz="1050" dirty="0"/>
          </a:p>
        </p:txBody>
      </p:sp>
      <p:sp>
        <p:nvSpPr>
          <p:cNvPr id="14" name="Shape 11"/>
          <p:cNvSpPr/>
          <p:nvPr/>
        </p:nvSpPr>
        <p:spPr>
          <a:xfrm>
            <a:off x="4663440" y="1783080"/>
            <a:ext cx="4023360" cy="1097280"/>
          </a:xfrm>
          <a:prstGeom prst="rect">
            <a:avLst/>
          </a:prstGeom>
          <a:solidFill>
            <a:srgbClr val="FFFFFF"/>
          </a:solidFill>
          <a:ln w="9525">
            <a:solidFill>
              <a:srgbClr val="E5E5E5"/>
            </a:solidFill>
            <a:prstDash val="solid"/>
          </a:ln>
        </p:spPr>
      </p:sp>
      <p:sp>
        <p:nvSpPr>
          <p:cNvPr id="15" name="Shape 12"/>
          <p:cNvSpPr/>
          <p:nvPr/>
        </p:nvSpPr>
        <p:spPr>
          <a:xfrm>
            <a:off x="4892040" y="1984248"/>
            <a:ext cx="310896" cy="310896"/>
          </a:xfrm>
          <a:prstGeom prst="rect">
            <a:avLst/>
          </a:prstGeom>
          <a:solidFill>
            <a:srgbClr val="FF5700"/>
          </a:solidFill>
          <a:ln/>
        </p:spPr>
      </p:sp>
      <p:sp>
        <p:nvSpPr>
          <p:cNvPr id="16" name="Text 13"/>
          <p:cNvSpPr txBox="1"/>
          <p:nvPr/>
        </p:nvSpPr>
        <p:spPr>
          <a:xfrm>
            <a:off x="4892040" y="1984248"/>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IBM Plex Mono" pitchFamily="34" charset="0"/>
                <a:ea typeface="IBM Plex Mono" pitchFamily="34" charset="-122"/>
                <a:cs typeface="IBM Plex Mono" pitchFamily="34" charset="-120"/>
              </a:rPr>
              <a:t>2</a:t>
            </a:r>
            <a:endParaRPr lang="en-US" sz="1100" dirty="0"/>
          </a:p>
        </p:txBody>
      </p:sp>
      <p:sp>
        <p:nvSpPr>
          <p:cNvPr id="17" name="Text 14"/>
          <p:cNvSpPr txBox="1"/>
          <p:nvPr/>
        </p:nvSpPr>
        <p:spPr>
          <a:xfrm>
            <a:off x="5349240" y="1947672"/>
            <a:ext cx="3200400" cy="365760"/>
          </a:xfrm>
          <a:prstGeom prst="rect">
            <a:avLst/>
          </a:prstGeom>
          <a:noFill/>
          <a:ln/>
        </p:spPr>
        <p:txBody>
          <a:bodyPr wrap="square" lIns="0" tIns="0" rIns="0" bIns="0" rtlCol="0" anchor="t"/>
          <a:lstStyle/>
          <a:p>
            <a:pPr indent="0" marL="0">
              <a:buNone/>
            </a:pPr>
            <a:r>
              <a:rPr lang="en-US" sz="1400" b="1" spc="-50" kern="0" dirty="0">
                <a:solidFill>
                  <a:srgbClr val="1C1C1C"/>
                </a:solidFill>
                <a:latin typeface="Geist" pitchFamily="34" charset="0"/>
                <a:ea typeface="Geist" pitchFamily="34" charset="-122"/>
                <a:cs typeface="Geist" pitchFamily="34" charset="-120"/>
              </a:rPr>
              <a:t>Human-in-the-loop</a:t>
            </a:r>
            <a:endParaRPr lang="en-US" sz="1400" dirty="0"/>
          </a:p>
        </p:txBody>
      </p:sp>
      <p:sp>
        <p:nvSpPr>
          <p:cNvPr id="18" name="Text 15"/>
          <p:cNvSpPr txBox="1"/>
          <p:nvPr/>
        </p:nvSpPr>
        <p:spPr>
          <a:xfrm>
            <a:off x="5349240" y="2313432"/>
            <a:ext cx="3200400" cy="502920"/>
          </a:xfrm>
          <a:prstGeom prst="rect">
            <a:avLst/>
          </a:prstGeom>
          <a:noFill/>
          <a:ln/>
        </p:spPr>
        <p:txBody>
          <a:bodyPr wrap="square" lIns="0" tIns="0" rIns="0" bIns="0" rtlCol="0" anchor="t"/>
          <a:lstStyle/>
          <a:p>
            <a:pPr indent="0" marL="0">
              <a:buNone/>
            </a:pPr>
            <a:r>
              <a:rPr lang="en-US" sz="1050" dirty="0">
                <a:solidFill>
                  <a:srgbClr val="6B7280"/>
                </a:solidFill>
                <a:latin typeface="Geist" pitchFamily="34" charset="0"/>
                <a:ea typeface="Geist" pitchFamily="34" charset="-122"/>
                <a:cs typeface="Geist" pitchFamily="34" charset="-120"/>
              </a:rPr>
              <a:t>irreversible or high-value actions pause for a person — by design, not by prompt</a:t>
            </a:r>
            <a:endParaRPr lang="en-US" sz="1050" dirty="0"/>
          </a:p>
        </p:txBody>
      </p:sp>
      <p:sp>
        <p:nvSpPr>
          <p:cNvPr id="19" name="Shape 16"/>
          <p:cNvSpPr/>
          <p:nvPr/>
        </p:nvSpPr>
        <p:spPr>
          <a:xfrm>
            <a:off x="457200" y="3017520"/>
            <a:ext cx="4023360" cy="1097280"/>
          </a:xfrm>
          <a:prstGeom prst="rect">
            <a:avLst/>
          </a:prstGeom>
          <a:solidFill>
            <a:srgbClr val="FFFFFF"/>
          </a:solidFill>
          <a:ln w="9525">
            <a:solidFill>
              <a:srgbClr val="E5E5E5"/>
            </a:solidFill>
            <a:prstDash val="solid"/>
          </a:ln>
        </p:spPr>
      </p:sp>
      <p:sp>
        <p:nvSpPr>
          <p:cNvPr id="20" name="Shape 17"/>
          <p:cNvSpPr/>
          <p:nvPr/>
        </p:nvSpPr>
        <p:spPr>
          <a:xfrm>
            <a:off x="685800" y="3218688"/>
            <a:ext cx="310896" cy="310896"/>
          </a:xfrm>
          <a:prstGeom prst="rect">
            <a:avLst/>
          </a:prstGeom>
          <a:solidFill>
            <a:srgbClr val="FF5700"/>
          </a:solidFill>
          <a:ln/>
        </p:spPr>
      </p:sp>
      <p:sp>
        <p:nvSpPr>
          <p:cNvPr id="21" name="Text 18"/>
          <p:cNvSpPr txBox="1"/>
          <p:nvPr/>
        </p:nvSpPr>
        <p:spPr>
          <a:xfrm>
            <a:off x="685800" y="3218688"/>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IBM Plex Mono" pitchFamily="34" charset="0"/>
                <a:ea typeface="IBM Plex Mono" pitchFamily="34" charset="-122"/>
                <a:cs typeface="IBM Plex Mono" pitchFamily="34" charset="-120"/>
              </a:rPr>
              <a:t>3</a:t>
            </a:r>
            <a:endParaRPr lang="en-US" sz="1100" dirty="0"/>
          </a:p>
        </p:txBody>
      </p:sp>
      <p:sp>
        <p:nvSpPr>
          <p:cNvPr id="22" name="Text 19"/>
          <p:cNvSpPr txBox="1"/>
          <p:nvPr/>
        </p:nvSpPr>
        <p:spPr>
          <a:xfrm>
            <a:off x="1143000" y="3182112"/>
            <a:ext cx="3200400" cy="365760"/>
          </a:xfrm>
          <a:prstGeom prst="rect">
            <a:avLst/>
          </a:prstGeom>
          <a:noFill/>
          <a:ln/>
        </p:spPr>
        <p:txBody>
          <a:bodyPr wrap="square" lIns="0" tIns="0" rIns="0" bIns="0" rtlCol="0" anchor="t"/>
          <a:lstStyle/>
          <a:p>
            <a:pPr indent="0" marL="0">
              <a:buNone/>
            </a:pPr>
            <a:r>
              <a:rPr lang="en-US" sz="1400" b="1" spc="-50" kern="0" dirty="0">
                <a:solidFill>
                  <a:srgbClr val="1C1C1C"/>
                </a:solidFill>
                <a:latin typeface="Geist" pitchFamily="34" charset="0"/>
                <a:ea typeface="Geist" pitchFamily="34" charset="-122"/>
                <a:cs typeface="Geist" pitchFamily="34" charset="-120"/>
              </a:rPr>
              <a:t>Caps on steps, cost, time</a:t>
            </a:r>
            <a:endParaRPr lang="en-US" sz="1400" dirty="0"/>
          </a:p>
        </p:txBody>
      </p:sp>
      <p:sp>
        <p:nvSpPr>
          <p:cNvPr id="23" name="Text 20"/>
          <p:cNvSpPr txBox="1"/>
          <p:nvPr/>
        </p:nvSpPr>
        <p:spPr>
          <a:xfrm>
            <a:off x="1143000" y="3547872"/>
            <a:ext cx="3200400" cy="502920"/>
          </a:xfrm>
          <a:prstGeom prst="rect">
            <a:avLst/>
          </a:prstGeom>
          <a:noFill/>
          <a:ln/>
        </p:spPr>
        <p:txBody>
          <a:bodyPr wrap="square" lIns="0" tIns="0" rIns="0" bIns="0" rtlCol="0" anchor="t"/>
          <a:lstStyle/>
          <a:p>
            <a:pPr indent="0" marL="0">
              <a:buNone/>
            </a:pPr>
            <a:r>
              <a:rPr lang="en-US" sz="1050" dirty="0">
                <a:solidFill>
                  <a:srgbClr val="6B7280"/>
                </a:solidFill>
                <a:latin typeface="Geist" pitchFamily="34" charset="0"/>
                <a:ea typeface="Geist" pitchFamily="34" charset="-122"/>
                <a:cs typeface="Geist" pitchFamily="34" charset="-120"/>
              </a:rPr>
              <a:t>a runaway loop is a budget incident; the cap is the circuit breaker</a:t>
            </a:r>
            <a:endParaRPr lang="en-US" sz="1050" dirty="0"/>
          </a:p>
        </p:txBody>
      </p:sp>
      <p:sp>
        <p:nvSpPr>
          <p:cNvPr id="24" name="Shape 21"/>
          <p:cNvSpPr/>
          <p:nvPr/>
        </p:nvSpPr>
        <p:spPr>
          <a:xfrm>
            <a:off x="4663440" y="3017520"/>
            <a:ext cx="4023360" cy="1097280"/>
          </a:xfrm>
          <a:prstGeom prst="rect">
            <a:avLst/>
          </a:prstGeom>
          <a:solidFill>
            <a:srgbClr val="FFFFFF"/>
          </a:solidFill>
          <a:ln w="9525">
            <a:solidFill>
              <a:srgbClr val="E5E5E5"/>
            </a:solidFill>
            <a:prstDash val="solid"/>
          </a:ln>
        </p:spPr>
      </p:sp>
      <p:sp>
        <p:nvSpPr>
          <p:cNvPr id="25" name="Shape 22"/>
          <p:cNvSpPr/>
          <p:nvPr/>
        </p:nvSpPr>
        <p:spPr>
          <a:xfrm>
            <a:off x="4892040" y="3218688"/>
            <a:ext cx="310896" cy="310896"/>
          </a:xfrm>
          <a:prstGeom prst="rect">
            <a:avLst/>
          </a:prstGeom>
          <a:solidFill>
            <a:srgbClr val="FF5700"/>
          </a:solidFill>
          <a:ln/>
        </p:spPr>
      </p:sp>
      <p:sp>
        <p:nvSpPr>
          <p:cNvPr id="26" name="Text 23"/>
          <p:cNvSpPr txBox="1"/>
          <p:nvPr/>
        </p:nvSpPr>
        <p:spPr>
          <a:xfrm>
            <a:off x="4892040" y="3218688"/>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IBM Plex Mono" pitchFamily="34" charset="0"/>
                <a:ea typeface="IBM Plex Mono" pitchFamily="34" charset="-122"/>
                <a:cs typeface="IBM Plex Mono" pitchFamily="34" charset="-120"/>
              </a:rPr>
              <a:t>4</a:t>
            </a:r>
            <a:endParaRPr lang="en-US" sz="1100" dirty="0"/>
          </a:p>
        </p:txBody>
      </p:sp>
      <p:sp>
        <p:nvSpPr>
          <p:cNvPr id="27" name="Text 24"/>
          <p:cNvSpPr txBox="1"/>
          <p:nvPr/>
        </p:nvSpPr>
        <p:spPr>
          <a:xfrm>
            <a:off x="5349240" y="3182112"/>
            <a:ext cx="3200400" cy="365760"/>
          </a:xfrm>
          <a:prstGeom prst="rect">
            <a:avLst/>
          </a:prstGeom>
          <a:noFill/>
          <a:ln/>
        </p:spPr>
        <p:txBody>
          <a:bodyPr wrap="square" lIns="0" tIns="0" rIns="0" bIns="0" rtlCol="0" anchor="t"/>
          <a:lstStyle/>
          <a:p>
            <a:pPr indent="0" marL="0">
              <a:buNone/>
            </a:pPr>
            <a:r>
              <a:rPr lang="en-US" sz="1400" b="1" spc="-50" kern="0" dirty="0">
                <a:solidFill>
                  <a:srgbClr val="1C1C1C"/>
                </a:solidFill>
                <a:latin typeface="Geist" pitchFamily="34" charset="0"/>
                <a:ea typeface="Geist" pitchFamily="34" charset="-122"/>
                <a:cs typeface="Geist" pitchFamily="34" charset="-120"/>
              </a:rPr>
              <a:t>Evals before release</a:t>
            </a:r>
            <a:endParaRPr lang="en-US" sz="1400" dirty="0"/>
          </a:p>
        </p:txBody>
      </p:sp>
      <p:sp>
        <p:nvSpPr>
          <p:cNvPr id="28" name="Text 25"/>
          <p:cNvSpPr txBox="1"/>
          <p:nvPr/>
        </p:nvSpPr>
        <p:spPr>
          <a:xfrm>
            <a:off x="5349240" y="3547872"/>
            <a:ext cx="3200400" cy="502920"/>
          </a:xfrm>
          <a:prstGeom prst="rect">
            <a:avLst/>
          </a:prstGeom>
          <a:noFill/>
          <a:ln/>
        </p:spPr>
        <p:txBody>
          <a:bodyPr wrap="square" lIns="0" tIns="0" rIns="0" bIns="0" rtlCol="0" anchor="t"/>
          <a:lstStyle/>
          <a:p>
            <a:pPr indent="0" marL="0">
              <a:buNone/>
            </a:pPr>
            <a:r>
              <a:rPr lang="en-US" sz="1050" dirty="0">
                <a:solidFill>
                  <a:srgbClr val="6B7280"/>
                </a:solidFill>
                <a:latin typeface="Geist" pitchFamily="34" charset="0"/>
                <a:ea typeface="Geist" pitchFamily="34" charset="-122"/>
                <a:cs typeface="Geist" pitchFamily="34" charset="-120"/>
              </a:rPr>
              <a:t>a test set of real tasks, scored, run on every change — like any other software</a:t>
            </a:r>
            <a:endParaRPr lang="en-US" sz="1050" dirty="0"/>
          </a:p>
        </p:txBody>
      </p:sp>
      <p:sp>
        <p:nvSpPr>
          <p:cNvPr id="29" name="Text 26"/>
          <p:cNvSpPr txBox="1"/>
          <p:nvPr/>
        </p:nvSpPr>
        <p:spPr>
          <a:xfrm>
            <a:off x="457200" y="4297680"/>
            <a:ext cx="8229600" cy="274320"/>
          </a:xfrm>
          <a:prstGeom prst="rect">
            <a:avLst/>
          </a:prstGeom>
          <a:noFill/>
          <a:ln/>
        </p:spPr>
        <p:txBody>
          <a:bodyPr wrap="square" lIns="0" tIns="0" rIns="0" bIns="0" rtlCol="0" anchor="t"/>
          <a:lstStyle/>
          <a:p>
            <a:pPr indent="0" marL="0">
              <a:buNone/>
            </a:pPr>
            <a:r>
              <a:rPr lang="en-US" sz="1000" dirty="0">
                <a:solidFill>
                  <a:srgbClr val="919191"/>
                </a:solidFill>
                <a:latin typeface="Geist" pitchFamily="34" charset="0"/>
                <a:ea typeface="Geist" pitchFamily="34" charset="-122"/>
                <a:cs typeface="Geist" pitchFamily="34" charset="-120"/>
              </a:rPr>
              <a:t>Episodes 9, 10, 18 and 25 cover each of these in depth.</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3" name="Text 0"/>
          <p:cNvSpPr txBox="1"/>
          <p:nvPr/>
        </p:nvSpPr>
        <p:spPr>
          <a:xfrm>
            <a:off x="548640" y="384048"/>
            <a:ext cx="8229600" cy="320040"/>
          </a:xfrm>
          <a:prstGeom prst="rect">
            <a:avLst/>
          </a:prstGeom>
          <a:noFill/>
          <a:ln/>
        </p:spPr>
        <p:txBody>
          <a:bodyPr wrap="square" lIns="0" tIns="0" rIns="0" bIns="0" rtlCol="0" anchor="ctr"/>
          <a:lstStyle/>
          <a:p>
            <a:pPr indent="0" marL="0">
              <a:buNone/>
            </a:pPr>
            <a:r>
              <a:rPr lang="en-US" sz="1800" b="1" spc="100" kern="0" dirty="0">
                <a:solidFill>
                  <a:srgbClr val="FFFFFF"/>
                </a:solidFill>
                <a:latin typeface="Geist" pitchFamily="34" charset="0"/>
                <a:ea typeface="Geist" pitchFamily="34" charset="-122"/>
                <a:cs typeface="Geist" pitchFamily="34" charset="-120"/>
              </a:rPr>
              <a:t>learn  with  </a:t>
            </a:r>
            <a:pPr indent="0" marL="0">
              <a:buNone/>
            </a:pPr>
            <a:r>
              <a:rPr lang="en-US" sz="1800" b="1" spc="100" kern="0" dirty="0">
                <a:solidFill>
                  <a:srgbClr val="FF5700"/>
                </a:solidFill>
                <a:latin typeface="Geist" pitchFamily="34" charset="0"/>
                <a:ea typeface="Geist" pitchFamily="34" charset="-122"/>
                <a:cs typeface="Geist" pitchFamily="34" charset="-120"/>
              </a:rPr>
              <a:t>harsha</a:t>
            </a:r>
            <a:pPr indent="0" marL="0">
              <a:buNone/>
            </a:pPr>
            <a:r>
              <a:rPr lang="en-US" sz="700" b="1" spc="100" kern="0" dirty="0">
                <a:solidFill>
                  <a:srgbClr val="FF5700"/>
                </a:solidFill>
                <a:latin typeface="Geist" pitchFamily="34" charset="0"/>
                <a:ea typeface="Geist" pitchFamily="34" charset="-122"/>
                <a:cs typeface="Geist" pitchFamily="34" charset="-120"/>
              </a:rPr>
              <a:t>  ■</a:t>
            </a:r>
            <a:endParaRPr lang="en-US" sz="1800" dirty="0"/>
          </a:p>
        </p:txBody>
      </p:sp>
      <p:sp>
        <p:nvSpPr>
          <p:cNvPr id="4" name="Shape 1"/>
          <p:cNvSpPr/>
          <p:nvPr/>
        </p:nvSpPr>
        <p:spPr>
          <a:xfrm>
            <a:off x="6903720" y="457200"/>
            <a:ext cx="274320" cy="274320"/>
          </a:xfrm>
          <a:prstGeom prst="rect">
            <a:avLst/>
          </a:prstGeom>
          <a:solidFill>
            <a:srgbClr val="222222"/>
          </a:solidFill>
          <a:ln/>
        </p:spPr>
      </p:sp>
      <p:sp>
        <p:nvSpPr>
          <p:cNvPr id="5" name="Shape 2"/>
          <p:cNvSpPr/>
          <p:nvPr/>
        </p:nvSpPr>
        <p:spPr>
          <a:xfrm>
            <a:off x="7242048" y="457200"/>
            <a:ext cx="274320" cy="274320"/>
          </a:xfrm>
          <a:prstGeom prst="rect">
            <a:avLst/>
          </a:prstGeom>
          <a:solidFill>
            <a:srgbClr val="222222"/>
          </a:solidFill>
          <a:ln/>
        </p:spPr>
      </p:sp>
      <p:sp>
        <p:nvSpPr>
          <p:cNvPr id="6" name="Shape 3"/>
          <p:cNvSpPr/>
          <p:nvPr/>
        </p:nvSpPr>
        <p:spPr>
          <a:xfrm>
            <a:off x="7580376" y="457200"/>
            <a:ext cx="274320" cy="274320"/>
          </a:xfrm>
          <a:prstGeom prst="rect">
            <a:avLst/>
          </a:prstGeom>
          <a:solidFill>
            <a:srgbClr val="222222"/>
          </a:solidFill>
          <a:ln/>
        </p:spPr>
      </p:sp>
      <p:sp>
        <p:nvSpPr>
          <p:cNvPr id="7" name="Shape 4"/>
          <p:cNvSpPr/>
          <p:nvPr/>
        </p:nvSpPr>
        <p:spPr>
          <a:xfrm>
            <a:off x="6903720" y="795528"/>
            <a:ext cx="274320" cy="274320"/>
          </a:xfrm>
          <a:prstGeom prst="rect">
            <a:avLst/>
          </a:prstGeom>
          <a:solidFill>
            <a:srgbClr val="222222"/>
          </a:solidFill>
          <a:ln/>
        </p:spPr>
      </p:sp>
      <p:sp>
        <p:nvSpPr>
          <p:cNvPr id="8" name="Shape 5"/>
          <p:cNvSpPr/>
          <p:nvPr/>
        </p:nvSpPr>
        <p:spPr>
          <a:xfrm>
            <a:off x="7242048" y="795528"/>
            <a:ext cx="274320" cy="274320"/>
          </a:xfrm>
          <a:prstGeom prst="rect">
            <a:avLst/>
          </a:prstGeom>
          <a:solidFill>
            <a:srgbClr val="FF5700"/>
          </a:solidFill>
          <a:ln/>
        </p:spPr>
      </p:sp>
      <p:sp>
        <p:nvSpPr>
          <p:cNvPr id="9" name="Shape 6"/>
          <p:cNvSpPr/>
          <p:nvPr/>
        </p:nvSpPr>
        <p:spPr>
          <a:xfrm>
            <a:off x="7580376" y="795528"/>
            <a:ext cx="274320" cy="274320"/>
          </a:xfrm>
          <a:prstGeom prst="rect">
            <a:avLst/>
          </a:prstGeom>
          <a:solidFill>
            <a:srgbClr val="222222"/>
          </a:solidFill>
          <a:ln/>
        </p:spPr>
      </p:sp>
      <p:sp>
        <p:nvSpPr>
          <p:cNvPr id="10" name="Shape 7"/>
          <p:cNvSpPr/>
          <p:nvPr/>
        </p:nvSpPr>
        <p:spPr>
          <a:xfrm>
            <a:off x="6903720" y="1133856"/>
            <a:ext cx="274320" cy="274320"/>
          </a:xfrm>
          <a:prstGeom prst="rect">
            <a:avLst/>
          </a:prstGeom>
          <a:solidFill>
            <a:srgbClr val="222222"/>
          </a:solidFill>
          <a:ln/>
        </p:spPr>
      </p:sp>
      <p:sp>
        <p:nvSpPr>
          <p:cNvPr id="11" name="Shape 8"/>
          <p:cNvSpPr/>
          <p:nvPr/>
        </p:nvSpPr>
        <p:spPr>
          <a:xfrm>
            <a:off x="7242048" y="1133856"/>
            <a:ext cx="274320" cy="274320"/>
          </a:xfrm>
          <a:prstGeom prst="rect">
            <a:avLst/>
          </a:prstGeom>
          <a:solidFill>
            <a:srgbClr val="222222"/>
          </a:solidFill>
          <a:ln/>
        </p:spPr>
      </p:sp>
      <p:sp>
        <p:nvSpPr>
          <p:cNvPr id="12" name="Shape 9"/>
          <p:cNvSpPr/>
          <p:nvPr/>
        </p:nvSpPr>
        <p:spPr>
          <a:xfrm>
            <a:off x="7580376" y="1133856"/>
            <a:ext cx="274320" cy="274320"/>
          </a:xfrm>
          <a:prstGeom prst="rect">
            <a:avLst/>
          </a:prstGeom>
          <a:solidFill>
            <a:srgbClr val="222222"/>
          </a:solidFill>
          <a:ln/>
        </p:spPr>
      </p:sp>
      <p:sp>
        <p:nvSpPr>
          <p:cNvPr id="13" name="Text 10"/>
          <p:cNvSpPr txBox="1"/>
          <p:nvPr/>
        </p:nvSpPr>
        <p:spPr>
          <a:xfrm>
            <a:off x="548640" y="1097280"/>
            <a:ext cx="8046720" cy="548640"/>
          </a:xfrm>
          <a:prstGeom prst="rect">
            <a:avLst/>
          </a:prstGeom>
          <a:noFill/>
          <a:ln/>
        </p:spPr>
        <p:txBody>
          <a:bodyPr wrap="square" lIns="0" tIns="0" rIns="0" bIns="0" rtlCol="0" anchor="ctr"/>
          <a:lstStyle/>
          <a:p>
            <a:pPr indent="0" marL="0">
              <a:buNone/>
            </a:pPr>
            <a:r>
              <a:rPr lang="en-US" sz="2800" b="1" spc="-100" kern="0" dirty="0">
                <a:solidFill>
                  <a:srgbClr val="FFFFFF"/>
                </a:solidFill>
                <a:latin typeface="Geist" pitchFamily="34" charset="0"/>
                <a:ea typeface="Geist" pitchFamily="34" charset="-122"/>
                <a:cs typeface="Geist" pitchFamily="34" charset="-120"/>
              </a:rPr>
              <a:t>Recap</a:t>
            </a:r>
            <a:endParaRPr lang="en-US" sz="2800" dirty="0"/>
          </a:p>
        </p:txBody>
      </p:sp>
      <p:sp>
        <p:nvSpPr>
          <p:cNvPr id="14" name="Text 11"/>
          <p:cNvSpPr txBox="1"/>
          <p:nvPr/>
        </p:nvSpPr>
        <p:spPr>
          <a:xfrm>
            <a:off x="548640" y="1783080"/>
            <a:ext cx="2011680" cy="457200"/>
          </a:xfrm>
          <a:prstGeom prst="rect">
            <a:avLst/>
          </a:prstGeom>
          <a:noFill/>
          <a:ln/>
        </p:spPr>
        <p:txBody>
          <a:bodyPr wrap="square" lIns="0" tIns="0" rIns="0" bIns="0" rtlCol="0" anchor="ctr"/>
          <a:lstStyle/>
          <a:p>
            <a:pPr indent="0" marL="0">
              <a:buNone/>
            </a:pPr>
            <a:r>
              <a:rPr lang="en-US" sz="1100" spc="200" kern="0" dirty="0">
                <a:solidFill>
                  <a:srgbClr val="FF7A33"/>
                </a:solidFill>
                <a:latin typeface="IBM Plex Mono" pitchFamily="34" charset="0"/>
                <a:ea typeface="IBM Plex Mono" pitchFamily="34" charset="-122"/>
                <a:cs typeface="IBM Plex Mono" pitchFamily="34" charset="-120"/>
              </a:rPr>
              <a:t>AGENT =</a:t>
            </a:r>
            <a:endParaRPr lang="en-US" sz="1100" dirty="0"/>
          </a:p>
        </p:txBody>
      </p:sp>
      <p:sp>
        <p:nvSpPr>
          <p:cNvPr id="15" name="Text 12"/>
          <p:cNvSpPr txBox="1"/>
          <p:nvPr/>
        </p:nvSpPr>
        <p:spPr>
          <a:xfrm>
            <a:off x="2560320" y="1783080"/>
            <a:ext cx="6035040" cy="457200"/>
          </a:xfrm>
          <a:prstGeom prst="rect">
            <a:avLst/>
          </a:prstGeom>
          <a:noFill/>
          <a:ln/>
        </p:spPr>
        <p:txBody>
          <a:bodyPr wrap="square" lIns="0" tIns="0" rIns="0" bIns="0" rtlCol="0" anchor="ctr"/>
          <a:lstStyle/>
          <a:p>
            <a:pPr indent="0" marL="0">
              <a:buNone/>
            </a:pPr>
            <a:r>
              <a:rPr lang="en-US" sz="1400" dirty="0">
                <a:solidFill>
                  <a:srgbClr val="FFFFFF"/>
                </a:solidFill>
                <a:latin typeface="Geist" pitchFamily="34" charset="0"/>
                <a:ea typeface="Geist" pitchFamily="34" charset="-122"/>
                <a:cs typeface="Geist" pitchFamily="34" charset="-120"/>
              </a:rPr>
              <a:t>decides + loop + tools</a:t>
            </a:r>
            <a:endParaRPr lang="en-US" sz="1400" dirty="0"/>
          </a:p>
        </p:txBody>
      </p:sp>
      <p:sp>
        <p:nvSpPr>
          <p:cNvPr id="16" name="Text 13"/>
          <p:cNvSpPr txBox="1"/>
          <p:nvPr/>
        </p:nvSpPr>
        <p:spPr>
          <a:xfrm>
            <a:off x="548640" y="2331720"/>
            <a:ext cx="2011680" cy="457200"/>
          </a:xfrm>
          <a:prstGeom prst="rect">
            <a:avLst/>
          </a:prstGeom>
          <a:noFill/>
          <a:ln/>
        </p:spPr>
        <p:txBody>
          <a:bodyPr wrap="square" lIns="0" tIns="0" rIns="0" bIns="0" rtlCol="0" anchor="ctr"/>
          <a:lstStyle/>
          <a:p>
            <a:pPr indent="0" marL="0">
              <a:buNone/>
            </a:pPr>
            <a:r>
              <a:rPr lang="en-US" sz="1100" spc="200" kern="0" dirty="0">
                <a:solidFill>
                  <a:srgbClr val="FF7A33"/>
                </a:solidFill>
                <a:latin typeface="IBM Plex Mono" pitchFamily="34" charset="0"/>
                <a:ea typeface="IBM Plex Mono" pitchFamily="34" charset="-122"/>
                <a:cs typeface="IBM Plex Mono" pitchFamily="34" charset="-120"/>
              </a:rPr>
              <a:t>5 PARTS</a:t>
            </a:r>
            <a:endParaRPr lang="en-US" sz="1100" dirty="0"/>
          </a:p>
        </p:txBody>
      </p:sp>
      <p:sp>
        <p:nvSpPr>
          <p:cNvPr id="17" name="Text 14"/>
          <p:cNvSpPr txBox="1"/>
          <p:nvPr/>
        </p:nvSpPr>
        <p:spPr>
          <a:xfrm>
            <a:off x="2560320" y="2331720"/>
            <a:ext cx="6035040" cy="457200"/>
          </a:xfrm>
          <a:prstGeom prst="rect">
            <a:avLst/>
          </a:prstGeom>
          <a:noFill/>
          <a:ln/>
        </p:spPr>
        <p:txBody>
          <a:bodyPr wrap="square" lIns="0" tIns="0" rIns="0" bIns="0" rtlCol="0" anchor="ctr"/>
          <a:lstStyle/>
          <a:p>
            <a:pPr indent="0" marL="0">
              <a:buNone/>
            </a:pPr>
            <a:r>
              <a:rPr lang="en-US" sz="1400" dirty="0">
                <a:solidFill>
                  <a:srgbClr val="FFFFFF"/>
                </a:solidFill>
                <a:latin typeface="Geist" pitchFamily="34" charset="0"/>
                <a:ea typeface="Geist" pitchFamily="34" charset="-122"/>
                <a:cs typeface="Geist" pitchFamily="34" charset="-120"/>
              </a:rPr>
              <a:t>model · instructions · tools · memory · loop + limits</a:t>
            </a:r>
            <a:endParaRPr lang="en-US" sz="1400" dirty="0"/>
          </a:p>
        </p:txBody>
      </p:sp>
      <p:sp>
        <p:nvSpPr>
          <p:cNvPr id="18" name="Text 15"/>
          <p:cNvSpPr txBox="1"/>
          <p:nvPr/>
        </p:nvSpPr>
        <p:spPr>
          <a:xfrm>
            <a:off x="548640" y="2880360"/>
            <a:ext cx="2011680" cy="457200"/>
          </a:xfrm>
          <a:prstGeom prst="rect">
            <a:avLst/>
          </a:prstGeom>
          <a:noFill/>
          <a:ln/>
        </p:spPr>
        <p:txBody>
          <a:bodyPr wrap="square" lIns="0" tIns="0" rIns="0" bIns="0" rtlCol="0" anchor="ctr"/>
          <a:lstStyle/>
          <a:p>
            <a:pPr indent="0" marL="0">
              <a:buNone/>
            </a:pPr>
            <a:r>
              <a:rPr lang="en-US" sz="1100" spc="200" kern="0" dirty="0">
                <a:solidFill>
                  <a:srgbClr val="FF7A33"/>
                </a:solidFill>
                <a:latin typeface="IBM Plex Mono" pitchFamily="34" charset="0"/>
                <a:ea typeface="IBM Plex Mono" pitchFamily="34" charset="-122"/>
                <a:cs typeface="IBM Plex Mono" pitchFamily="34" charset="-120"/>
              </a:rPr>
              <a:t>3 BREAKPOINTS</a:t>
            </a:r>
            <a:endParaRPr lang="en-US" sz="1100" dirty="0"/>
          </a:p>
        </p:txBody>
      </p:sp>
      <p:sp>
        <p:nvSpPr>
          <p:cNvPr id="19" name="Text 16"/>
          <p:cNvSpPr txBox="1"/>
          <p:nvPr/>
        </p:nvSpPr>
        <p:spPr>
          <a:xfrm>
            <a:off x="2560320" y="2880360"/>
            <a:ext cx="6035040" cy="457200"/>
          </a:xfrm>
          <a:prstGeom prst="rect">
            <a:avLst/>
          </a:prstGeom>
          <a:noFill/>
          <a:ln/>
        </p:spPr>
        <p:txBody>
          <a:bodyPr wrap="square" lIns="0" tIns="0" rIns="0" bIns="0" rtlCol="0" anchor="ctr"/>
          <a:lstStyle/>
          <a:p>
            <a:pPr indent="0" marL="0">
              <a:buNone/>
            </a:pPr>
            <a:r>
              <a:rPr lang="en-US" sz="1400" dirty="0">
                <a:solidFill>
                  <a:srgbClr val="FFFFFF"/>
                </a:solidFill>
                <a:latin typeface="Geist" pitchFamily="34" charset="0"/>
                <a:ea typeface="Geist" pitchFamily="34" charset="-122"/>
                <a:cs typeface="Geist" pitchFamily="34" charset="-120"/>
              </a:rPr>
              <a:t>identity · tenancy · accountability</a:t>
            </a:r>
            <a:endParaRPr lang="en-US" sz="1400" dirty="0"/>
          </a:p>
        </p:txBody>
      </p:sp>
      <p:sp>
        <p:nvSpPr>
          <p:cNvPr id="20" name="Shape 17"/>
          <p:cNvSpPr/>
          <p:nvPr/>
        </p:nvSpPr>
        <p:spPr>
          <a:xfrm>
            <a:off x="548640" y="3931920"/>
            <a:ext cx="8046720" cy="0"/>
          </a:xfrm>
          <a:prstGeom prst="line">
            <a:avLst/>
          </a:prstGeom>
          <a:noFill/>
          <a:ln w="9525">
            <a:solidFill>
              <a:srgbClr val="2A2A2A"/>
            </a:solidFill>
            <a:prstDash val="solid"/>
          </a:ln>
        </p:spPr>
      </p:sp>
      <p:sp>
        <p:nvSpPr>
          <p:cNvPr id="21" name="Text 18"/>
          <p:cNvSpPr txBox="1"/>
          <p:nvPr/>
        </p:nvSpPr>
        <p:spPr>
          <a:xfrm>
            <a:off x="548640" y="4005072"/>
            <a:ext cx="8046720" cy="457200"/>
          </a:xfrm>
          <a:prstGeom prst="rect">
            <a:avLst/>
          </a:prstGeom>
          <a:noFill/>
          <a:ln/>
        </p:spPr>
        <p:txBody>
          <a:bodyPr wrap="square" lIns="0" tIns="0" rIns="0" bIns="0" rtlCol="0" anchor="ctr"/>
          <a:lstStyle/>
          <a:p>
            <a:pPr indent="0" marL="0">
              <a:buNone/>
            </a:pPr>
            <a:r>
              <a:rPr lang="en-US" sz="900" spc="300" kern="0" dirty="0">
                <a:solidFill>
                  <a:srgbClr val="FF7A33"/>
                </a:solidFill>
                <a:latin typeface="IBM Plex Mono" pitchFamily="34" charset="0"/>
                <a:ea typeface="IBM Plex Mono" pitchFamily="34" charset="-122"/>
                <a:cs typeface="IBM Plex Mono" pitchFamily="34" charset="-120"/>
              </a:rPr>
              <a:t>NEXT  </a:t>
            </a:r>
            <a:pPr indent="0" marL="0">
              <a:buNone/>
            </a:pPr>
            <a:r>
              <a:rPr lang="en-US" sz="1200" dirty="0">
                <a:solidFill>
                  <a:srgbClr val="FFFFFF"/>
                </a:solidFill>
                <a:latin typeface="Geist" pitchFamily="34" charset="0"/>
                <a:ea typeface="Geist" pitchFamily="34" charset="-122"/>
                <a:cs typeface="Geist" pitchFamily="34" charset="-120"/>
              </a:rPr>
              <a:t>Episode 2 — Build your first AI agent: a sales-returns agent for the ERP, live, in one Python file.</a:t>
            </a:r>
            <a:endParaRPr lang="en-US" sz="900" dirty="0"/>
          </a:p>
        </p:txBody>
      </p:sp>
      <p:sp>
        <p:nvSpPr>
          <p:cNvPr id="22" name="Text 19"/>
          <p:cNvSpPr txBox="1"/>
          <p:nvPr/>
        </p:nvSpPr>
        <p:spPr>
          <a:xfrm>
            <a:off x="548640" y="4526280"/>
            <a:ext cx="8046720" cy="274320"/>
          </a:xfrm>
          <a:prstGeom prst="rect">
            <a:avLst/>
          </a:prstGeom>
          <a:noFill/>
          <a:ln/>
        </p:spPr>
        <p:txBody>
          <a:bodyPr wrap="square" lIns="0" tIns="0" rIns="0" bIns="0" rtlCol="0" anchor="ctr"/>
          <a:lstStyle/>
          <a:p>
            <a:pPr indent="0" marL="0">
              <a:buNone/>
            </a:pPr>
            <a:r>
              <a:rPr lang="en-US" sz="900" spc="100" kern="0" dirty="0">
                <a:solidFill>
                  <a:srgbClr val="8A8A8A"/>
                </a:solidFill>
                <a:latin typeface="IBM Plex Mono" pitchFamily="34" charset="0"/>
                <a:ea typeface="IBM Plex Mono" pitchFamily="34" charset="-122"/>
                <a:cs typeface="IBM Plex Mono" pitchFamily="34" charset="-120"/>
              </a:rPr>
              <a:t>github.com/harsha47ai/agentic-ai  ·  one episode a week</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Ep 1 — What an AI agent actually is — and isn't — in enterprise software</dc:title>
  <dc:subject>PptxGenJS Presentation</dc:subject>
  <dc:creator>PptxGenJS</dc:creator>
  <cp:lastModifiedBy>PptxGenJS</cp:lastModifiedBy>
  <cp:revision>1</cp:revision>
  <dcterms:created xsi:type="dcterms:W3CDTF">2026-10-12T04:46:35Z</dcterms:created>
  <dcterms:modified xsi:type="dcterms:W3CDTF">2026-10-12T04:46:35Z</dcterms:modified>
</cp:coreProperties>
</file>