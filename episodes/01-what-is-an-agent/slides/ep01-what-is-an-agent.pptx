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 in 20 seconds: 'Every vendor now sells agents. Most of them are a chatbot with a new logo. In ten minutes you'll know the difference — and the three things that break the moment you put one inside enterprise software. And over this series we're going to build an open-source ERP where every module has its agents.'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contract: three outcomes. Then the series promise — an open-source agentic ERP, built in public, one module per few episodes.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slowly, twice. Point at the three words. Remove any one and you have something useful — but not an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 people screenshot. The question that places any system on this line: who decides the control flow? Left: the developer wrote it. Right: the model chooses at runtime. Further right = more autonomy = more governance you owe.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it live if you can. Goal in; plan; act by calling a tool; observe the result; back to plan. It stops when the model decides the goal is met — or when YOU stop it with a cap on steps, cost or time. The cap is the part demos leave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Parts 1–3 get you a demo. 4–5 get you something that survives production. Every architecture review of an 'agent' should ask for all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fair: these are often the RIGHT answer — cheaper, predictable, testable. The point is naming. Don't let 'agent' into the architecture review when the model never chooses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series map. Every one of these is a loop over tools with an approval in the middle. We build them in this order: sales returns first (next episode), then MCP, then the platform concerns.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breakpoint. The agent posts a credit note to the ledger — as whom? Walk the three options. The enterprise answer is the third: its own identity, scoped per company, per user, per task, least-privilege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breakpoint: one ERP, many companies. Memory, tools and retrieval each have to be isolated per company — or you've shipped a data leak with a chat window. The company filter is a column on every table from day one, set by the deployment, never by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breakpoint. Who approved the credit note? How do you audit a decision the model made at step 7 of 12? Four things before an agent touches production — each one is an episode.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30 seconds, then the call to action: next episode we build the first agent live, inside the ERP.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903720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4" name="Shape 1"/>
          <p:cNvSpPr/>
          <p:nvPr/>
        </p:nvSpPr>
        <p:spPr>
          <a:xfrm>
            <a:off x="7242048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5" name="Shape 2"/>
          <p:cNvSpPr/>
          <p:nvPr/>
        </p:nvSpPr>
        <p:spPr>
          <a:xfrm>
            <a:off x="7580376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6" name="Shape 3"/>
          <p:cNvSpPr/>
          <p:nvPr/>
        </p:nvSpPr>
        <p:spPr>
          <a:xfrm>
            <a:off x="6903720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7" name="Shape 4"/>
          <p:cNvSpPr/>
          <p:nvPr/>
        </p:nvSpPr>
        <p:spPr>
          <a:xfrm>
            <a:off x="7242048" y="795528"/>
            <a:ext cx="274320" cy="27432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8" name="Shape 5"/>
          <p:cNvSpPr/>
          <p:nvPr/>
        </p:nvSpPr>
        <p:spPr>
          <a:xfrm>
            <a:off x="7580376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9" name="Shape 6"/>
          <p:cNvSpPr/>
          <p:nvPr/>
        </p:nvSpPr>
        <p:spPr>
          <a:xfrm>
            <a:off x="6903720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0" name="Shape 7"/>
          <p:cNvSpPr/>
          <p:nvPr/>
        </p:nvSpPr>
        <p:spPr>
          <a:xfrm>
            <a:off x="7242048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1" name="Shape 8"/>
          <p:cNvSpPr/>
          <p:nvPr/>
        </p:nvSpPr>
        <p:spPr>
          <a:xfrm>
            <a:off x="7580376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2" name="Shape 9"/>
          <p:cNvSpPr/>
          <p:nvPr/>
        </p:nvSpPr>
        <p:spPr>
          <a:xfrm>
            <a:off x="548640" y="649224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3232" y="548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EPISODE 01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1143000"/>
            <a:ext cx="822960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2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4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18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205740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spc="-1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an AI agent actually is —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spc="-1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and isn't — in enterprise software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548640" y="3931920"/>
            <a:ext cx="8046720" cy="0"/>
          </a:xfrm>
          <a:prstGeom prst="line">
            <a:avLst/>
          </a:prstGeom>
          <a:noFill/>
          <a:ln w="9525">
            <a:solidFill>
              <a:srgbClr val="2A2A2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 Pasumarthi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Founder &amp; CEO, Arthashastra Intelligence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766560" y="4343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EPISODE 1 · WHAT YOU'LL GET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Most “agents” are a chatbot with a new logo.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2880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Tell an agent from a workflow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 10 seconds, in any vendor demo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46120" y="182880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Name the 5 parts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47472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real agent is built from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035040" y="182880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26364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Spot the 3 breakpoints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26364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when an agent goes inside enterprise software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794760"/>
            <a:ext cx="8229600" cy="68580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3794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SERIES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We build an open-source agentic ERP in public — inventory, sales, finance, procurement, HR — one module at a time. Today is the vocabulary.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ONE-LINE DEFINITION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0058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agent is an LLM that </a:t>
            </a:r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decides</a:t>
            </a:r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what to do next — in a </a:t>
            </a:r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loop</a:t>
            </a:r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— using </a:t>
            </a:r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tools</a:t>
            </a:r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, until a goal is met.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57200" y="2926080"/>
            <a:ext cx="2606040" cy="118872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3063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DECIDES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383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model picks the next action — not the developer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246120" y="2926080"/>
            <a:ext cx="2606040" cy="118872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74720" y="3063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LOOP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3383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plan → act → observe → repeat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35040" y="2926080"/>
            <a:ext cx="2606040" cy="118872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63640" y="3063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TOOLS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263640" y="3383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can touch systems: APIs, databases, other agents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Remove any one of the three and it isn't an agent.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AUTONOMY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It's a spectrum, not a switch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74520"/>
            <a:ext cx="1463040" cy="8686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1874520"/>
            <a:ext cx="14630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Chatbot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947672" y="2304288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148840" y="1874520"/>
            <a:ext cx="1463040" cy="8686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48840" y="1874520"/>
            <a:ext cx="14630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Prompt chain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639312" y="2304288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840480" y="1874520"/>
            <a:ext cx="1463040" cy="8686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40480" y="1874520"/>
            <a:ext cx="14630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Workflow with LLM steps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330952" y="2304288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5532120" y="1874520"/>
            <a:ext cx="146304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FF570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532120" y="1874520"/>
            <a:ext cx="14630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Agent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022592" y="2304288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223760" y="1874520"/>
            <a:ext cx="146304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FF570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23760" y="1874520"/>
            <a:ext cx="14630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Multi-agent system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3063240"/>
            <a:ext cx="822960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7200" y="3154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DEVELOPER DECIDES THE FLOW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5029200" y="3154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MODEL DECIDES THE FLOW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57200" y="3657600"/>
            <a:ext cx="8229600" cy="77724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36576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RULE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further right you go, the more autonomy you get — and the more governance you owe. Most enterprise problems are solved well in the middle.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MECHANICS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agent loop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691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the user wants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2011680"/>
            <a:ext cx="14630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01168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Goal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1947672" y="2377440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2148840" y="1691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model picks next step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2148840" y="2011680"/>
            <a:ext cx="14630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57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148840" y="201168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Plan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639312" y="2377440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3840480" y="1691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call a tool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840480" y="2011680"/>
            <a:ext cx="14630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570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40480" y="201168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Act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330952" y="2377440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5532120" y="1691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read the result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532120" y="2011680"/>
            <a:ext cx="14630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570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532120" y="201168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Observe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022592" y="2377440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7223760" y="1691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or a limit is hit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7223760" y="2011680"/>
            <a:ext cx="14630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223760" y="201168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Done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572000" y="2743200"/>
            <a:ext cx="0" cy="365760"/>
          </a:xfrm>
          <a:prstGeom prst="line">
            <a:avLst/>
          </a:prstGeom>
          <a:noFill/>
          <a:ln w="15875">
            <a:solidFill>
              <a:srgbClr val="FF570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880360" y="3108960"/>
            <a:ext cx="1691640" cy="0"/>
          </a:xfrm>
          <a:prstGeom prst="line">
            <a:avLst/>
          </a:prstGeom>
          <a:noFill/>
          <a:ln w="15875">
            <a:solidFill>
              <a:srgbClr val="FF570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2880360" y="2743200"/>
            <a:ext cx="0" cy="365760"/>
          </a:xfrm>
          <a:prstGeom prst="line">
            <a:avLst/>
          </a:prstGeom>
          <a:noFill/>
          <a:ln w="15875">
            <a:solidFill>
              <a:srgbClr val="FF5700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2743200" y="3154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repeat until the goal is met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3657600"/>
            <a:ext cx="8229600" cy="77724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85800" y="36576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STOP CONDITIONS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are not optional. An agent without a cap on steps, cost and time isn't a product — it's a bill. Set all three before the first demo.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ANATOMY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5 parts of every agent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56232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7200" y="1856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17830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Model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34640" y="181051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reasoning engine — picks actions, reads results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386584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2386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3134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Instructions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834640" y="234086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system prompt, policies, what it may and may not do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284378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Tools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834640" y="287121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APIs, databases, MCP servers, other agents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3447288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57200" y="3447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60120" y="337413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Memory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834640" y="34015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short-term context + long-term store, per user and per company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977640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7200" y="3977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60120" y="39044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Loop + limits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834640" y="3931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orchestration, stop conditions, step / cost / time caps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675120" y="1783080"/>
            <a:ext cx="2011680" cy="260604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0" y="1920240"/>
            <a:ext cx="1645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1–3
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get you a demo
</a:t>
            </a:r>
            <a:pPr indent="0" marL="0">
              <a:buNone/>
            </a:pPr>
            <a:r>
              <a:rPr lang="en-US" sz="26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4–5
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get you something that survives production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VOCABULARY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is NOT an agent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2880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solidFill>
            <a:srgbClr val="D1434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✕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Chatbot with retrieval (RAG)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017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Answers questions. Never acts. No tools beyond search.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46120" y="182880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solidFill>
            <a:srgbClr val="D1434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✕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Pipeline with one LLM step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474720" y="3017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developer decided the flow. The model fills in a blank.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035040" y="182880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solidFill>
            <a:srgbClr val="D1434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✕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26364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Rules engine + LLM classifier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263640" y="3017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loop. No tool choice. One call, one label.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794760"/>
            <a:ext cx="8229600" cy="68580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3794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SAY IT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These are often the right answer. Just don't call them agents in the architecture review.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SERIES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Where agents live in an ERP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2606040" cy="10972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Sales / CRM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194560" y="19385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2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286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quote-to-order · returns · lead triage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246120" y="1783080"/>
            <a:ext cx="26060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47472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Inventory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983480" y="19385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6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3474720" y="2286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reorder · stock exceptions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035040" y="1783080"/>
            <a:ext cx="26060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6364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Finance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19385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12, 26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6263640" y="2286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invoice matching · month-end reconciliation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" y="3017520"/>
            <a:ext cx="26060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154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Procurement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194560" y="317296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6–8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" y="35204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supplier search · PO approval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246120" y="3017520"/>
            <a:ext cx="26060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474720" y="3154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HR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983480" y="317296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later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3474720" y="35204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leave · expense approvals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035040" y="3017520"/>
            <a:ext cx="26060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63640" y="3154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Platform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317296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4, 9–11, 15, 25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6263640" y="35204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identity · tenancy · evals · tracing · guardrails · cost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one is a loop over tools with an approval in the middle.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BREAKS IN THE ENTERPRISE · 1 OF 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Identity: the agent posts to the ledger — as whom?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28800"/>
            <a:ext cx="26060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solidFill>
            <a:srgbClr val="D1434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✕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514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Service account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2880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Simple. Over-privileged. One prompt injection away from every company's books.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46120" y="1828800"/>
            <a:ext cx="26060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~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2514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user's token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474720" y="2880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Scoped right — but how do you delegate it safely to a process that runs for minutes?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035040" y="1828800"/>
            <a:ext cx="2606040" cy="210312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✓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263640" y="2514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Agent identity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263640" y="2880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Its own principal, scoped per company, per user, per task. Least-privilege tools. Auditable.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Episode 15 goes deep on delegated auth and least-privilege tools.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BREAKS IN THE ENTERPRISE · 2 OF 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Tenancy: one ERP, many companies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2423160"/>
            <a:ext cx="1828800" cy="11887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570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2423160"/>
            <a:ext cx="18288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Agent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(model + loop)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377440" y="2286000"/>
            <a:ext cx="45720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926080" y="1965960"/>
            <a:ext cx="265176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108960" y="20391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Memory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108960" y="2331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per-company store, never shared context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07568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852160" y="207568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ACME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812280" y="207568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12280" y="207568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NORTH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772400" y="207568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0" y="207568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C3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2377440" y="3108960"/>
            <a:ext cx="45720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2926080" y="2788920"/>
            <a:ext cx="265176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8960" y="2862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Tools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108960" y="3154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company_id injected server-side on every call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852160" y="289864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852160" y="289864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ACME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812280" y="289864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12280" y="289864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NORTH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772400" y="289864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0" y="289864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C3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2377440" y="3931920"/>
            <a:ext cx="45720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2926080" y="3611880"/>
            <a:ext cx="265176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108960" y="36850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Retrieval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3108960" y="39776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index partitioned, filtered before ranking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852160" y="372160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52160" y="372160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ACME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6812280" y="372160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812280" y="372160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NORTH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7772400" y="372160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0" y="372160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C3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5852160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E7C7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COMPANIES — ISOLATED AT EVERY LAYER</a:t>
            </a:r>
            <a:endParaRPr lang="en-US" sz="8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Get one lane wrong and you've built a data leak with a chat window.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BREAKS IN THE ENTERPRISE · 3 OF 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Accountability: who answers for step 7 of 12?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40233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1984248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1984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19476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Trace every step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23134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model call, tool call and result, tied to a user and a company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663440" y="1783080"/>
            <a:ext cx="40233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92040" y="1984248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92040" y="1984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49240" y="19476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Human-in-the-loop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349240" y="23134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irreversible or high-value actions pause for a person — by design, not by prompt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57200" y="3017520"/>
            <a:ext cx="40233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5800" y="3218688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5800" y="3218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143000" y="31821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Caps on steps, cost, time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143000" y="35478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runaway loop is a budget incident; the cap is the circuit breaker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4663440" y="3017520"/>
            <a:ext cx="40233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892040" y="3218688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892040" y="3218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349240" y="31821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Evals before release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349240" y="35478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test set of real tasks, scored, run on every change — like any other software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Episodes 9, 10, 18 and 25 cover each of these in depth.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82296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-2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8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8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6903720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5" name="Shape 2"/>
          <p:cNvSpPr/>
          <p:nvPr/>
        </p:nvSpPr>
        <p:spPr>
          <a:xfrm>
            <a:off x="7242048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6" name="Shape 3"/>
          <p:cNvSpPr/>
          <p:nvPr/>
        </p:nvSpPr>
        <p:spPr>
          <a:xfrm>
            <a:off x="7580376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7" name="Shape 4"/>
          <p:cNvSpPr/>
          <p:nvPr/>
        </p:nvSpPr>
        <p:spPr>
          <a:xfrm>
            <a:off x="6903720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8" name="Shape 5"/>
          <p:cNvSpPr/>
          <p:nvPr/>
        </p:nvSpPr>
        <p:spPr>
          <a:xfrm>
            <a:off x="7242048" y="795528"/>
            <a:ext cx="274320" cy="27432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9" name="Shape 6"/>
          <p:cNvSpPr/>
          <p:nvPr/>
        </p:nvSpPr>
        <p:spPr>
          <a:xfrm>
            <a:off x="7580376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0" name="Shape 7"/>
          <p:cNvSpPr/>
          <p:nvPr/>
        </p:nvSpPr>
        <p:spPr>
          <a:xfrm>
            <a:off x="6903720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1" name="Shape 8"/>
          <p:cNvSpPr/>
          <p:nvPr/>
        </p:nvSpPr>
        <p:spPr>
          <a:xfrm>
            <a:off x="7242048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2" name="Shape 9"/>
          <p:cNvSpPr/>
          <p:nvPr/>
        </p:nvSpPr>
        <p:spPr>
          <a:xfrm>
            <a:off x="7580376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Recap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1783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AGENT =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560320" y="17830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decides + loop + tools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331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 PARTS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560320" y="23317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model · instructions · tools · memory · loop + limits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2880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BREAKPOINTS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2560320" y="28803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identity · tenancy · accountability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3931920"/>
            <a:ext cx="8046720" cy="0"/>
          </a:xfrm>
          <a:prstGeom prst="line">
            <a:avLst/>
          </a:prstGeom>
          <a:noFill/>
          <a:ln w="9525">
            <a:solidFill>
              <a:srgbClr val="2A2A2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400507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NEXT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Episode 2 — Build your first AI agent: a sales-returns agent for the ERP, live, in one Python file.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github.com/harsha47ai/agentic-ai  ·  one episode a week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 1 — What an AI agent actually is — and isn't — in enterprise software</dc:title>
  <dc:subject>PptxGenJS Presentation</dc:subject>
  <dc:creator>PptxGenJS</dc:creator>
  <cp:lastModifiedBy>PptxGenJS</cp:lastModifiedBy>
  <cp:revision>1</cp:revision>
  <dcterms:created xsi:type="dcterms:W3CDTF">2026-10-12T04:16:32Z</dcterms:created>
  <dcterms:modified xsi:type="dcterms:W3CDTF">2026-10-12T04:16:32Z</dcterms:modified>
</cp:coreProperties>
</file>