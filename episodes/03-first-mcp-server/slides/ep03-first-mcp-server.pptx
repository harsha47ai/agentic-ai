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episode the tools were Python functions in the same process. Today they move behind an MCP server — and any MCP client (Claude Desktop, Cursor, our own agent) can use them with zero glue code. Promise the build: three tools over Inventory, Sales and Finance, tested in the Inspector, plugged in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outcomes, then the problem MCP solves.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agent needs every module. Before: N × M custom integrations. After: one protocol, one server per module, any client. The USB-C line lands with every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 and server, JSON-RPC between them. A server exposes three kinds of things. Today: tools over stdio. Streamable HTTP is the remote transport — a later episode, with auth.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people assume MCP gives them. It doesn't. The third one bites in the enterprise: OAuth is in the spec for HTTP, but WHAT a caller may do is still your code and your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ERP database: Postgres, seeded, two companies. Walk the path: agent → client → server → database. The three tools each read one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screen. server_starter.py has the helpers. Type the import, the FastMCP instance, the run call. That's a server. No tools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decorator per tool. The signature becomes the input schema; the DOCSTRING becomes the description the model reads. Then search_sales_orders and get_invoice the same way. Point at MAX_ROWS and at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it like an API before any agent touches it. The Inspector launches the server, lists tools, calls them with arguments and shows the raw JSON-RPC. Call all three on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zero-glue moment. One JSON entry in Claude Desktop's config, restart, ask in plain English. Three tool calls, three modules. You wrote no client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Episode 2's loop. Two lines change: tools from list_tools(), execution through call_tool(). The loop is untouched. The agent doesn't care where tools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rules before this server goes anywhere near production. Each is a later episode. Say the tenant one twice: never trust the model to add the WHERE clause.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then next episode: the architecture question — where agents sit in a multi-tenant ERP. Ask them to star the repo and open an issue with the module they want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903720" y="457200"/>
            <a:ext cx="274320" cy="274320"/>
          </a:xfrm>
          <a:prstGeom prst="rect">
            <a:avLst/>
          </a:prstGeom>
          <a:solidFill>
            <a:srgbClr val="222222"/>
          </a:solidFill>
          <a:ln/>
        </p:spPr>
      </p:sp>
      <p:sp>
        <p:nvSpPr>
          <p:cNvPr id="4" name="Shape 1"/>
          <p:cNvSpPr/>
          <p:nvPr/>
        </p:nvSpPr>
        <p:spPr>
          <a:xfrm>
            <a:off x="7242048" y="457200"/>
            <a:ext cx="274320" cy="274320"/>
          </a:xfrm>
          <a:prstGeom prst="rect">
            <a:avLst/>
          </a:prstGeom>
          <a:solidFill>
            <a:srgbClr val="222222"/>
          </a:solidFill>
          <a:ln/>
        </p:spPr>
      </p:sp>
      <p:sp>
        <p:nvSpPr>
          <p:cNvPr id="5" name="Shape 2"/>
          <p:cNvSpPr/>
          <p:nvPr/>
        </p:nvSpPr>
        <p:spPr>
          <a:xfrm>
            <a:off x="7580376" y="457200"/>
            <a:ext cx="274320" cy="274320"/>
          </a:xfrm>
          <a:prstGeom prst="rect">
            <a:avLst/>
          </a:prstGeom>
          <a:solidFill>
            <a:srgbClr val="222222"/>
          </a:solidFill>
          <a:ln/>
        </p:spPr>
      </p:sp>
      <p:sp>
        <p:nvSpPr>
          <p:cNvPr id="6" name="Shape 3"/>
          <p:cNvSpPr/>
          <p:nvPr/>
        </p:nvSpPr>
        <p:spPr>
          <a:xfrm>
            <a:off x="6903720" y="795528"/>
            <a:ext cx="274320" cy="274320"/>
          </a:xfrm>
          <a:prstGeom prst="rect">
            <a:avLst/>
          </a:prstGeom>
          <a:solidFill>
            <a:srgbClr val="222222"/>
          </a:solidFill>
          <a:ln/>
        </p:spPr>
      </p:sp>
      <p:sp>
        <p:nvSpPr>
          <p:cNvPr id="7" name="Shape 4"/>
          <p:cNvSpPr/>
          <p:nvPr/>
        </p:nvSpPr>
        <p:spPr>
          <a:xfrm>
            <a:off x="7242048" y="795528"/>
            <a:ext cx="274320" cy="274320"/>
          </a:xfrm>
          <a:prstGeom prst="rect">
            <a:avLst/>
          </a:prstGeom>
          <a:solidFill>
            <a:srgbClr val="FF5700"/>
          </a:solidFill>
          <a:ln/>
        </p:spPr>
      </p:sp>
      <p:sp>
        <p:nvSpPr>
          <p:cNvPr id="8" name="Shape 5"/>
          <p:cNvSpPr/>
          <p:nvPr/>
        </p:nvSpPr>
        <p:spPr>
          <a:xfrm>
            <a:off x="7580376" y="795528"/>
            <a:ext cx="274320" cy="274320"/>
          </a:xfrm>
          <a:prstGeom prst="rect">
            <a:avLst/>
          </a:prstGeom>
          <a:solidFill>
            <a:srgbClr val="222222"/>
          </a:solidFill>
          <a:ln/>
        </p:spPr>
      </p:sp>
      <p:sp>
        <p:nvSpPr>
          <p:cNvPr id="9" name="Shape 6"/>
          <p:cNvSpPr/>
          <p:nvPr/>
        </p:nvSpPr>
        <p:spPr>
          <a:xfrm>
            <a:off x="6903720" y="1133856"/>
            <a:ext cx="274320" cy="274320"/>
          </a:xfrm>
          <a:prstGeom prst="rect">
            <a:avLst/>
          </a:prstGeom>
          <a:solidFill>
            <a:srgbClr val="222222"/>
          </a:solidFill>
          <a:ln/>
        </p:spPr>
      </p:sp>
      <p:sp>
        <p:nvSpPr>
          <p:cNvPr id="10" name="Shape 7"/>
          <p:cNvSpPr/>
          <p:nvPr/>
        </p:nvSpPr>
        <p:spPr>
          <a:xfrm>
            <a:off x="7242048" y="1133856"/>
            <a:ext cx="274320" cy="274320"/>
          </a:xfrm>
          <a:prstGeom prst="rect">
            <a:avLst/>
          </a:prstGeom>
          <a:solidFill>
            <a:srgbClr val="222222"/>
          </a:solidFill>
          <a:ln/>
        </p:spPr>
      </p:sp>
      <p:sp>
        <p:nvSpPr>
          <p:cNvPr id="11" name="Shape 8"/>
          <p:cNvSpPr/>
          <p:nvPr/>
        </p:nvSpPr>
        <p:spPr>
          <a:xfrm>
            <a:off x="7580376" y="1133856"/>
            <a:ext cx="274320" cy="274320"/>
          </a:xfrm>
          <a:prstGeom prst="rect">
            <a:avLst/>
          </a:prstGeom>
          <a:solidFill>
            <a:srgbClr val="222222"/>
          </a:solidFill>
          <a:ln/>
        </p:spPr>
      </p:sp>
      <p:sp>
        <p:nvSpPr>
          <p:cNvPr id="12" name="Shape 9"/>
          <p:cNvSpPr/>
          <p:nvPr/>
        </p:nvSpPr>
        <p:spPr>
          <a:xfrm>
            <a:off x="548640" y="649224"/>
            <a:ext cx="91440" cy="91440"/>
          </a:xfrm>
          <a:prstGeom prst="rect">
            <a:avLst/>
          </a:prstGeom>
          <a:solidFill>
            <a:srgbClr val="FF5700"/>
          </a:solidFill>
          <a:ln/>
        </p:spPr>
      </p:sp>
      <p:sp>
        <p:nvSpPr>
          <p:cNvPr id="13" name="Text 10"/>
          <p:cNvSpPr txBox="1"/>
          <p:nvPr/>
        </p:nvSpPr>
        <p:spPr>
          <a:xfrm>
            <a:off x="713232" y="548640"/>
            <a:ext cx="6400800" cy="292608"/>
          </a:xfrm>
          <a:prstGeom prst="rect">
            <a:avLst/>
          </a:prstGeom>
          <a:noFill/>
          <a:ln/>
        </p:spPr>
        <p:txBody>
          <a:bodyPr wrap="square" lIns="0" tIns="0" rIns="0" bIns="0" rtlCol="0" anchor="ctr"/>
          <a:lstStyle/>
          <a:p>
            <a:pPr indent="0" marL="0">
              <a:buNone/>
            </a:pPr>
            <a:r>
              <a:rPr lang="en-US" sz="1000" spc="400" kern="0" dirty="0">
                <a:solidFill>
                  <a:srgbClr val="FF7A33"/>
                </a:solidFill>
                <a:latin typeface="IBM Plex Mono" pitchFamily="34" charset="0"/>
                <a:ea typeface="IBM Plex Mono" pitchFamily="34" charset="-122"/>
                <a:cs typeface="IBM Plex Mono" pitchFamily="34" charset="-120"/>
              </a:rPr>
              <a:t>EPISODE 03</a:t>
            </a:r>
            <a:endParaRPr lang="en-US" sz="1000" dirty="0"/>
          </a:p>
        </p:txBody>
      </p:sp>
      <p:sp>
        <p:nvSpPr>
          <p:cNvPr id="14" name="Text 11"/>
          <p:cNvSpPr txBox="1"/>
          <p:nvPr/>
        </p:nvSpPr>
        <p:spPr>
          <a:xfrm>
            <a:off x="548640" y="1143000"/>
            <a:ext cx="8229600" cy="726440"/>
          </a:xfrm>
          <a:prstGeom prst="rect">
            <a:avLst/>
          </a:prstGeom>
          <a:noFill/>
          <a:ln/>
        </p:spPr>
        <p:txBody>
          <a:bodyPr wrap="square" lIns="0" tIns="0" rIns="0" bIns="0" rtlCol="0" anchor="ctr"/>
          <a:lstStyle/>
          <a:p>
            <a:pPr indent="0" marL="0">
              <a:buNone/>
            </a:pPr>
            <a:r>
              <a:rPr lang="en-US" sz="4400" b="1" spc="-200" kern="0" dirty="0">
                <a:solidFill>
                  <a:srgbClr val="FFFFFF"/>
                </a:solidFill>
                <a:latin typeface="Geist" pitchFamily="34" charset="0"/>
                <a:ea typeface="Geist" pitchFamily="34" charset="-122"/>
                <a:cs typeface="Geist" pitchFamily="34" charset="-120"/>
              </a:rPr>
              <a:t>learn with </a:t>
            </a:r>
            <a:pPr indent="0" marL="0">
              <a:buNone/>
            </a:pPr>
            <a:r>
              <a:rPr lang="en-US" sz="4400" b="1" spc="-200" kern="0" dirty="0">
                <a:solidFill>
                  <a:srgbClr val="FF5700"/>
                </a:solidFill>
                <a:latin typeface="Geist" pitchFamily="34" charset="0"/>
                <a:ea typeface="Geist" pitchFamily="34" charset="-122"/>
                <a:cs typeface="Geist" pitchFamily="34" charset="-120"/>
              </a:rPr>
              <a:t>harsha</a:t>
            </a:r>
            <a:pPr indent="0" marL="0">
              <a:buNone/>
            </a:pPr>
            <a:r>
              <a:rPr lang="en-US" sz="1800" b="1" spc="-200" kern="0" dirty="0">
                <a:solidFill>
                  <a:srgbClr val="FF5700"/>
                </a:solidFill>
                <a:latin typeface="Geist" pitchFamily="34" charset="0"/>
                <a:ea typeface="Geist" pitchFamily="34" charset="-122"/>
                <a:cs typeface="Geist" pitchFamily="34" charset="-120"/>
              </a:rPr>
              <a:t>■</a:t>
            </a:r>
            <a:endParaRPr lang="en-US" sz="4400" dirty="0"/>
          </a:p>
        </p:txBody>
      </p:sp>
      <p:sp>
        <p:nvSpPr>
          <p:cNvPr id="15" name="Text 12"/>
          <p:cNvSpPr txBox="1"/>
          <p:nvPr/>
        </p:nvSpPr>
        <p:spPr>
          <a:xfrm>
            <a:off x="548640" y="2057400"/>
            <a:ext cx="7680960" cy="1371600"/>
          </a:xfrm>
          <a:prstGeom prst="rect">
            <a:avLst/>
          </a:prstGeom>
          <a:noFill/>
          <a:ln/>
        </p:spPr>
        <p:txBody>
          <a:bodyPr wrap="square" lIns="0" tIns="0" rIns="0" bIns="0" rtlCol="0" anchor="t"/>
          <a:lstStyle/>
          <a:p>
            <a:pPr indent="0" marL="0">
              <a:lnSpc>
                <a:spcPct val="105000"/>
              </a:lnSpc>
              <a:buNone/>
            </a:pPr>
            <a:r>
              <a:rPr lang="en-US" sz="3000" b="1" spc="-100" kern="0" dirty="0">
                <a:solidFill>
                  <a:srgbClr val="FFFFFF"/>
                </a:solidFill>
                <a:latin typeface="Geist" pitchFamily="34" charset="0"/>
                <a:ea typeface="Geist" pitchFamily="34" charset="-122"/>
                <a:cs typeface="Geist" pitchFamily="34" charset="-120"/>
              </a:rPr>
              <a:t>Build your first MCP server</a:t>
            </a:r>
            <a:endParaRPr lang="en-US" sz="3000" dirty="0"/>
          </a:p>
          <a:p>
            <a:pPr indent="0" marL="0">
              <a:lnSpc>
                <a:spcPct val="105000"/>
              </a:lnSpc>
              <a:buNone/>
            </a:pPr>
            <a:r>
              <a:rPr lang="en-US" sz="3000" b="1" spc="-100" kern="0" dirty="0">
                <a:solidFill>
                  <a:srgbClr val="FFFFFF"/>
                </a:solidFill>
                <a:latin typeface="Geist" pitchFamily="34" charset="0"/>
                <a:ea typeface="Geist" pitchFamily="34" charset="-122"/>
                <a:cs typeface="Geist" pitchFamily="34" charset="-120"/>
              </a:rPr>
              <a:t>for the ERP</a:t>
            </a:r>
            <a:endParaRPr lang="en-US" sz="3000" dirty="0"/>
          </a:p>
        </p:txBody>
      </p:sp>
      <p:sp>
        <p:nvSpPr>
          <p:cNvPr id="16" name="Shape 13"/>
          <p:cNvSpPr/>
          <p:nvPr/>
        </p:nvSpPr>
        <p:spPr>
          <a:xfrm>
            <a:off x="548640" y="3931920"/>
            <a:ext cx="8046720" cy="0"/>
          </a:xfrm>
          <a:prstGeom prst="line">
            <a:avLst/>
          </a:prstGeom>
          <a:noFill/>
          <a:ln w="9525">
            <a:solidFill>
              <a:srgbClr val="2A2A2A"/>
            </a:solidFill>
            <a:prstDash val="solid"/>
          </a:ln>
        </p:spPr>
      </p:sp>
      <p:sp>
        <p:nvSpPr>
          <p:cNvPr id="17" name="Text 14"/>
          <p:cNvSpPr txBox="1"/>
          <p:nvPr/>
        </p:nvSpPr>
        <p:spPr>
          <a:xfrm>
            <a:off x="548640" y="4069080"/>
            <a:ext cx="4572000" cy="274320"/>
          </a:xfrm>
          <a:prstGeom prst="rect">
            <a:avLst/>
          </a:prstGeom>
          <a:noFill/>
          <a:ln/>
        </p:spPr>
        <p:txBody>
          <a:bodyPr wrap="square" lIns="0" tIns="0" rIns="0" bIns="0" rtlCol="0" anchor="ctr"/>
          <a:lstStyle/>
          <a:p>
            <a:pPr indent="0" marL="0">
              <a:buNone/>
            </a:pPr>
            <a:r>
              <a:rPr lang="en-US" sz="1400" b="1" dirty="0">
                <a:solidFill>
                  <a:srgbClr val="FFFFFF"/>
                </a:solidFill>
                <a:latin typeface="Geist" pitchFamily="34" charset="0"/>
                <a:ea typeface="Geist" pitchFamily="34" charset="-122"/>
                <a:cs typeface="Geist" pitchFamily="34" charset="-120"/>
              </a:rPr>
              <a:t>Harsha Pasumarthi</a:t>
            </a:r>
            <a:endParaRPr lang="en-US" sz="1400" dirty="0"/>
          </a:p>
        </p:txBody>
      </p:sp>
      <p:sp>
        <p:nvSpPr>
          <p:cNvPr id="18" name="Text 15"/>
          <p:cNvSpPr txBox="1"/>
          <p:nvPr/>
        </p:nvSpPr>
        <p:spPr>
          <a:xfrm>
            <a:off x="548640" y="4343400"/>
            <a:ext cx="5486400" cy="274320"/>
          </a:xfrm>
          <a:prstGeom prst="rect">
            <a:avLst/>
          </a:prstGeom>
          <a:noFill/>
          <a:ln/>
        </p:spPr>
        <p:txBody>
          <a:bodyPr wrap="square" lIns="0" tIns="0" rIns="0" bIns="0" rtlCol="0" anchor="ctr"/>
          <a:lstStyle/>
          <a:p>
            <a:pPr indent="0" marL="0">
              <a:buNone/>
            </a:pPr>
            <a:r>
              <a:rPr lang="en-US" sz="1100" dirty="0">
                <a:solidFill>
                  <a:srgbClr val="A3A3A3"/>
                </a:solidFill>
                <a:latin typeface="Geist" pitchFamily="34" charset="0"/>
                <a:ea typeface="Geist" pitchFamily="34" charset="-122"/>
                <a:cs typeface="Geist" pitchFamily="34" charset="-120"/>
              </a:rPr>
              <a:t>Founder &amp; CEO, Arthashastra Intelligence</a:t>
            </a:r>
            <a:endParaRPr lang="en-US" sz="1100" dirty="0"/>
          </a:p>
        </p:txBody>
      </p:sp>
      <p:sp>
        <p:nvSpPr>
          <p:cNvPr id="19" name="Text 16"/>
          <p:cNvSpPr txBox="1"/>
          <p:nvPr/>
        </p:nvSpPr>
        <p:spPr>
          <a:xfrm>
            <a:off x="6766560" y="4343400"/>
            <a:ext cx="1828800" cy="274320"/>
          </a:xfrm>
          <a:prstGeom prst="rect">
            <a:avLst/>
          </a:prstGeom>
          <a:noFill/>
          <a:ln/>
        </p:spPr>
        <p:txBody>
          <a:bodyPr wrap="square" lIns="0" tIns="0" rIns="0" bIns="0" rtlCol="0" anchor="ctr"/>
          <a:lstStyle/>
          <a:p>
            <a:pPr algn="r" indent="0" marL="0">
              <a:buNone/>
            </a:pPr>
            <a:r>
              <a:rPr lang="en-US" sz="900" spc="100" kern="0" dirty="0">
                <a:solidFill>
                  <a:srgbClr val="8A8A8A"/>
                </a:solidFill>
                <a:latin typeface="IBM Plex Mono" pitchFamily="34" charset="0"/>
                <a:ea typeface="IBM Plex Mono" pitchFamily="34" charset="-122"/>
                <a:cs typeface="IBM Plex Mono" pitchFamily="34" charset="-120"/>
              </a:rPr>
              <a:t>arthashastra.ai</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457200" y="292608"/>
            <a:ext cx="8229600" cy="231140"/>
          </a:xfrm>
          <a:prstGeom prst="rect">
            <a:avLst/>
          </a:prstGeom>
          <a:noFill/>
          <a:ln/>
        </p:spPr>
        <p:txBody>
          <a:bodyPr wrap="square" lIns="0" tIns="0" rIns="0" bIns="0" rtlCol="0" anchor="ctr"/>
          <a:lstStyle/>
          <a:p>
            <a:pPr indent="0" marL="0">
              <a:buNone/>
            </a:pPr>
            <a:r>
              <a:rPr lang="en-US" sz="1400" b="1" spc="-200" kern="0" dirty="0">
                <a:solidFill>
                  <a:srgbClr val="1C1C1C"/>
                </a:solidFill>
                <a:latin typeface="Geist" pitchFamily="34" charset="0"/>
                <a:ea typeface="Geist" pitchFamily="34" charset="-122"/>
                <a:cs typeface="Geist" pitchFamily="34" charset="-120"/>
              </a:rPr>
              <a:t>learn with </a:t>
            </a:r>
            <a:pPr indent="0" marL="0">
              <a:buNone/>
            </a:pPr>
            <a:r>
              <a:rPr lang="en-US" sz="1400" b="1" spc="-200" kern="0" dirty="0">
                <a:solidFill>
                  <a:srgbClr val="FF5700"/>
                </a:solidFill>
                <a:latin typeface="Geist" pitchFamily="34" charset="0"/>
                <a:ea typeface="Geist" pitchFamily="34" charset="-122"/>
                <a:cs typeface="Geist" pitchFamily="34" charset="-120"/>
              </a:rPr>
              <a:t>harsha</a:t>
            </a:r>
            <a:pPr indent="0" marL="0">
              <a:buNone/>
            </a:pPr>
            <a:r>
              <a:rPr lang="en-US" sz="600" b="1" spc="-200" kern="0" dirty="0">
                <a:solidFill>
                  <a:srgbClr val="FF5700"/>
                </a:solidFill>
                <a:latin typeface="Geist" pitchFamily="34" charset="0"/>
                <a:ea typeface="Geist" pitchFamily="34" charset="-122"/>
                <a:cs typeface="Geist" pitchFamily="34" charset="-120"/>
              </a:rPr>
              <a:t>■</a:t>
            </a:r>
            <a:endParaRPr lang="en-US" sz="1400" dirty="0"/>
          </a:p>
        </p:txBody>
      </p:sp>
      <p:sp>
        <p:nvSpPr>
          <p:cNvPr id="4" name="Shape 1"/>
          <p:cNvSpPr/>
          <p:nvPr/>
        </p:nvSpPr>
        <p:spPr>
          <a:xfrm>
            <a:off x="457200" y="813816"/>
            <a:ext cx="91440" cy="91440"/>
          </a:xfrm>
          <a:prstGeom prst="rect">
            <a:avLst/>
          </a:prstGeom>
          <a:solidFill>
            <a:srgbClr val="FF5700"/>
          </a:solidFill>
          <a:ln/>
        </p:spPr>
      </p:sp>
      <p:sp>
        <p:nvSpPr>
          <p:cNvPr id="5" name="Text 2"/>
          <p:cNvSpPr txBox="1"/>
          <p:nvPr/>
        </p:nvSpPr>
        <p:spPr>
          <a:xfrm>
            <a:off x="621792" y="713232"/>
            <a:ext cx="6400800" cy="292608"/>
          </a:xfrm>
          <a:prstGeom prst="rect">
            <a:avLst/>
          </a:prstGeom>
          <a:noFill/>
          <a:ln/>
        </p:spPr>
        <p:txBody>
          <a:bodyPr wrap="square" lIns="0" tIns="0" rIns="0" bIns="0" rtlCol="0" anchor="ctr"/>
          <a:lstStyle/>
          <a:p>
            <a:pPr indent="0" marL="0">
              <a:buNone/>
            </a:pPr>
            <a:r>
              <a:rPr lang="en-US" sz="1000" spc="400" kern="0" dirty="0">
                <a:solidFill>
                  <a:srgbClr val="FF5700"/>
                </a:solidFill>
                <a:latin typeface="IBM Plex Mono" pitchFamily="34" charset="0"/>
                <a:ea typeface="IBM Plex Mono" pitchFamily="34" charset="-122"/>
                <a:cs typeface="IBM Plex Mono" pitchFamily="34" charset="-120"/>
              </a:rPr>
              <a:t>EPISODE 3 · WHAT YOU'LL GET</a:t>
            </a:r>
            <a:endParaRPr lang="en-US" sz="1000" dirty="0"/>
          </a:p>
        </p:txBody>
      </p:sp>
      <p:sp>
        <p:nvSpPr>
          <p:cNvPr id="6" name="Text 3"/>
          <p:cNvSpPr txBox="1"/>
          <p:nvPr/>
        </p:nvSpPr>
        <p:spPr>
          <a:xfrm>
            <a:off x="457200" y="987552"/>
            <a:ext cx="8229600" cy="640080"/>
          </a:xfrm>
          <a:prstGeom prst="rect">
            <a:avLst/>
          </a:prstGeom>
          <a:noFill/>
          <a:ln/>
        </p:spPr>
        <p:txBody>
          <a:bodyPr wrap="square" lIns="0" tIns="0" rIns="0" bIns="0" rtlCol="0" anchor="ctr"/>
          <a:lstStyle/>
          <a:p>
            <a:pPr indent="0" marL="0">
              <a:buNone/>
            </a:pPr>
            <a:r>
              <a:rPr lang="en-US" sz="2300" b="1" spc="-100" kern="0" dirty="0">
                <a:solidFill>
                  <a:srgbClr val="1C1C1C"/>
                </a:solidFill>
                <a:latin typeface="Geist" pitchFamily="34" charset="0"/>
                <a:ea typeface="Geist" pitchFamily="34" charset="-122"/>
                <a:cs typeface="Geist" pitchFamily="34" charset="-120"/>
              </a:rPr>
              <a:t>Tools any agent can use — with zero glue code</a:t>
            </a:r>
            <a:endParaRPr lang="en-US" sz="2300" dirty="0"/>
          </a:p>
        </p:txBody>
      </p:sp>
      <p:sp>
        <p:nvSpPr>
          <p:cNvPr id="7" name="Text 4"/>
          <p:cNvSpPr txBox="1"/>
          <p:nvPr/>
        </p:nvSpPr>
        <p:spPr>
          <a:xfrm>
            <a:off x="457200" y="4754880"/>
            <a:ext cx="5943600" cy="228600"/>
          </a:xfrm>
          <a:prstGeom prst="rect">
            <a:avLst/>
          </a:prstGeom>
          <a:noFill/>
          <a:ln/>
        </p:spPr>
        <p:txBody>
          <a:bodyPr wrap="square" lIns="0" tIns="0" rIns="0" bIns="0" rtlCol="0" anchor="ctr"/>
          <a:lstStyle/>
          <a:p>
            <a:pP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 Learning · The Agentic Enterprise · Ep 3</a:t>
            </a:r>
            <a:endParaRPr lang="en-US" sz="800" dirty="0"/>
          </a:p>
        </p:txBody>
      </p:sp>
      <p:sp>
        <p:nvSpPr>
          <p:cNvPr id="8" name="Text 5"/>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arthashastra.ai</a:t>
            </a:r>
            <a:endParaRPr lang="en-US" sz="800" dirty="0"/>
          </a:p>
        </p:txBody>
      </p:sp>
      <p:sp>
        <p:nvSpPr>
          <p:cNvPr id="9" name="Shape 6"/>
          <p:cNvSpPr/>
          <p:nvPr/>
        </p:nvSpPr>
        <p:spPr>
          <a:xfrm>
            <a:off x="457200" y="1828800"/>
            <a:ext cx="2606040" cy="1737360"/>
          </a:xfrm>
          <a:prstGeom prst="rect">
            <a:avLst/>
          </a:prstGeom>
          <a:solidFill>
            <a:srgbClr val="FFFFFF"/>
          </a:solidFill>
          <a:ln w="9525">
            <a:solidFill>
              <a:srgbClr val="E5E5E5"/>
            </a:solidFill>
            <a:prstDash val="solid"/>
          </a:ln>
        </p:spPr>
      </p:sp>
      <p:sp>
        <p:nvSpPr>
          <p:cNvPr id="10" name="Shape 7"/>
          <p:cNvSpPr/>
          <p:nvPr/>
        </p:nvSpPr>
        <p:spPr>
          <a:xfrm>
            <a:off x="685800" y="2057400"/>
            <a:ext cx="329184" cy="329184"/>
          </a:xfrm>
          <a:prstGeom prst="rect">
            <a:avLst/>
          </a:prstGeom>
          <a:solidFill>
            <a:srgbClr val="FF5700"/>
          </a:solidFill>
          <a:ln/>
        </p:spPr>
      </p:sp>
      <p:sp>
        <p:nvSpPr>
          <p:cNvPr id="11" name="Text 8"/>
          <p:cNvSpPr txBox="1"/>
          <p:nvPr/>
        </p:nvSpPr>
        <p:spPr>
          <a:xfrm>
            <a:off x="685800" y="205740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BM Plex Mono" pitchFamily="34" charset="0"/>
                <a:ea typeface="IBM Plex Mono" pitchFamily="34" charset="-122"/>
                <a:cs typeface="IBM Plex Mono" pitchFamily="34" charset="-120"/>
              </a:rPr>
              <a:t>1</a:t>
            </a:r>
            <a:endParaRPr lang="en-US" sz="1100" dirty="0"/>
          </a:p>
        </p:txBody>
      </p:sp>
      <p:sp>
        <p:nvSpPr>
          <p:cNvPr id="12" name="Text 9"/>
          <p:cNvSpPr txBox="1"/>
          <p:nvPr/>
        </p:nvSpPr>
        <p:spPr>
          <a:xfrm>
            <a:off x="685800" y="2514600"/>
            <a:ext cx="2194560" cy="548640"/>
          </a:xfrm>
          <a:prstGeom prst="rect">
            <a:avLst/>
          </a:prstGeom>
          <a:noFill/>
          <a:ln/>
        </p:spPr>
        <p:txBody>
          <a:bodyPr wrap="square" lIns="0" tIns="0" rIns="0" bIns="0" rtlCol="0" anchor="t"/>
          <a:lstStyle/>
          <a:p>
            <a:pPr indent="0" marL="0">
              <a:buNone/>
            </a:pPr>
            <a:r>
              <a:rPr lang="en-US" sz="1500" b="1" spc="-50" kern="0" dirty="0">
                <a:solidFill>
                  <a:srgbClr val="1C1C1C"/>
                </a:solidFill>
                <a:latin typeface="Geist" pitchFamily="34" charset="0"/>
                <a:ea typeface="Geist" pitchFamily="34" charset="-122"/>
                <a:cs typeface="Geist" pitchFamily="34" charset="-120"/>
              </a:rPr>
              <a:t>Know what MCP is — and isn't</a:t>
            </a:r>
            <a:endParaRPr lang="en-US" sz="1500" dirty="0"/>
          </a:p>
        </p:txBody>
      </p:sp>
      <p:sp>
        <p:nvSpPr>
          <p:cNvPr id="13" name="Text 10"/>
          <p:cNvSpPr txBox="1"/>
          <p:nvPr/>
        </p:nvSpPr>
        <p:spPr>
          <a:xfrm>
            <a:off x="685800" y="3017520"/>
            <a:ext cx="2194560" cy="457200"/>
          </a:xfrm>
          <a:prstGeom prst="rect">
            <a:avLst/>
          </a:prstGeom>
          <a:noFill/>
          <a:ln/>
        </p:spPr>
        <p:txBody>
          <a:bodyPr wrap="square" lIns="0" tIns="0" rIns="0" bIns="0" rtlCol="0" anchor="t"/>
          <a:lstStyle/>
          <a:p>
            <a:pPr indent="0" marL="0">
              <a:buNone/>
            </a:pPr>
            <a:r>
              <a:rPr lang="en-US" sz="1100" dirty="0">
                <a:solidFill>
                  <a:srgbClr val="6B7280"/>
                </a:solidFill>
                <a:latin typeface="Geist" pitchFamily="34" charset="0"/>
                <a:ea typeface="Geist" pitchFamily="34" charset="-122"/>
                <a:cs typeface="Geist" pitchFamily="34" charset="-120"/>
              </a:rPr>
              <a:t>tools, resources, prompts; the plug, not the appliance</a:t>
            </a:r>
            <a:endParaRPr lang="en-US" sz="1100" dirty="0"/>
          </a:p>
        </p:txBody>
      </p:sp>
      <p:sp>
        <p:nvSpPr>
          <p:cNvPr id="14" name="Shape 11"/>
          <p:cNvSpPr/>
          <p:nvPr/>
        </p:nvSpPr>
        <p:spPr>
          <a:xfrm>
            <a:off x="3246120" y="1828800"/>
            <a:ext cx="2606040" cy="1737360"/>
          </a:xfrm>
          <a:prstGeom prst="rect">
            <a:avLst/>
          </a:prstGeom>
          <a:solidFill>
            <a:srgbClr val="FFFFFF"/>
          </a:solidFill>
          <a:ln w="9525">
            <a:solidFill>
              <a:srgbClr val="E5E5E5"/>
            </a:solidFill>
            <a:prstDash val="solid"/>
          </a:ln>
        </p:spPr>
      </p:sp>
      <p:sp>
        <p:nvSpPr>
          <p:cNvPr id="15" name="Shape 12"/>
          <p:cNvSpPr/>
          <p:nvPr/>
        </p:nvSpPr>
        <p:spPr>
          <a:xfrm>
            <a:off x="3474720" y="2057400"/>
            <a:ext cx="329184" cy="329184"/>
          </a:xfrm>
          <a:prstGeom prst="rect">
            <a:avLst/>
          </a:prstGeom>
          <a:solidFill>
            <a:srgbClr val="FF5700"/>
          </a:solidFill>
          <a:ln/>
        </p:spPr>
      </p:sp>
      <p:sp>
        <p:nvSpPr>
          <p:cNvPr id="16" name="Text 13"/>
          <p:cNvSpPr txBox="1"/>
          <p:nvPr/>
        </p:nvSpPr>
        <p:spPr>
          <a:xfrm>
            <a:off x="3474720" y="205740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BM Plex Mono" pitchFamily="34" charset="0"/>
                <a:ea typeface="IBM Plex Mono" pitchFamily="34" charset="-122"/>
                <a:cs typeface="IBM Plex Mono" pitchFamily="34" charset="-120"/>
              </a:rPr>
              <a:t>2</a:t>
            </a:r>
            <a:endParaRPr lang="en-US" sz="1100" dirty="0"/>
          </a:p>
        </p:txBody>
      </p:sp>
      <p:sp>
        <p:nvSpPr>
          <p:cNvPr id="17" name="Text 14"/>
          <p:cNvSpPr txBox="1"/>
          <p:nvPr/>
        </p:nvSpPr>
        <p:spPr>
          <a:xfrm>
            <a:off x="3474720" y="2514600"/>
            <a:ext cx="2194560" cy="548640"/>
          </a:xfrm>
          <a:prstGeom prst="rect">
            <a:avLst/>
          </a:prstGeom>
          <a:noFill/>
          <a:ln/>
        </p:spPr>
        <p:txBody>
          <a:bodyPr wrap="square" lIns="0" tIns="0" rIns="0" bIns="0" rtlCol="0" anchor="t"/>
          <a:lstStyle/>
          <a:p>
            <a:pPr indent="0" marL="0">
              <a:buNone/>
            </a:pPr>
            <a:r>
              <a:rPr lang="en-US" sz="1500" b="1" spc="-50" kern="0" dirty="0">
                <a:solidFill>
                  <a:srgbClr val="1C1C1C"/>
                </a:solidFill>
                <a:latin typeface="Geist" pitchFamily="34" charset="0"/>
                <a:ea typeface="Geist" pitchFamily="34" charset="-122"/>
                <a:cs typeface="Geist" pitchFamily="34" charset="-120"/>
              </a:rPr>
              <a:t>Ship a working MCP server</a:t>
            </a:r>
            <a:endParaRPr lang="en-US" sz="1500" dirty="0"/>
          </a:p>
        </p:txBody>
      </p:sp>
      <p:sp>
        <p:nvSpPr>
          <p:cNvPr id="18" name="Text 15"/>
          <p:cNvSpPr txBox="1"/>
          <p:nvPr/>
        </p:nvSpPr>
        <p:spPr>
          <a:xfrm>
            <a:off x="3474720" y="3017520"/>
            <a:ext cx="2194560" cy="457200"/>
          </a:xfrm>
          <a:prstGeom prst="rect">
            <a:avLst/>
          </a:prstGeom>
          <a:noFill/>
          <a:ln/>
        </p:spPr>
        <p:txBody>
          <a:bodyPr wrap="square" lIns="0" tIns="0" rIns="0" bIns="0" rtlCol="0" anchor="t"/>
          <a:lstStyle/>
          <a:p>
            <a:pPr indent="0" marL="0">
              <a:buNone/>
            </a:pPr>
            <a:r>
              <a:rPr lang="en-US" sz="1100" dirty="0">
                <a:solidFill>
                  <a:srgbClr val="6B7280"/>
                </a:solidFill>
                <a:latin typeface="Geist" pitchFamily="34" charset="0"/>
                <a:ea typeface="Geist" pitchFamily="34" charset="-122"/>
                <a:cs typeface="Geist" pitchFamily="34" charset="-120"/>
              </a:rPr>
              <a:t>3 read-only tools over Inventory, Sales, Finance — one file</a:t>
            </a:r>
            <a:endParaRPr lang="en-US" sz="1100" dirty="0"/>
          </a:p>
        </p:txBody>
      </p:sp>
      <p:sp>
        <p:nvSpPr>
          <p:cNvPr id="19" name="Shape 16"/>
          <p:cNvSpPr/>
          <p:nvPr/>
        </p:nvSpPr>
        <p:spPr>
          <a:xfrm>
            <a:off x="6035040" y="1828800"/>
            <a:ext cx="2606040" cy="1737360"/>
          </a:xfrm>
          <a:prstGeom prst="rect">
            <a:avLst/>
          </a:prstGeom>
          <a:solidFill>
            <a:srgbClr val="FFFFFF"/>
          </a:solidFill>
          <a:ln w="9525">
            <a:solidFill>
              <a:srgbClr val="E5E5E5"/>
            </a:solidFill>
            <a:prstDash val="solid"/>
          </a:ln>
        </p:spPr>
      </p:sp>
      <p:sp>
        <p:nvSpPr>
          <p:cNvPr id="20" name="Shape 17"/>
          <p:cNvSpPr/>
          <p:nvPr/>
        </p:nvSpPr>
        <p:spPr>
          <a:xfrm>
            <a:off x="6263640" y="2057400"/>
            <a:ext cx="329184" cy="329184"/>
          </a:xfrm>
          <a:prstGeom prst="rect">
            <a:avLst/>
          </a:prstGeom>
          <a:solidFill>
            <a:srgbClr val="FF5700"/>
          </a:solidFill>
          <a:ln/>
        </p:spPr>
      </p:sp>
      <p:sp>
        <p:nvSpPr>
          <p:cNvPr id="21" name="Text 18"/>
          <p:cNvSpPr txBox="1"/>
          <p:nvPr/>
        </p:nvSpPr>
        <p:spPr>
          <a:xfrm>
            <a:off x="6263640" y="205740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BM Plex Mono" pitchFamily="34" charset="0"/>
                <a:ea typeface="IBM Plex Mono" pitchFamily="34" charset="-122"/>
                <a:cs typeface="IBM Plex Mono" pitchFamily="34" charset="-120"/>
              </a:rPr>
              <a:t>3</a:t>
            </a:r>
            <a:endParaRPr lang="en-US" sz="1100" dirty="0"/>
          </a:p>
        </p:txBody>
      </p:sp>
      <p:sp>
        <p:nvSpPr>
          <p:cNvPr id="22" name="Text 19"/>
          <p:cNvSpPr txBox="1"/>
          <p:nvPr/>
        </p:nvSpPr>
        <p:spPr>
          <a:xfrm>
            <a:off x="6263640" y="2514600"/>
            <a:ext cx="2194560" cy="548640"/>
          </a:xfrm>
          <a:prstGeom prst="rect">
            <a:avLst/>
          </a:prstGeom>
          <a:noFill/>
          <a:ln/>
        </p:spPr>
        <p:txBody>
          <a:bodyPr wrap="square" lIns="0" tIns="0" rIns="0" bIns="0" rtlCol="0" anchor="t"/>
          <a:lstStyle/>
          <a:p>
            <a:pPr indent="0" marL="0">
              <a:buNone/>
            </a:pPr>
            <a:r>
              <a:rPr lang="en-US" sz="1500" b="1" spc="-50" kern="0" dirty="0">
                <a:solidFill>
                  <a:srgbClr val="1C1C1C"/>
                </a:solidFill>
                <a:latin typeface="Geist" pitchFamily="34" charset="0"/>
                <a:ea typeface="Geist" pitchFamily="34" charset="-122"/>
                <a:cs typeface="Geist" pitchFamily="34" charset="-120"/>
              </a:rPr>
              <a:t>Plug it in twice</a:t>
            </a:r>
            <a:endParaRPr lang="en-US" sz="1500" dirty="0"/>
          </a:p>
        </p:txBody>
      </p:sp>
      <p:sp>
        <p:nvSpPr>
          <p:cNvPr id="23" name="Text 20"/>
          <p:cNvSpPr txBox="1"/>
          <p:nvPr/>
        </p:nvSpPr>
        <p:spPr>
          <a:xfrm>
            <a:off x="6263640" y="3017520"/>
            <a:ext cx="2194560" cy="457200"/>
          </a:xfrm>
          <a:prstGeom prst="rect">
            <a:avLst/>
          </a:prstGeom>
          <a:noFill/>
          <a:ln/>
        </p:spPr>
        <p:txBody>
          <a:bodyPr wrap="square" lIns="0" tIns="0" rIns="0" bIns="0" rtlCol="0" anchor="t"/>
          <a:lstStyle/>
          <a:p>
            <a:pPr indent="0" marL="0">
              <a:buNone/>
            </a:pPr>
            <a:r>
              <a:rPr lang="en-US" sz="1100" dirty="0">
                <a:solidFill>
                  <a:srgbClr val="6B7280"/>
                </a:solidFill>
                <a:latin typeface="Geist" pitchFamily="34" charset="0"/>
                <a:ea typeface="Geist" pitchFamily="34" charset="-122"/>
                <a:cs typeface="Geist" pitchFamily="34" charset="-120"/>
              </a:rPr>
              <a:t>Claude Desktop, and the returns agent from Episode 2</a:t>
            </a:r>
            <a:endParaRPr lang="en-US" sz="1100" dirty="0"/>
          </a:p>
        </p:txBody>
      </p:sp>
      <p:sp>
        <p:nvSpPr>
          <p:cNvPr id="24" name="Shape 21"/>
          <p:cNvSpPr/>
          <p:nvPr/>
        </p:nvSpPr>
        <p:spPr>
          <a:xfrm>
            <a:off x="457200" y="3794760"/>
            <a:ext cx="8229600" cy="685800"/>
          </a:xfrm>
          <a:prstGeom prst="rect">
            <a:avLst/>
          </a:prstGeom>
          <a:solidFill>
            <a:srgbClr val="F7F7F5"/>
          </a:solidFill>
          <a:ln w="9525">
            <a:solidFill>
              <a:srgbClr val="E5E5E5"/>
            </a:solidFill>
            <a:prstDash val="solid"/>
          </a:ln>
        </p:spPr>
      </p:sp>
      <p:sp>
        <p:nvSpPr>
          <p:cNvPr id="25" name="Text 22"/>
          <p:cNvSpPr txBox="1"/>
          <p:nvPr/>
        </p:nvSpPr>
        <p:spPr>
          <a:xfrm>
            <a:off x="685800" y="3794760"/>
            <a:ext cx="7772400" cy="685800"/>
          </a:xfrm>
          <a:prstGeom prst="rect">
            <a:avLst/>
          </a:prstGeom>
          <a:noFill/>
          <a:ln/>
        </p:spPr>
        <p:txBody>
          <a:bodyPr wrap="square" lIns="0" tIns="0" rIns="0" bIns="0" rtlCol="0" anchor="ctr"/>
          <a:lstStyle/>
          <a:p>
            <a:pPr indent="0" marL="0">
              <a:buNone/>
            </a:pPr>
            <a:r>
              <a:rPr lang="en-US" sz="900" spc="200" kern="0" dirty="0">
                <a:solidFill>
                  <a:srgbClr val="FF5700"/>
                </a:solidFill>
                <a:latin typeface="IBM Plex Mono" pitchFamily="34" charset="0"/>
                <a:ea typeface="IBM Plex Mono" pitchFamily="34" charset="-122"/>
                <a:cs typeface="IBM Plex Mono" pitchFamily="34" charset="-120"/>
              </a:rPr>
              <a:t>ONE QUESTION  </a:t>
            </a:r>
            <a:pPr indent="0" marL="0">
              <a:buNone/>
            </a:pPr>
            <a:r>
              <a:rPr lang="en-US" sz="1150" dirty="0">
                <a:solidFill>
                  <a:srgbClr val="1C1C1C"/>
                </a:solidFill>
                <a:latin typeface="Geist" pitchFamily="34" charset="0"/>
                <a:ea typeface="Geist" pitchFamily="34" charset="-122"/>
                <a:cs typeface="Geist" pitchFamily="34" charset="-120"/>
              </a:rPr>
              <a:t>“Which open orders can't ship because stock is short — and do those customers owe us money?” Three modules, one answer.</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457200" y="292608"/>
            <a:ext cx="8229600" cy="231140"/>
          </a:xfrm>
          <a:prstGeom prst="rect">
            <a:avLst/>
          </a:prstGeom>
          <a:noFill/>
          <a:ln/>
        </p:spPr>
        <p:txBody>
          <a:bodyPr wrap="square" lIns="0" tIns="0" rIns="0" bIns="0" rtlCol="0" anchor="ctr"/>
          <a:lstStyle/>
          <a:p>
            <a:pPr indent="0" marL="0">
              <a:buNone/>
            </a:pPr>
            <a:r>
              <a:rPr lang="en-US" sz="1400" b="1" spc="-200" kern="0" dirty="0">
                <a:solidFill>
                  <a:srgbClr val="1C1C1C"/>
                </a:solidFill>
                <a:latin typeface="Geist" pitchFamily="34" charset="0"/>
                <a:ea typeface="Geist" pitchFamily="34" charset="-122"/>
                <a:cs typeface="Geist" pitchFamily="34" charset="-120"/>
              </a:rPr>
              <a:t>learn with </a:t>
            </a:r>
            <a:pPr indent="0" marL="0">
              <a:buNone/>
            </a:pPr>
            <a:r>
              <a:rPr lang="en-US" sz="1400" b="1" spc="-200" kern="0" dirty="0">
                <a:solidFill>
                  <a:srgbClr val="FF5700"/>
                </a:solidFill>
                <a:latin typeface="Geist" pitchFamily="34" charset="0"/>
                <a:ea typeface="Geist" pitchFamily="34" charset="-122"/>
                <a:cs typeface="Geist" pitchFamily="34" charset="-120"/>
              </a:rPr>
              <a:t>harsha</a:t>
            </a:r>
            <a:pPr indent="0" marL="0">
              <a:buNone/>
            </a:pPr>
            <a:r>
              <a:rPr lang="en-US" sz="600" b="1" spc="-200" kern="0" dirty="0">
                <a:solidFill>
                  <a:srgbClr val="FF5700"/>
                </a:solidFill>
                <a:latin typeface="Geist" pitchFamily="34" charset="0"/>
                <a:ea typeface="Geist" pitchFamily="34" charset="-122"/>
                <a:cs typeface="Geist" pitchFamily="34" charset="-120"/>
              </a:rPr>
              <a:t>■</a:t>
            </a:r>
            <a:endParaRPr lang="en-US" sz="1400" dirty="0"/>
          </a:p>
        </p:txBody>
      </p:sp>
      <p:sp>
        <p:nvSpPr>
          <p:cNvPr id="4" name="Shape 1"/>
          <p:cNvSpPr/>
          <p:nvPr/>
        </p:nvSpPr>
        <p:spPr>
          <a:xfrm>
            <a:off x="457200" y="813816"/>
            <a:ext cx="91440" cy="91440"/>
          </a:xfrm>
          <a:prstGeom prst="rect">
            <a:avLst/>
          </a:prstGeom>
          <a:solidFill>
            <a:srgbClr val="FF5700"/>
          </a:solidFill>
          <a:ln/>
        </p:spPr>
      </p:sp>
      <p:sp>
        <p:nvSpPr>
          <p:cNvPr id="5" name="Text 2"/>
          <p:cNvSpPr txBox="1"/>
          <p:nvPr/>
        </p:nvSpPr>
        <p:spPr>
          <a:xfrm>
            <a:off x="621792" y="713232"/>
            <a:ext cx="6400800" cy="292608"/>
          </a:xfrm>
          <a:prstGeom prst="rect">
            <a:avLst/>
          </a:prstGeom>
          <a:noFill/>
          <a:ln/>
        </p:spPr>
        <p:txBody>
          <a:bodyPr wrap="square" lIns="0" tIns="0" rIns="0" bIns="0" rtlCol="0" anchor="ctr"/>
          <a:lstStyle/>
          <a:p>
            <a:pPr indent="0" marL="0">
              <a:buNone/>
            </a:pPr>
            <a:r>
              <a:rPr lang="en-US" sz="1000" spc="400" kern="0" dirty="0">
                <a:solidFill>
                  <a:srgbClr val="FF5700"/>
                </a:solidFill>
                <a:latin typeface="IBM Plex Mono" pitchFamily="34" charset="0"/>
                <a:ea typeface="IBM Plex Mono" pitchFamily="34" charset="-122"/>
                <a:cs typeface="IBM Plex Mono" pitchFamily="34" charset="-120"/>
              </a:rPr>
              <a:t>THE PROBLEM</a:t>
            </a:r>
            <a:endParaRPr lang="en-US" sz="1000" dirty="0"/>
          </a:p>
        </p:txBody>
      </p:sp>
      <p:sp>
        <p:nvSpPr>
          <p:cNvPr id="6" name="Text 3"/>
          <p:cNvSpPr txBox="1"/>
          <p:nvPr/>
        </p:nvSpPr>
        <p:spPr>
          <a:xfrm>
            <a:off x="457200" y="987552"/>
            <a:ext cx="8229600" cy="640080"/>
          </a:xfrm>
          <a:prstGeom prst="rect">
            <a:avLst/>
          </a:prstGeom>
          <a:noFill/>
          <a:ln/>
        </p:spPr>
        <p:txBody>
          <a:bodyPr wrap="square" lIns="0" tIns="0" rIns="0" bIns="0" rtlCol="0" anchor="ctr"/>
          <a:lstStyle/>
          <a:p>
            <a:pPr indent="0" marL="0">
              <a:buNone/>
            </a:pPr>
            <a:r>
              <a:rPr lang="en-US" sz="2800" b="1" spc="-100" kern="0" dirty="0">
                <a:solidFill>
                  <a:srgbClr val="1C1C1C"/>
                </a:solidFill>
                <a:latin typeface="Geist" pitchFamily="34" charset="0"/>
                <a:ea typeface="Geist" pitchFamily="34" charset="-122"/>
                <a:cs typeface="Geist" pitchFamily="34" charset="-120"/>
              </a:rPr>
              <a:t>N agents × M modules</a:t>
            </a:r>
            <a:endParaRPr lang="en-US" sz="2800" dirty="0"/>
          </a:p>
        </p:txBody>
      </p:sp>
      <p:sp>
        <p:nvSpPr>
          <p:cNvPr id="7" name="Text 4"/>
          <p:cNvSpPr txBox="1"/>
          <p:nvPr/>
        </p:nvSpPr>
        <p:spPr>
          <a:xfrm>
            <a:off x="457200" y="4754880"/>
            <a:ext cx="5943600" cy="228600"/>
          </a:xfrm>
          <a:prstGeom prst="rect">
            <a:avLst/>
          </a:prstGeom>
          <a:noFill/>
          <a:ln/>
        </p:spPr>
        <p:txBody>
          <a:bodyPr wrap="square" lIns="0" tIns="0" rIns="0" bIns="0" rtlCol="0" anchor="ctr"/>
          <a:lstStyle/>
          <a:p>
            <a:pP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 Learning · The Agentic Enterprise · Ep 3</a:t>
            </a:r>
            <a:endParaRPr lang="en-US" sz="800" dirty="0"/>
          </a:p>
        </p:txBody>
      </p:sp>
      <p:sp>
        <p:nvSpPr>
          <p:cNvPr id="8" name="Text 5"/>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arthashastra.ai</a:t>
            </a:r>
            <a:endParaRPr lang="en-US" sz="800" dirty="0"/>
          </a:p>
        </p:txBody>
      </p:sp>
      <p:sp>
        <p:nvSpPr>
          <p:cNvPr id="9" name="Text 6"/>
          <p:cNvSpPr txBox="1"/>
          <p:nvPr/>
        </p:nvSpPr>
        <p:spPr>
          <a:xfrm>
            <a:off x="457200" y="1783080"/>
            <a:ext cx="3840480" cy="274320"/>
          </a:xfrm>
          <a:prstGeom prst="rect">
            <a:avLst/>
          </a:prstGeom>
          <a:noFill/>
          <a:ln/>
        </p:spPr>
        <p:txBody>
          <a:bodyPr wrap="square" lIns="0" tIns="0" rIns="0" bIns="0" rtlCol="0" anchor="t"/>
          <a:lstStyle/>
          <a:p>
            <a:pPr indent="0" marL="0">
              <a:buNone/>
            </a:pPr>
            <a:r>
              <a:rPr lang="en-US" sz="900" dirty="0">
                <a:solidFill>
                  <a:srgbClr val="D14343"/>
                </a:solidFill>
                <a:latin typeface="IBM Plex Mono" pitchFamily="34" charset="0"/>
                <a:ea typeface="IBM Plex Mono" pitchFamily="34" charset="-122"/>
                <a:cs typeface="IBM Plex Mono" pitchFamily="34" charset="-120"/>
              </a:rPr>
              <a:t>BEFORE — 9 CUSTOM INTEGRATIONS</a:t>
            </a:r>
            <a:endParaRPr lang="en-US" sz="900" dirty="0"/>
          </a:p>
        </p:txBody>
      </p:sp>
      <p:sp>
        <p:nvSpPr>
          <p:cNvPr id="10" name="Shape 7"/>
          <p:cNvSpPr/>
          <p:nvPr/>
        </p:nvSpPr>
        <p:spPr>
          <a:xfrm>
            <a:off x="457200" y="2148840"/>
            <a:ext cx="1371600" cy="457200"/>
          </a:xfrm>
          <a:prstGeom prst="rect">
            <a:avLst/>
          </a:prstGeom>
          <a:solidFill>
            <a:srgbClr val="F7F7F5"/>
          </a:solidFill>
          <a:ln w="9525">
            <a:solidFill>
              <a:srgbClr val="E5E5E5"/>
            </a:solidFill>
            <a:prstDash val="solid"/>
          </a:ln>
        </p:spPr>
      </p:sp>
      <p:sp>
        <p:nvSpPr>
          <p:cNvPr id="11" name="Text 8"/>
          <p:cNvSpPr txBox="1"/>
          <p:nvPr/>
        </p:nvSpPr>
        <p:spPr>
          <a:xfrm>
            <a:off x="457200" y="2148840"/>
            <a:ext cx="1371600" cy="457200"/>
          </a:xfrm>
          <a:prstGeom prst="rect">
            <a:avLst/>
          </a:prstGeom>
          <a:noFill/>
          <a:ln/>
        </p:spPr>
        <p:txBody>
          <a:bodyPr wrap="square" lIns="635" tIns="635" rIns="635" bIns="635" rtlCol="0" anchor="ctr"/>
          <a:lstStyle/>
          <a:p>
            <a:pPr algn="ctr" indent="0" marL="0">
              <a:buNone/>
            </a:pPr>
            <a:r>
              <a:rPr lang="en-US" sz="900" b="1" dirty="0">
                <a:solidFill>
                  <a:srgbClr val="1C1C1C"/>
                </a:solidFill>
                <a:latin typeface="Geist" pitchFamily="34" charset="0"/>
                <a:ea typeface="Geist" pitchFamily="34" charset="-122"/>
                <a:cs typeface="Geist" pitchFamily="34" charset="-120"/>
              </a:rPr>
              <a:t>Returns agent</a:t>
            </a:r>
            <a:endParaRPr lang="en-US" sz="900" dirty="0"/>
          </a:p>
        </p:txBody>
      </p:sp>
      <p:sp>
        <p:nvSpPr>
          <p:cNvPr id="12" name="Shape 9"/>
          <p:cNvSpPr/>
          <p:nvPr/>
        </p:nvSpPr>
        <p:spPr>
          <a:xfrm>
            <a:off x="457200" y="2834640"/>
            <a:ext cx="1371600" cy="457200"/>
          </a:xfrm>
          <a:prstGeom prst="rect">
            <a:avLst/>
          </a:prstGeom>
          <a:solidFill>
            <a:srgbClr val="F7F7F5"/>
          </a:solidFill>
          <a:ln w="9525">
            <a:solidFill>
              <a:srgbClr val="E5E5E5"/>
            </a:solidFill>
            <a:prstDash val="solid"/>
          </a:ln>
        </p:spPr>
      </p:sp>
      <p:sp>
        <p:nvSpPr>
          <p:cNvPr id="13" name="Text 10"/>
          <p:cNvSpPr txBox="1"/>
          <p:nvPr/>
        </p:nvSpPr>
        <p:spPr>
          <a:xfrm>
            <a:off x="457200" y="2834640"/>
            <a:ext cx="1371600" cy="457200"/>
          </a:xfrm>
          <a:prstGeom prst="rect">
            <a:avLst/>
          </a:prstGeom>
          <a:noFill/>
          <a:ln/>
        </p:spPr>
        <p:txBody>
          <a:bodyPr wrap="square" lIns="635" tIns="635" rIns="635" bIns="635" rtlCol="0" anchor="ctr"/>
          <a:lstStyle/>
          <a:p>
            <a:pPr algn="ctr" indent="0" marL="0">
              <a:buNone/>
            </a:pPr>
            <a:r>
              <a:rPr lang="en-US" sz="900" b="1" dirty="0">
                <a:solidFill>
                  <a:srgbClr val="1C1C1C"/>
                </a:solidFill>
                <a:latin typeface="Geist" pitchFamily="34" charset="0"/>
                <a:ea typeface="Geist" pitchFamily="34" charset="-122"/>
                <a:cs typeface="Geist" pitchFamily="34" charset="-120"/>
              </a:rPr>
              <a:t>Reorder agent</a:t>
            </a:r>
            <a:endParaRPr lang="en-US" sz="900" dirty="0"/>
          </a:p>
        </p:txBody>
      </p:sp>
      <p:sp>
        <p:nvSpPr>
          <p:cNvPr id="14" name="Shape 11"/>
          <p:cNvSpPr/>
          <p:nvPr/>
        </p:nvSpPr>
        <p:spPr>
          <a:xfrm>
            <a:off x="457200" y="3520440"/>
            <a:ext cx="1371600" cy="457200"/>
          </a:xfrm>
          <a:prstGeom prst="rect">
            <a:avLst/>
          </a:prstGeom>
          <a:solidFill>
            <a:srgbClr val="F7F7F5"/>
          </a:solidFill>
          <a:ln w="9525">
            <a:solidFill>
              <a:srgbClr val="E5E5E5"/>
            </a:solidFill>
            <a:prstDash val="solid"/>
          </a:ln>
        </p:spPr>
      </p:sp>
      <p:sp>
        <p:nvSpPr>
          <p:cNvPr id="15" name="Text 12"/>
          <p:cNvSpPr txBox="1"/>
          <p:nvPr/>
        </p:nvSpPr>
        <p:spPr>
          <a:xfrm>
            <a:off x="457200" y="3520440"/>
            <a:ext cx="1371600" cy="457200"/>
          </a:xfrm>
          <a:prstGeom prst="rect">
            <a:avLst/>
          </a:prstGeom>
          <a:noFill/>
          <a:ln/>
        </p:spPr>
        <p:txBody>
          <a:bodyPr wrap="square" lIns="635" tIns="635" rIns="635" bIns="635" rtlCol="0" anchor="ctr"/>
          <a:lstStyle/>
          <a:p>
            <a:pPr algn="ctr" indent="0" marL="0">
              <a:buNone/>
            </a:pPr>
            <a:r>
              <a:rPr lang="en-US" sz="900" b="1" dirty="0">
                <a:solidFill>
                  <a:srgbClr val="1C1C1C"/>
                </a:solidFill>
                <a:latin typeface="Geist" pitchFamily="34" charset="0"/>
                <a:ea typeface="Geist" pitchFamily="34" charset="-122"/>
                <a:cs typeface="Geist" pitchFamily="34" charset="-120"/>
              </a:rPr>
              <a:t>Collections agent</a:t>
            </a:r>
            <a:endParaRPr lang="en-US" sz="900" dirty="0"/>
          </a:p>
        </p:txBody>
      </p:sp>
      <p:sp>
        <p:nvSpPr>
          <p:cNvPr id="16" name="Shape 13"/>
          <p:cNvSpPr/>
          <p:nvPr/>
        </p:nvSpPr>
        <p:spPr>
          <a:xfrm>
            <a:off x="2926080" y="2148840"/>
            <a:ext cx="1188720" cy="457200"/>
          </a:xfrm>
          <a:prstGeom prst="rect">
            <a:avLst/>
          </a:prstGeom>
          <a:solidFill>
            <a:srgbClr val="F7F7F5"/>
          </a:solidFill>
          <a:ln w="9525">
            <a:solidFill>
              <a:srgbClr val="E5E5E5"/>
            </a:solidFill>
            <a:prstDash val="solid"/>
          </a:ln>
        </p:spPr>
      </p:sp>
      <p:sp>
        <p:nvSpPr>
          <p:cNvPr id="17" name="Text 14"/>
          <p:cNvSpPr txBox="1"/>
          <p:nvPr/>
        </p:nvSpPr>
        <p:spPr>
          <a:xfrm>
            <a:off x="2926080" y="2148840"/>
            <a:ext cx="1188720" cy="457200"/>
          </a:xfrm>
          <a:prstGeom prst="rect">
            <a:avLst/>
          </a:prstGeom>
          <a:noFill/>
          <a:ln/>
        </p:spPr>
        <p:txBody>
          <a:bodyPr wrap="square" lIns="635" tIns="635" rIns="635" bIns="635" rtlCol="0" anchor="ctr"/>
          <a:lstStyle/>
          <a:p>
            <a:pPr algn="ctr" indent="0" marL="0">
              <a:buNone/>
            </a:pPr>
            <a:r>
              <a:rPr lang="en-US" sz="900" b="1" dirty="0">
                <a:solidFill>
                  <a:srgbClr val="1C1C1C"/>
                </a:solidFill>
                <a:latin typeface="Geist" pitchFamily="34" charset="0"/>
                <a:ea typeface="Geist" pitchFamily="34" charset="-122"/>
                <a:cs typeface="Geist" pitchFamily="34" charset="-120"/>
              </a:rPr>
              <a:t>Inventory</a:t>
            </a:r>
            <a:endParaRPr lang="en-US" sz="900" dirty="0"/>
          </a:p>
        </p:txBody>
      </p:sp>
      <p:sp>
        <p:nvSpPr>
          <p:cNvPr id="18" name="Shape 15"/>
          <p:cNvSpPr/>
          <p:nvPr/>
        </p:nvSpPr>
        <p:spPr>
          <a:xfrm>
            <a:off x="2926080" y="2834640"/>
            <a:ext cx="1188720" cy="457200"/>
          </a:xfrm>
          <a:prstGeom prst="rect">
            <a:avLst/>
          </a:prstGeom>
          <a:solidFill>
            <a:srgbClr val="F7F7F5"/>
          </a:solidFill>
          <a:ln w="9525">
            <a:solidFill>
              <a:srgbClr val="E5E5E5"/>
            </a:solidFill>
            <a:prstDash val="solid"/>
          </a:ln>
        </p:spPr>
      </p:sp>
      <p:sp>
        <p:nvSpPr>
          <p:cNvPr id="19" name="Text 16"/>
          <p:cNvSpPr txBox="1"/>
          <p:nvPr/>
        </p:nvSpPr>
        <p:spPr>
          <a:xfrm>
            <a:off x="2926080" y="2834640"/>
            <a:ext cx="1188720" cy="457200"/>
          </a:xfrm>
          <a:prstGeom prst="rect">
            <a:avLst/>
          </a:prstGeom>
          <a:noFill/>
          <a:ln/>
        </p:spPr>
        <p:txBody>
          <a:bodyPr wrap="square" lIns="635" tIns="635" rIns="635" bIns="635" rtlCol="0" anchor="ctr"/>
          <a:lstStyle/>
          <a:p>
            <a:pPr algn="ctr" indent="0" marL="0">
              <a:buNone/>
            </a:pPr>
            <a:r>
              <a:rPr lang="en-US" sz="900" b="1" dirty="0">
                <a:solidFill>
                  <a:srgbClr val="1C1C1C"/>
                </a:solidFill>
                <a:latin typeface="Geist" pitchFamily="34" charset="0"/>
                <a:ea typeface="Geist" pitchFamily="34" charset="-122"/>
                <a:cs typeface="Geist" pitchFamily="34" charset="-120"/>
              </a:rPr>
              <a:t>Sales</a:t>
            </a:r>
            <a:endParaRPr lang="en-US" sz="900" dirty="0"/>
          </a:p>
        </p:txBody>
      </p:sp>
      <p:sp>
        <p:nvSpPr>
          <p:cNvPr id="20" name="Shape 17"/>
          <p:cNvSpPr/>
          <p:nvPr/>
        </p:nvSpPr>
        <p:spPr>
          <a:xfrm>
            <a:off x="2926080" y="3520440"/>
            <a:ext cx="1188720" cy="457200"/>
          </a:xfrm>
          <a:prstGeom prst="rect">
            <a:avLst/>
          </a:prstGeom>
          <a:solidFill>
            <a:srgbClr val="F7F7F5"/>
          </a:solidFill>
          <a:ln w="9525">
            <a:solidFill>
              <a:srgbClr val="E5E5E5"/>
            </a:solidFill>
            <a:prstDash val="solid"/>
          </a:ln>
        </p:spPr>
      </p:sp>
      <p:sp>
        <p:nvSpPr>
          <p:cNvPr id="21" name="Text 18"/>
          <p:cNvSpPr txBox="1"/>
          <p:nvPr/>
        </p:nvSpPr>
        <p:spPr>
          <a:xfrm>
            <a:off x="2926080" y="3520440"/>
            <a:ext cx="1188720" cy="457200"/>
          </a:xfrm>
          <a:prstGeom prst="rect">
            <a:avLst/>
          </a:prstGeom>
          <a:noFill/>
          <a:ln/>
        </p:spPr>
        <p:txBody>
          <a:bodyPr wrap="square" lIns="635" tIns="635" rIns="635" bIns="635" rtlCol="0" anchor="ctr"/>
          <a:lstStyle/>
          <a:p>
            <a:pPr algn="ctr" indent="0" marL="0">
              <a:buNone/>
            </a:pPr>
            <a:r>
              <a:rPr lang="en-US" sz="900" b="1" dirty="0">
                <a:solidFill>
                  <a:srgbClr val="1C1C1C"/>
                </a:solidFill>
                <a:latin typeface="Geist" pitchFamily="34" charset="0"/>
                <a:ea typeface="Geist" pitchFamily="34" charset="-122"/>
                <a:cs typeface="Geist" pitchFamily="34" charset="-120"/>
              </a:rPr>
              <a:t>Finance</a:t>
            </a:r>
            <a:endParaRPr lang="en-US" sz="900" dirty="0"/>
          </a:p>
        </p:txBody>
      </p:sp>
      <p:sp>
        <p:nvSpPr>
          <p:cNvPr id="22" name="Shape 19"/>
          <p:cNvSpPr/>
          <p:nvPr/>
        </p:nvSpPr>
        <p:spPr>
          <a:xfrm>
            <a:off x="1828800" y="2377440"/>
            <a:ext cx="1097280" cy="0"/>
          </a:xfrm>
          <a:prstGeom prst="line">
            <a:avLst/>
          </a:prstGeom>
          <a:noFill/>
          <a:ln w="9525">
            <a:solidFill>
              <a:srgbClr val="D14343"/>
            </a:solidFill>
            <a:prstDash val="solid"/>
          </a:ln>
        </p:spPr>
      </p:sp>
      <p:sp>
        <p:nvSpPr>
          <p:cNvPr id="23" name="Shape 20"/>
          <p:cNvSpPr/>
          <p:nvPr/>
        </p:nvSpPr>
        <p:spPr>
          <a:xfrm>
            <a:off x="1828800" y="2377440"/>
            <a:ext cx="1097280" cy="685800"/>
          </a:xfrm>
          <a:prstGeom prst="line">
            <a:avLst/>
          </a:prstGeom>
          <a:noFill/>
          <a:ln w="9525">
            <a:solidFill>
              <a:srgbClr val="D14343"/>
            </a:solidFill>
            <a:prstDash val="solid"/>
          </a:ln>
        </p:spPr>
      </p:sp>
      <p:sp>
        <p:nvSpPr>
          <p:cNvPr id="24" name="Shape 21"/>
          <p:cNvSpPr/>
          <p:nvPr/>
        </p:nvSpPr>
        <p:spPr>
          <a:xfrm>
            <a:off x="1828800" y="2377440"/>
            <a:ext cx="1097280" cy="1371600"/>
          </a:xfrm>
          <a:prstGeom prst="line">
            <a:avLst/>
          </a:prstGeom>
          <a:noFill/>
          <a:ln w="9525">
            <a:solidFill>
              <a:srgbClr val="D14343"/>
            </a:solidFill>
            <a:prstDash val="solid"/>
          </a:ln>
        </p:spPr>
      </p:sp>
      <p:sp>
        <p:nvSpPr>
          <p:cNvPr id="25" name="Shape 22"/>
          <p:cNvSpPr/>
          <p:nvPr/>
        </p:nvSpPr>
        <p:spPr>
          <a:xfrm flipV="1">
            <a:off x="1828800" y="2377440"/>
            <a:ext cx="1097280" cy="685800"/>
          </a:xfrm>
          <a:prstGeom prst="line">
            <a:avLst/>
          </a:prstGeom>
          <a:noFill/>
          <a:ln w="9525">
            <a:solidFill>
              <a:srgbClr val="D14343"/>
            </a:solidFill>
            <a:prstDash val="solid"/>
          </a:ln>
        </p:spPr>
      </p:sp>
      <p:sp>
        <p:nvSpPr>
          <p:cNvPr id="26" name="Shape 23"/>
          <p:cNvSpPr/>
          <p:nvPr/>
        </p:nvSpPr>
        <p:spPr>
          <a:xfrm>
            <a:off x="1828800" y="3063240"/>
            <a:ext cx="1097280" cy="0"/>
          </a:xfrm>
          <a:prstGeom prst="line">
            <a:avLst/>
          </a:prstGeom>
          <a:noFill/>
          <a:ln w="9525">
            <a:solidFill>
              <a:srgbClr val="D14343"/>
            </a:solidFill>
            <a:prstDash val="solid"/>
          </a:ln>
        </p:spPr>
      </p:sp>
      <p:sp>
        <p:nvSpPr>
          <p:cNvPr id="27" name="Shape 24"/>
          <p:cNvSpPr/>
          <p:nvPr/>
        </p:nvSpPr>
        <p:spPr>
          <a:xfrm>
            <a:off x="1828800" y="3063240"/>
            <a:ext cx="1097280" cy="685800"/>
          </a:xfrm>
          <a:prstGeom prst="line">
            <a:avLst/>
          </a:prstGeom>
          <a:noFill/>
          <a:ln w="9525">
            <a:solidFill>
              <a:srgbClr val="D14343"/>
            </a:solidFill>
            <a:prstDash val="solid"/>
          </a:ln>
        </p:spPr>
      </p:sp>
      <p:sp>
        <p:nvSpPr>
          <p:cNvPr id="28" name="Shape 25"/>
          <p:cNvSpPr/>
          <p:nvPr/>
        </p:nvSpPr>
        <p:spPr>
          <a:xfrm flipV="1">
            <a:off x="1828800" y="2377440"/>
            <a:ext cx="1097280" cy="1371600"/>
          </a:xfrm>
          <a:prstGeom prst="line">
            <a:avLst/>
          </a:prstGeom>
          <a:noFill/>
          <a:ln w="9525">
            <a:solidFill>
              <a:srgbClr val="D14343"/>
            </a:solidFill>
            <a:prstDash val="solid"/>
          </a:ln>
        </p:spPr>
      </p:sp>
      <p:sp>
        <p:nvSpPr>
          <p:cNvPr id="29" name="Shape 26"/>
          <p:cNvSpPr/>
          <p:nvPr/>
        </p:nvSpPr>
        <p:spPr>
          <a:xfrm flipV="1">
            <a:off x="1828800" y="3063240"/>
            <a:ext cx="1097280" cy="685800"/>
          </a:xfrm>
          <a:prstGeom prst="line">
            <a:avLst/>
          </a:prstGeom>
          <a:noFill/>
          <a:ln w="9525">
            <a:solidFill>
              <a:srgbClr val="D14343"/>
            </a:solidFill>
            <a:prstDash val="solid"/>
          </a:ln>
        </p:spPr>
      </p:sp>
      <p:sp>
        <p:nvSpPr>
          <p:cNvPr id="30" name="Shape 27"/>
          <p:cNvSpPr/>
          <p:nvPr/>
        </p:nvSpPr>
        <p:spPr>
          <a:xfrm>
            <a:off x="1828800" y="3749040"/>
            <a:ext cx="1097280" cy="0"/>
          </a:xfrm>
          <a:prstGeom prst="line">
            <a:avLst/>
          </a:prstGeom>
          <a:noFill/>
          <a:ln w="9525">
            <a:solidFill>
              <a:srgbClr val="D14343"/>
            </a:solidFill>
            <a:prstDash val="solid"/>
          </a:ln>
        </p:spPr>
      </p:sp>
      <p:sp>
        <p:nvSpPr>
          <p:cNvPr id="31" name="Text 28"/>
          <p:cNvSpPr txBox="1"/>
          <p:nvPr/>
        </p:nvSpPr>
        <p:spPr>
          <a:xfrm>
            <a:off x="4754880" y="1783080"/>
            <a:ext cx="3931920" cy="274320"/>
          </a:xfrm>
          <a:prstGeom prst="rect">
            <a:avLst/>
          </a:prstGeom>
          <a:noFill/>
          <a:ln/>
        </p:spPr>
        <p:txBody>
          <a:bodyPr wrap="square" lIns="0" tIns="0" rIns="0" bIns="0" rtlCol="0" anchor="t"/>
          <a:lstStyle/>
          <a:p>
            <a:pPr indent="0" marL="0">
              <a:buNone/>
            </a:pPr>
            <a:r>
              <a:rPr lang="en-US" sz="900" dirty="0">
                <a:solidFill>
                  <a:srgbClr val="0E7C7B"/>
                </a:solidFill>
                <a:latin typeface="IBM Plex Mono" pitchFamily="34" charset="0"/>
                <a:ea typeface="IBM Plex Mono" pitchFamily="34" charset="-122"/>
                <a:cs typeface="IBM Plex Mono" pitchFamily="34" charset="-120"/>
              </a:rPr>
              <a:t>AFTER — 3 SERVERS, ANY CLIENT</a:t>
            </a:r>
            <a:endParaRPr lang="en-US" sz="900" dirty="0"/>
          </a:p>
        </p:txBody>
      </p:sp>
      <p:sp>
        <p:nvSpPr>
          <p:cNvPr id="32" name="Shape 29"/>
          <p:cNvSpPr/>
          <p:nvPr/>
        </p:nvSpPr>
        <p:spPr>
          <a:xfrm>
            <a:off x="4754880" y="2148840"/>
            <a:ext cx="1280160" cy="457200"/>
          </a:xfrm>
          <a:prstGeom prst="rect">
            <a:avLst/>
          </a:prstGeom>
          <a:solidFill>
            <a:srgbClr val="F7F7F5"/>
          </a:solidFill>
          <a:ln w="9525">
            <a:solidFill>
              <a:srgbClr val="E5E5E5"/>
            </a:solidFill>
            <a:prstDash val="solid"/>
          </a:ln>
        </p:spPr>
      </p:sp>
      <p:sp>
        <p:nvSpPr>
          <p:cNvPr id="33" name="Text 30"/>
          <p:cNvSpPr txBox="1"/>
          <p:nvPr/>
        </p:nvSpPr>
        <p:spPr>
          <a:xfrm>
            <a:off x="4754880" y="2148840"/>
            <a:ext cx="1280160" cy="457200"/>
          </a:xfrm>
          <a:prstGeom prst="rect">
            <a:avLst/>
          </a:prstGeom>
          <a:noFill/>
          <a:ln/>
        </p:spPr>
        <p:txBody>
          <a:bodyPr wrap="square" lIns="635" tIns="635" rIns="635" bIns="635" rtlCol="0" anchor="ctr"/>
          <a:lstStyle/>
          <a:p>
            <a:pPr algn="ctr" indent="0" marL="0">
              <a:buNone/>
            </a:pPr>
            <a:r>
              <a:rPr lang="en-US" sz="900" b="1" dirty="0">
                <a:solidFill>
                  <a:srgbClr val="1C1C1C"/>
                </a:solidFill>
                <a:latin typeface="Geist" pitchFamily="34" charset="0"/>
                <a:ea typeface="Geist" pitchFamily="34" charset="-122"/>
                <a:cs typeface="Geist" pitchFamily="34" charset="-120"/>
              </a:rPr>
              <a:t>Returns agent</a:t>
            </a:r>
            <a:endParaRPr lang="en-US" sz="900" dirty="0"/>
          </a:p>
        </p:txBody>
      </p:sp>
      <p:sp>
        <p:nvSpPr>
          <p:cNvPr id="34" name="Shape 31"/>
          <p:cNvSpPr/>
          <p:nvPr/>
        </p:nvSpPr>
        <p:spPr>
          <a:xfrm>
            <a:off x="4754880" y="2834640"/>
            <a:ext cx="1280160" cy="457200"/>
          </a:xfrm>
          <a:prstGeom prst="rect">
            <a:avLst/>
          </a:prstGeom>
          <a:solidFill>
            <a:srgbClr val="F7F7F5"/>
          </a:solidFill>
          <a:ln w="9525">
            <a:solidFill>
              <a:srgbClr val="E5E5E5"/>
            </a:solidFill>
            <a:prstDash val="solid"/>
          </a:ln>
        </p:spPr>
      </p:sp>
      <p:sp>
        <p:nvSpPr>
          <p:cNvPr id="35" name="Text 32"/>
          <p:cNvSpPr txBox="1"/>
          <p:nvPr/>
        </p:nvSpPr>
        <p:spPr>
          <a:xfrm>
            <a:off x="4754880" y="2834640"/>
            <a:ext cx="1280160" cy="457200"/>
          </a:xfrm>
          <a:prstGeom prst="rect">
            <a:avLst/>
          </a:prstGeom>
          <a:noFill/>
          <a:ln/>
        </p:spPr>
        <p:txBody>
          <a:bodyPr wrap="square" lIns="635" tIns="635" rIns="635" bIns="635" rtlCol="0" anchor="ctr"/>
          <a:lstStyle/>
          <a:p>
            <a:pPr algn="ctr" indent="0" marL="0">
              <a:buNone/>
            </a:pPr>
            <a:r>
              <a:rPr lang="en-US" sz="900" b="1" dirty="0">
                <a:solidFill>
                  <a:srgbClr val="1C1C1C"/>
                </a:solidFill>
                <a:latin typeface="Geist" pitchFamily="34" charset="0"/>
                <a:ea typeface="Geist" pitchFamily="34" charset="-122"/>
                <a:cs typeface="Geist" pitchFamily="34" charset="-120"/>
              </a:rPr>
              <a:t>Reorder agent</a:t>
            </a:r>
            <a:endParaRPr lang="en-US" sz="900" dirty="0"/>
          </a:p>
        </p:txBody>
      </p:sp>
      <p:sp>
        <p:nvSpPr>
          <p:cNvPr id="36" name="Shape 33"/>
          <p:cNvSpPr/>
          <p:nvPr/>
        </p:nvSpPr>
        <p:spPr>
          <a:xfrm>
            <a:off x="4754880" y="3520440"/>
            <a:ext cx="1280160" cy="457200"/>
          </a:xfrm>
          <a:prstGeom prst="rect">
            <a:avLst/>
          </a:prstGeom>
          <a:solidFill>
            <a:srgbClr val="F7F7F5"/>
          </a:solidFill>
          <a:ln w="9525">
            <a:solidFill>
              <a:srgbClr val="E5E5E5"/>
            </a:solidFill>
            <a:prstDash val="solid"/>
          </a:ln>
        </p:spPr>
      </p:sp>
      <p:sp>
        <p:nvSpPr>
          <p:cNvPr id="37" name="Text 34"/>
          <p:cNvSpPr txBox="1"/>
          <p:nvPr/>
        </p:nvSpPr>
        <p:spPr>
          <a:xfrm>
            <a:off x="4754880" y="3520440"/>
            <a:ext cx="1280160" cy="457200"/>
          </a:xfrm>
          <a:prstGeom prst="rect">
            <a:avLst/>
          </a:prstGeom>
          <a:noFill/>
          <a:ln/>
        </p:spPr>
        <p:txBody>
          <a:bodyPr wrap="square" lIns="635" tIns="635" rIns="635" bIns="635" rtlCol="0" anchor="ctr"/>
          <a:lstStyle/>
          <a:p>
            <a:pPr algn="ctr" indent="0" marL="0">
              <a:buNone/>
            </a:pPr>
            <a:r>
              <a:rPr lang="en-US" sz="900" b="1" dirty="0">
                <a:solidFill>
                  <a:srgbClr val="1C1C1C"/>
                </a:solidFill>
                <a:latin typeface="Geist" pitchFamily="34" charset="0"/>
                <a:ea typeface="Geist" pitchFamily="34" charset="-122"/>
                <a:cs typeface="Geist" pitchFamily="34" charset="-120"/>
              </a:rPr>
              <a:t>Collections agent</a:t>
            </a:r>
            <a:endParaRPr lang="en-US" sz="900" dirty="0"/>
          </a:p>
        </p:txBody>
      </p:sp>
      <p:sp>
        <p:nvSpPr>
          <p:cNvPr id="38" name="Shape 35"/>
          <p:cNvSpPr/>
          <p:nvPr/>
        </p:nvSpPr>
        <p:spPr>
          <a:xfrm>
            <a:off x="6263640" y="2148840"/>
            <a:ext cx="640080" cy="1828800"/>
          </a:xfrm>
          <a:prstGeom prst="rect">
            <a:avLst/>
          </a:prstGeom>
          <a:solidFill>
            <a:srgbClr val="FFFFFF"/>
          </a:solidFill>
          <a:ln w="15875">
            <a:solidFill>
              <a:srgbClr val="FF5700"/>
            </a:solidFill>
            <a:prstDash val="solid"/>
          </a:ln>
        </p:spPr>
      </p:sp>
      <p:sp>
        <p:nvSpPr>
          <p:cNvPr id="39" name="Text 36"/>
          <p:cNvSpPr txBox="1"/>
          <p:nvPr/>
        </p:nvSpPr>
        <p:spPr>
          <a:xfrm>
            <a:off x="6263640" y="2148840"/>
            <a:ext cx="640080" cy="1828800"/>
          </a:xfrm>
          <a:prstGeom prst="rect">
            <a:avLst/>
          </a:prstGeom>
          <a:noFill/>
          <a:ln/>
        </p:spPr>
        <p:txBody>
          <a:bodyPr wrap="square" lIns="635" tIns="635" rIns="635" bIns="635" rtlCol="0" anchor="ctr"/>
          <a:lstStyle/>
          <a:p>
            <a:pPr algn="ctr" indent="0" marL="0">
              <a:buNone/>
            </a:pPr>
            <a:r>
              <a:rPr lang="en-US" sz="1100" b="1" dirty="0">
                <a:solidFill>
                  <a:srgbClr val="FF5700"/>
                </a:solidFill>
                <a:latin typeface="Geist" pitchFamily="34" charset="0"/>
                <a:ea typeface="Geist" pitchFamily="34" charset="-122"/>
                <a:cs typeface="Geist" pitchFamily="34" charset="-120"/>
              </a:rPr>
              <a:t>MCP</a:t>
            </a:r>
            <a:endParaRPr lang="en-US" sz="1100" dirty="0"/>
          </a:p>
        </p:txBody>
      </p:sp>
      <p:sp>
        <p:nvSpPr>
          <p:cNvPr id="40" name="Shape 37"/>
          <p:cNvSpPr/>
          <p:nvPr/>
        </p:nvSpPr>
        <p:spPr>
          <a:xfrm>
            <a:off x="7132320" y="2148840"/>
            <a:ext cx="1554480" cy="457200"/>
          </a:xfrm>
          <a:prstGeom prst="rect">
            <a:avLst/>
          </a:prstGeom>
          <a:solidFill>
            <a:srgbClr val="F7F7F5"/>
          </a:solidFill>
          <a:ln w="9525">
            <a:solidFill>
              <a:srgbClr val="E5E5E5"/>
            </a:solidFill>
            <a:prstDash val="solid"/>
          </a:ln>
        </p:spPr>
      </p:sp>
      <p:sp>
        <p:nvSpPr>
          <p:cNvPr id="41" name="Text 38"/>
          <p:cNvSpPr txBox="1"/>
          <p:nvPr/>
        </p:nvSpPr>
        <p:spPr>
          <a:xfrm>
            <a:off x="7132320" y="2148840"/>
            <a:ext cx="1554480" cy="457200"/>
          </a:xfrm>
          <a:prstGeom prst="rect">
            <a:avLst/>
          </a:prstGeom>
          <a:noFill/>
          <a:ln/>
        </p:spPr>
        <p:txBody>
          <a:bodyPr wrap="square" lIns="635" tIns="635" rIns="635" bIns="635" rtlCol="0" anchor="ctr"/>
          <a:lstStyle/>
          <a:p>
            <a:pPr algn="ctr" indent="0" marL="0">
              <a:buNone/>
            </a:pPr>
            <a:r>
              <a:rPr lang="en-US" sz="900" b="1" dirty="0">
                <a:solidFill>
                  <a:srgbClr val="1C1C1C"/>
                </a:solidFill>
                <a:latin typeface="Geist" pitchFamily="34" charset="0"/>
                <a:ea typeface="Geist" pitchFamily="34" charset="-122"/>
                <a:cs typeface="Geist" pitchFamily="34" charset="-120"/>
              </a:rPr>
              <a:t>Inventory server</a:t>
            </a:r>
            <a:endParaRPr lang="en-US" sz="900" dirty="0"/>
          </a:p>
        </p:txBody>
      </p:sp>
      <p:sp>
        <p:nvSpPr>
          <p:cNvPr id="42" name="Shape 39"/>
          <p:cNvSpPr/>
          <p:nvPr/>
        </p:nvSpPr>
        <p:spPr>
          <a:xfrm>
            <a:off x="6035040" y="2377440"/>
            <a:ext cx="228600" cy="0"/>
          </a:xfrm>
          <a:prstGeom prst="line">
            <a:avLst/>
          </a:prstGeom>
          <a:noFill/>
          <a:ln w="9525">
            <a:solidFill>
              <a:srgbClr val="0E7C7B"/>
            </a:solidFill>
            <a:prstDash val="solid"/>
          </a:ln>
        </p:spPr>
      </p:sp>
      <p:sp>
        <p:nvSpPr>
          <p:cNvPr id="43" name="Shape 40"/>
          <p:cNvSpPr/>
          <p:nvPr/>
        </p:nvSpPr>
        <p:spPr>
          <a:xfrm>
            <a:off x="6903720" y="2377440"/>
            <a:ext cx="228600" cy="0"/>
          </a:xfrm>
          <a:prstGeom prst="line">
            <a:avLst/>
          </a:prstGeom>
          <a:noFill/>
          <a:ln w="9525">
            <a:solidFill>
              <a:srgbClr val="0E7C7B"/>
            </a:solidFill>
            <a:prstDash val="solid"/>
          </a:ln>
        </p:spPr>
      </p:sp>
      <p:sp>
        <p:nvSpPr>
          <p:cNvPr id="44" name="Shape 41"/>
          <p:cNvSpPr/>
          <p:nvPr/>
        </p:nvSpPr>
        <p:spPr>
          <a:xfrm>
            <a:off x="7132320" y="2834640"/>
            <a:ext cx="1554480" cy="457200"/>
          </a:xfrm>
          <a:prstGeom prst="rect">
            <a:avLst/>
          </a:prstGeom>
          <a:solidFill>
            <a:srgbClr val="F7F7F5"/>
          </a:solidFill>
          <a:ln w="9525">
            <a:solidFill>
              <a:srgbClr val="E5E5E5"/>
            </a:solidFill>
            <a:prstDash val="solid"/>
          </a:ln>
        </p:spPr>
      </p:sp>
      <p:sp>
        <p:nvSpPr>
          <p:cNvPr id="45" name="Text 42"/>
          <p:cNvSpPr txBox="1"/>
          <p:nvPr/>
        </p:nvSpPr>
        <p:spPr>
          <a:xfrm>
            <a:off x="7132320" y="2834640"/>
            <a:ext cx="1554480" cy="457200"/>
          </a:xfrm>
          <a:prstGeom prst="rect">
            <a:avLst/>
          </a:prstGeom>
          <a:noFill/>
          <a:ln/>
        </p:spPr>
        <p:txBody>
          <a:bodyPr wrap="square" lIns="635" tIns="635" rIns="635" bIns="635" rtlCol="0" anchor="ctr"/>
          <a:lstStyle/>
          <a:p>
            <a:pPr algn="ctr" indent="0" marL="0">
              <a:buNone/>
            </a:pPr>
            <a:r>
              <a:rPr lang="en-US" sz="900" b="1" dirty="0">
                <a:solidFill>
                  <a:srgbClr val="1C1C1C"/>
                </a:solidFill>
                <a:latin typeface="Geist" pitchFamily="34" charset="0"/>
                <a:ea typeface="Geist" pitchFamily="34" charset="-122"/>
                <a:cs typeface="Geist" pitchFamily="34" charset="-120"/>
              </a:rPr>
              <a:t>Sales server</a:t>
            </a:r>
            <a:endParaRPr lang="en-US" sz="900" dirty="0"/>
          </a:p>
        </p:txBody>
      </p:sp>
      <p:sp>
        <p:nvSpPr>
          <p:cNvPr id="46" name="Shape 43"/>
          <p:cNvSpPr/>
          <p:nvPr/>
        </p:nvSpPr>
        <p:spPr>
          <a:xfrm>
            <a:off x="6035040" y="3063240"/>
            <a:ext cx="228600" cy="0"/>
          </a:xfrm>
          <a:prstGeom prst="line">
            <a:avLst/>
          </a:prstGeom>
          <a:noFill/>
          <a:ln w="9525">
            <a:solidFill>
              <a:srgbClr val="0E7C7B"/>
            </a:solidFill>
            <a:prstDash val="solid"/>
          </a:ln>
        </p:spPr>
      </p:sp>
      <p:sp>
        <p:nvSpPr>
          <p:cNvPr id="47" name="Shape 44"/>
          <p:cNvSpPr/>
          <p:nvPr/>
        </p:nvSpPr>
        <p:spPr>
          <a:xfrm>
            <a:off x="6903720" y="3063240"/>
            <a:ext cx="228600" cy="0"/>
          </a:xfrm>
          <a:prstGeom prst="line">
            <a:avLst/>
          </a:prstGeom>
          <a:noFill/>
          <a:ln w="9525">
            <a:solidFill>
              <a:srgbClr val="0E7C7B"/>
            </a:solidFill>
            <a:prstDash val="solid"/>
          </a:ln>
        </p:spPr>
      </p:sp>
      <p:sp>
        <p:nvSpPr>
          <p:cNvPr id="48" name="Shape 45"/>
          <p:cNvSpPr/>
          <p:nvPr/>
        </p:nvSpPr>
        <p:spPr>
          <a:xfrm>
            <a:off x="7132320" y="3520440"/>
            <a:ext cx="1554480" cy="457200"/>
          </a:xfrm>
          <a:prstGeom prst="rect">
            <a:avLst/>
          </a:prstGeom>
          <a:solidFill>
            <a:srgbClr val="F7F7F5"/>
          </a:solidFill>
          <a:ln w="9525">
            <a:solidFill>
              <a:srgbClr val="E5E5E5"/>
            </a:solidFill>
            <a:prstDash val="solid"/>
          </a:ln>
        </p:spPr>
      </p:sp>
      <p:sp>
        <p:nvSpPr>
          <p:cNvPr id="49" name="Text 46"/>
          <p:cNvSpPr txBox="1"/>
          <p:nvPr/>
        </p:nvSpPr>
        <p:spPr>
          <a:xfrm>
            <a:off x="7132320" y="3520440"/>
            <a:ext cx="1554480" cy="457200"/>
          </a:xfrm>
          <a:prstGeom prst="rect">
            <a:avLst/>
          </a:prstGeom>
          <a:noFill/>
          <a:ln/>
        </p:spPr>
        <p:txBody>
          <a:bodyPr wrap="square" lIns="635" tIns="635" rIns="635" bIns="635" rtlCol="0" anchor="ctr"/>
          <a:lstStyle/>
          <a:p>
            <a:pPr algn="ctr" indent="0" marL="0">
              <a:buNone/>
            </a:pPr>
            <a:r>
              <a:rPr lang="en-US" sz="900" b="1" dirty="0">
                <a:solidFill>
                  <a:srgbClr val="1C1C1C"/>
                </a:solidFill>
                <a:latin typeface="Geist" pitchFamily="34" charset="0"/>
                <a:ea typeface="Geist" pitchFamily="34" charset="-122"/>
                <a:cs typeface="Geist" pitchFamily="34" charset="-120"/>
              </a:rPr>
              <a:t>Finance server</a:t>
            </a:r>
            <a:endParaRPr lang="en-US" sz="900" dirty="0"/>
          </a:p>
        </p:txBody>
      </p:sp>
      <p:sp>
        <p:nvSpPr>
          <p:cNvPr id="50" name="Shape 47"/>
          <p:cNvSpPr/>
          <p:nvPr/>
        </p:nvSpPr>
        <p:spPr>
          <a:xfrm>
            <a:off x="6035040" y="3749040"/>
            <a:ext cx="228600" cy="0"/>
          </a:xfrm>
          <a:prstGeom prst="line">
            <a:avLst/>
          </a:prstGeom>
          <a:noFill/>
          <a:ln w="9525">
            <a:solidFill>
              <a:srgbClr val="0E7C7B"/>
            </a:solidFill>
            <a:prstDash val="solid"/>
          </a:ln>
        </p:spPr>
      </p:sp>
      <p:sp>
        <p:nvSpPr>
          <p:cNvPr id="51" name="Shape 48"/>
          <p:cNvSpPr/>
          <p:nvPr/>
        </p:nvSpPr>
        <p:spPr>
          <a:xfrm>
            <a:off x="6903720" y="3749040"/>
            <a:ext cx="228600" cy="0"/>
          </a:xfrm>
          <a:prstGeom prst="line">
            <a:avLst/>
          </a:prstGeom>
          <a:noFill/>
          <a:ln w="9525">
            <a:solidFill>
              <a:srgbClr val="0E7C7B"/>
            </a:solidFill>
            <a:prstDash val="solid"/>
          </a:ln>
        </p:spPr>
      </p:sp>
      <p:sp>
        <p:nvSpPr>
          <p:cNvPr id="52" name="Shape 49"/>
          <p:cNvSpPr/>
          <p:nvPr/>
        </p:nvSpPr>
        <p:spPr>
          <a:xfrm>
            <a:off x="457200" y="4206240"/>
            <a:ext cx="8229600" cy="411480"/>
          </a:xfrm>
          <a:prstGeom prst="rect">
            <a:avLst/>
          </a:prstGeom>
          <a:solidFill>
            <a:srgbClr val="F7F7F5"/>
          </a:solidFill>
          <a:ln w="9525">
            <a:solidFill>
              <a:srgbClr val="E5E5E5"/>
            </a:solidFill>
            <a:prstDash val="solid"/>
          </a:ln>
        </p:spPr>
      </p:sp>
      <p:sp>
        <p:nvSpPr>
          <p:cNvPr id="53" name="Text 50"/>
          <p:cNvSpPr txBox="1"/>
          <p:nvPr/>
        </p:nvSpPr>
        <p:spPr>
          <a:xfrm>
            <a:off x="685800" y="4206240"/>
            <a:ext cx="7772400" cy="411480"/>
          </a:xfrm>
          <a:prstGeom prst="rect">
            <a:avLst/>
          </a:prstGeom>
          <a:noFill/>
          <a:ln/>
        </p:spPr>
        <p:txBody>
          <a:bodyPr wrap="square" lIns="0" tIns="0" rIns="0" bIns="0" rtlCol="0" anchor="ctr"/>
          <a:lstStyle/>
          <a:p>
            <a:pPr indent="0" marL="0">
              <a:buNone/>
            </a:pPr>
            <a:r>
              <a:rPr lang="en-US" sz="900" spc="200" kern="0" dirty="0">
                <a:solidFill>
                  <a:srgbClr val="FF5700"/>
                </a:solidFill>
                <a:latin typeface="IBM Plex Mono" pitchFamily="34" charset="0"/>
                <a:ea typeface="IBM Plex Mono" pitchFamily="34" charset="-122"/>
                <a:cs typeface="IBM Plex Mono" pitchFamily="34" charset="-120"/>
              </a:rPr>
              <a:t>MCP  </a:t>
            </a:r>
            <a:pPr indent="0" marL="0">
              <a:buNone/>
            </a:pPr>
            <a:r>
              <a:rPr lang="en-US" sz="1150" dirty="0">
                <a:solidFill>
                  <a:srgbClr val="1C1C1C"/>
                </a:solidFill>
                <a:latin typeface="Geist" pitchFamily="34" charset="0"/>
                <a:ea typeface="Geist" pitchFamily="34" charset="-122"/>
                <a:cs typeface="Geist" pitchFamily="34" charset="-120"/>
              </a:rPr>
              <a:t>is USB-C for tools: one plug, any device.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457200" y="292608"/>
            <a:ext cx="8229600" cy="231140"/>
          </a:xfrm>
          <a:prstGeom prst="rect">
            <a:avLst/>
          </a:prstGeom>
          <a:noFill/>
          <a:ln/>
        </p:spPr>
        <p:txBody>
          <a:bodyPr wrap="square" lIns="0" tIns="0" rIns="0" bIns="0" rtlCol="0" anchor="ctr"/>
          <a:lstStyle/>
          <a:p>
            <a:pPr indent="0" marL="0">
              <a:buNone/>
            </a:pPr>
            <a:r>
              <a:rPr lang="en-US" sz="1400" b="1" spc="-200" kern="0" dirty="0">
                <a:solidFill>
                  <a:srgbClr val="1C1C1C"/>
                </a:solidFill>
                <a:latin typeface="Geist" pitchFamily="34" charset="0"/>
                <a:ea typeface="Geist" pitchFamily="34" charset="-122"/>
                <a:cs typeface="Geist" pitchFamily="34" charset="-120"/>
              </a:rPr>
              <a:t>learn with </a:t>
            </a:r>
            <a:pPr indent="0" marL="0">
              <a:buNone/>
            </a:pPr>
            <a:r>
              <a:rPr lang="en-US" sz="1400" b="1" spc="-200" kern="0" dirty="0">
                <a:solidFill>
                  <a:srgbClr val="FF5700"/>
                </a:solidFill>
                <a:latin typeface="Geist" pitchFamily="34" charset="0"/>
                <a:ea typeface="Geist" pitchFamily="34" charset="-122"/>
                <a:cs typeface="Geist" pitchFamily="34" charset="-120"/>
              </a:rPr>
              <a:t>harsha</a:t>
            </a:r>
            <a:pPr indent="0" marL="0">
              <a:buNone/>
            </a:pPr>
            <a:r>
              <a:rPr lang="en-US" sz="600" b="1" spc="-200" kern="0" dirty="0">
                <a:solidFill>
                  <a:srgbClr val="FF5700"/>
                </a:solidFill>
                <a:latin typeface="Geist" pitchFamily="34" charset="0"/>
                <a:ea typeface="Geist" pitchFamily="34" charset="-122"/>
                <a:cs typeface="Geist" pitchFamily="34" charset="-120"/>
              </a:rPr>
              <a:t>■</a:t>
            </a:r>
            <a:endParaRPr lang="en-US" sz="1400" dirty="0"/>
          </a:p>
        </p:txBody>
      </p:sp>
      <p:sp>
        <p:nvSpPr>
          <p:cNvPr id="4" name="Shape 1"/>
          <p:cNvSpPr/>
          <p:nvPr/>
        </p:nvSpPr>
        <p:spPr>
          <a:xfrm>
            <a:off x="457200" y="813816"/>
            <a:ext cx="91440" cy="91440"/>
          </a:xfrm>
          <a:prstGeom prst="rect">
            <a:avLst/>
          </a:prstGeom>
          <a:solidFill>
            <a:srgbClr val="FF5700"/>
          </a:solidFill>
          <a:ln/>
        </p:spPr>
      </p:sp>
      <p:sp>
        <p:nvSpPr>
          <p:cNvPr id="5" name="Text 2"/>
          <p:cNvSpPr txBox="1"/>
          <p:nvPr/>
        </p:nvSpPr>
        <p:spPr>
          <a:xfrm>
            <a:off x="621792" y="713232"/>
            <a:ext cx="6400800" cy="292608"/>
          </a:xfrm>
          <a:prstGeom prst="rect">
            <a:avLst/>
          </a:prstGeom>
          <a:noFill/>
          <a:ln/>
        </p:spPr>
        <p:txBody>
          <a:bodyPr wrap="square" lIns="0" tIns="0" rIns="0" bIns="0" rtlCol="0" anchor="ctr"/>
          <a:lstStyle/>
          <a:p>
            <a:pPr indent="0" marL="0">
              <a:buNone/>
            </a:pPr>
            <a:r>
              <a:rPr lang="en-US" sz="1000" spc="400" kern="0" dirty="0">
                <a:solidFill>
                  <a:srgbClr val="FF5700"/>
                </a:solidFill>
                <a:latin typeface="IBM Plex Mono" pitchFamily="34" charset="0"/>
                <a:ea typeface="IBM Plex Mono" pitchFamily="34" charset="-122"/>
                <a:cs typeface="IBM Plex Mono" pitchFamily="34" charset="-120"/>
              </a:rPr>
              <a:t>WHAT MCP IS</a:t>
            </a:r>
            <a:endParaRPr lang="en-US" sz="1000" dirty="0"/>
          </a:p>
        </p:txBody>
      </p:sp>
      <p:sp>
        <p:nvSpPr>
          <p:cNvPr id="6" name="Text 3"/>
          <p:cNvSpPr txBox="1"/>
          <p:nvPr/>
        </p:nvSpPr>
        <p:spPr>
          <a:xfrm>
            <a:off x="457200" y="987552"/>
            <a:ext cx="8229600" cy="640080"/>
          </a:xfrm>
          <a:prstGeom prst="rect">
            <a:avLst/>
          </a:prstGeom>
          <a:noFill/>
          <a:ln/>
        </p:spPr>
        <p:txBody>
          <a:bodyPr wrap="square" lIns="0" tIns="0" rIns="0" bIns="0" rtlCol="0" anchor="ctr"/>
          <a:lstStyle/>
          <a:p>
            <a:pPr indent="0" marL="0">
              <a:buNone/>
            </a:pPr>
            <a:r>
              <a:rPr lang="en-US" sz="2800" b="1" spc="-100" kern="0" dirty="0">
                <a:solidFill>
                  <a:srgbClr val="1C1C1C"/>
                </a:solidFill>
                <a:latin typeface="Geist" pitchFamily="34" charset="0"/>
                <a:ea typeface="Geist" pitchFamily="34" charset="-122"/>
                <a:cs typeface="Geist" pitchFamily="34" charset="-120"/>
              </a:rPr>
              <a:t>Client ↔ server, over JSON-RPC</a:t>
            </a:r>
            <a:endParaRPr lang="en-US" sz="2800" dirty="0"/>
          </a:p>
        </p:txBody>
      </p:sp>
      <p:sp>
        <p:nvSpPr>
          <p:cNvPr id="7" name="Text 4"/>
          <p:cNvSpPr txBox="1"/>
          <p:nvPr/>
        </p:nvSpPr>
        <p:spPr>
          <a:xfrm>
            <a:off x="457200" y="4754880"/>
            <a:ext cx="5943600" cy="228600"/>
          </a:xfrm>
          <a:prstGeom prst="rect">
            <a:avLst/>
          </a:prstGeom>
          <a:noFill/>
          <a:ln/>
        </p:spPr>
        <p:txBody>
          <a:bodyPr wrap="square" lIns="0" tIns="0" rIns="0" bIns="0" rtlCol="0" anchor="ctr"/>
          <a:lstStyle/>
          <a:p>
            <a:pP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 Learning · The Agentic Enterprise · Ep 3</a:t>
            </a:r>
            <a:endParaRPr lang="en-US" sz="800" dirty="0"/>
          </a:p>
        </p:txBody>
      </p:sp>
      <p:sp>
        <p:nvSpPr>
          <p:cNvPr id="8" name="Text 5"/>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arthashastra.ai</a:t>
            </a:r>
            <a:endParaRPr lang="en-US" sz="800" dirty="0"/>
          </a:p>
        </p:txBody>
      </p:sp>
      <p:sp>
        <p:nvSpPr>
          <p:cNvPr id="9" name="Shape 6"/>
          <p:cNvSpPr/>
          <p:nvPr/>
        </p:nvSpPr>
        <p:spPr>
          <a:xfrm>
            <a:off x="457200" y="1828800"/>
            <a:ext cx="2194560" cy="822960"/>
          </a:xfrm>
          <a:prstGeom prst="rect">
            <a:avLst/>
          </a:prstGeom>
          <a:solidFill>
            <a:srgbClr val="F7F7F5"/>
          </a:solidFill>
          <a:ln w="9525">
            <a:solidFill>
              <a:srgbClr val="E5E5E5"/>
            </a:solidFill>
            <a:prstDash val="solid"/>
          </a:ln>
        </p:spPr>
      </p:sp>
      <p:sp>
        <p:nvSpPr>
          <p:cNvPr id="10" name="Text 7"/>
          <p:cNvSpPr txBox="1"/>
          <p:nvPr/>
        </p:nvSpPr>
        <p:spPr>
          <a:xfrm>
            <a:off x="457200" y="1828800"/>
            <a:ext cx="2194560" cy="822960"/>
          </a:xfrm>
          <a:prstGeom prst="rect">
            <a:avLst/>
          </a:prstGeom>
          <a:noFill/>
          <a:ln/>
        </p:spPr>
        <p:txBody>
          <a:bodyPr wrap="square" lIns="635" tIns="635" rIns="635" bIns="635" rtlCol="0" anchor="ctr"/>
          <a:lstStyle/>
          <a:p>
            <a:pPr algn="ctr" indent="0" marL="0">
              <a:buNone/>
            </a:pPr>
            <a:r>
              <a:rPr lang="en-US" sz="1000" b="1" dirty="0">
                <a:solidFill>
                  <a:srgbClr val="1C1C1C"/>
                </a:solidFill>
                <a:latin typeface="Geist" pitchFamily="34" charset="0"/>
                <a:ea typeface="Geist" pitchFamily="34" charset="-122"/>
                <a:cs typeface="Geist" pitchFamily="34" charset="-120"/>
              </a:rPr>
              <a:t>MCP client</a:t>
            </a:r>
            <a:endParaRPr lang="en-US" sz="1000" dirty="0"/>
          </a:p>
          <a:p>
            <a:pPr algn="ctr" indent="0" marL="0">
              <a:buNone/>
            </a:pPr>
            <a:r>
              <a:rPr lang="en-US" sz="1000" b="1" dirty="0">
                <a:solidFill>
                  <a:srgbClr val="1C1C1C"/>
                </a:solidFill>
                <a:latin typeface="Geist" pitchFamily="34" charset="0"/>
                <a:ea typeface="Geist" pitchFamily="34" charset="-122"/>
                <a:cs typeface="Geist" pitchFamily="34" charset="-120"/>
              </a:rPr>
              <a:t>(Claude, Cursor, your agent)</a:t>
            </a:r>
            <a:endParaRPr lang="en-US" sz="1000" dirty="0"/>
          </a:p>
        </p:txBody>
      </p:sp>
      <p:sp>
        <p:nvSpPr>
          <p:cNvPr id="11" name="Shape 8"/>
          <p:cNvSpPr/>
          <p:nvPr/>
        </p:nvSpPr>
        <p:spPr>
          <a:xfrm>
            <a:off x="2697480" y="2240280"/>
            <a:ext cx="1280160" cy="0"/>
          </a:xfrm>
          <a:prstGeom prst="line">
            <a:avLst/>
          </a:prstGeom>
          <a:noFill/>
          <a:ln w="15875">
            <a:solidFill>
              <a:srgbClr val="FF5700"/>
            </a:solidFill>
            <a:prstDash val="solid"/>
            <a:headEnd type="triangle"/>
            <a:tailEnd type="triangle"/>
          </a:ln>
        </p:spPr>
      </p:sp>
      <p:sp>
        <p:nvSpPr>
          <p:cNvPr id="12" name="Text 9"/>
          <p:cNvSpPr txBox="1"/>
          <p:nvPr/>
        </p:nvSpPr>
        <p:spPr>
          <a:xfrm>
            <a:off x="2697480" y="1920240"/>
            <a:ext cx="1280160" cy="274320"/>
          </a:xfrm>
          <a:prstGeom prst="rect">
            <a:avLst/>
          </a:prstGeom>
          <a:noFill/>
          <a:ln/>
        </p:spPr>
        <p:txBody>
          <a:bodyPr wrap="square" lIns="0" tIns="0" rIns="0" bIns="0" rtlCol="0" anchor="ctr"/>
          <a:lstStyle/>
          <a:p>
            <a:pPr algn="ctr" indent="0" marL="0">
              <a:buNone/>
            </a:pPr>
            <a:r>
              <a:rPr lang="en-US" sz="800" dirty="0">
                <a:solidFill>
                  <a:srgbClr val="FF5700"/>
                </a:solidFill>
                <a:latin typeface="IBM Plex Mono" pitchFamily="34" charset="0"/>
                <a:ea typeface="IBM Plex Mono" pitchFamily="34" charset="-122"/>
                <a:cs typeface="IBM Plex Mono" pitchFamily="34" charset="-120"/>
              </a:rPr>
              <a:t>JSON-RPC 2.0</a:t>
            </a:r>
            <a:endParaRPr lang="en-US" sz="800" dirty="0"/>
          </a:p>
        </p:txBody>
      </p:sp>
      <p:sp>
        <p:nvSpPr>
          <p:cNvPr id="13" name="Text 10"/>
          <p:cNvSpPr txBox="1"/>
          <p:nvPr/>
        </p:nvSpPr>
        <p:spPr>
          <a:xfrm>
            <a:off x="2606040" y="2331720"/>
            <a:ext cx="1463040" cy="274320"/>
          </a:xfrm>
          <a:prstGeom prst="rect">
            <a:avLst/>
          </a:prstGeom>
          <a:noFill/>
          <a:ln/>
        </p:spPr>
        <p:txBody>
          <a:bodyPr wrap="square" lIns="0" tIns="0" rIns="0" bIns="0" rtlCol="0" anchor="ctr"/>
          <a:lstStyle/>
          <a:p>
            <a:pPr algn="ctr" indent="0" marL="0">
              <a:buNone/>
            </a:pPr>
            <a:r>
              <a:rPr lang="en-US" sz="850" dirty="0">
                <a:solidFill>
                  <a:srgbClr val="919191"/>
                </a:solidFill>
                <a:latin typeface="Geist" pitchFamily="34" charset="0"/>
                <a:ea typeface="Geist" pitchFamily="34" charset="-122"/>
                <a:cs typeface="Geist" pitchFamily="34" charset="-120"/>
              </a:rPr>
              <a:t>stdio · Streamable HTTP</a:t>
            </a:r>
            <a:endParaRPr lang="en-US" sz="850" dirty="0"/>
          </a:p>
        </p:txBody>
      </p:sp>
      <p:sp>
        <p:nvSpPr>
          <p:cNvPr id="14" name="Shape 11"/>
          <p:cNvSpPr/>
          <p:nvPr/>
        </p:nvSpPr>
        <p:spPr>
          <a:xfrm>
            <a:off x="4023360" y="1828800"/>
            <a:ext cx="2103120" cy="822960"/>
          </a:xfrm>
          <a:prstGeom prst="rect">
            <a:avLst/>
          </a:prstGeom>
          <a:solidFill>
            <a:srgbClr val="FFFFFF"/>
          </a:solidFill>
          <a:ln w="15875">
            <a:solidFill>
              <a:srgbClr val="FF5700"/>
            </a:solidFill>
            <a:prstDash val="solid"/>
          </a:ln>
        </p:spPr>
      </p:sp>
      <p:sp>
        <p:nvSpPr>
          <p:cNvPr id="15" name="Text 12"/>
          <p:cNvSpPr txBox="1"/>
          <p:nvPr/>
        </p:nvSpPr>
        <p:spPr>
          <a:xfrm>
            <a:off x="4023360" y="1828800"/>
            <a:ext cx="2103120" cy="822960"/>
          </a:xfrm>
          <a:prstGeom prst="rect">
            <a:avLst/>
          </a:prstGeom>
          <a:noFill/>
          <a:ln/>
        </p:spPr>
        <p:txBody>
          <a:bodyPr wrap="square" lIns="635" tIns="635" rIns="635" bIns="635" rtlCol="0" anchor="ctr"/>
          <a:lstStyle/>
          <a:p>
            <a:pPr algn="ctr" indent="0" marL="0">
              <a:buNone/>
            </a:pPr>
            <a:r>
              <a:rPr lang="en-US" sz="1000" b="1" dirty="0">
                <a:solidFill>
                  <a:srgbClr val="FF5700"/>
                </a:solidFill>
                <a:latin typeface="Geist" pitchFamily="34" charset="0"/>
                <a:ea typeface="Geist" pitchFamily="34" charset="-122"/>
                <a:cs typeface="Geist" pitchFamily="34" charset="-120"/>
              </a:rPr>
              <a:t>MCP server</a:t>
            </a:r>
            <a:endParaRPr lang="en-US" sz="1000" dirty="0"/>
          </a:p>
          <a:p>
            <a:pPr algn="ctr" indent="0" marL="0">
              <a:buNone/>
            </a:pPr>
            <a:r>
              <a:rPr lang="en-US" sz="1000" b="1" dirty="0">
                <a:solidFill>
                  <a:srgbClr val="FF5700"/>
                </a:solidFill>
                <a:latin typeface="Geist" pitchFamily="34" charset="0"/>
                <a:ea typeface="Geist" pitchFamily="34" charset="-122"/>
                <a:cs typeface="Geist" pitchFamily="34" charset="-120"/>
              </a:rPr>
              <a:t>(one per module)</a:t>
            </a:r>
            <a:endParaRPr lang="en-US" sz="1000" dirty="0"/>
          </a:p>
        </p:txBody>
      </p:sp>
      <p:sp>
        <p:nvSpPr>
          <p:cNvPr id="16" name="Shape 13"/>
          <p:cNvSpPr/>
          <p:nvPr/>
        </p:nvSpPr>
        <p:spPr>
          <a:xfrm>
            <a:off x="6172200" y="2240280"/>
            <a:ext cx="457200" cy="0"/>
          </a:xfrm>
          <a:prstGeom prst="line">
            <a:avLst/>
          </a:prstGeom>
          <a:noFill/>
          <a:ln w="15875">
            <a:solidFill>
              <a:srgbClr val="919191"/>
            </a:solidFill>
            <a:prstDash val="solid"/>
            <a:tailEnd type="triangle"/>
          </a:ln>
        </p:spPr>
      </p:sp>
      <p:sp>
        <p:nvSpPr>
          <p:cNvPr id="17" name="Shape 14"/>
          <p:cNvSpPr/>
          <p:nvPr/>
        </p:nvSpPr>
        <p:spPr>
          <a:xfrm>
            <a:off x="6675120" y="1828800"/>
            <a:ext cx="2011680" cy="822960"/>
          </a:xfrm>
          <a:prstGeom prst="rect">
            <a:avLst/>
          </a:prstGeom>
          <a:solidFill>
            <a:srgbClr val="F7F7F5"/>
          </a:solidFill>
          <a:ln w="9525">
            <a:solidFill>
              <a:srgbClr val="E5E5E5"/>
            </a:solidFill>
            <a:prstDash val="solid"/>
          </a:ln>
        </p:spPr>
      </p:sp>
      <p:sp>
        <p:nvSpPr>
          <p:cNvPr id="18" name="Text 15"/>
          <p:cNvSpPr txBox="1"/>
          <p:nvPr/>
        </p:nvSpPr>
        <p:spPr>
          <a:xfrm>
            <a:off x="6675120" y="1828800"/>
            <a:ext cx="2011680" cy="822960"/>
          </a:xfrm>
          <a:prstGeom prst="rect">
            <a:avLst/>
          </a:prstGeom>
          <a:noFill/>
          <a:ln/>
        </p:spPr>
        <p:txBody>
          <a:bodyPr wrap="square" lIns="635" tIns="635" rIns="635" bIns="635" rtlCol="0" anchor="ctr"/>
          <a:lstStyle/>
          <a:p>
            <a:pPr algn="ctr" indent="0" marL="0">
              <a:buNone/>
            </a:pPr>
            <a:r>
              <a:rPr lang="en-US" sz="1000" b="1" dirty="0">
                <a:solidFill>
                  <a:srgbClr val="1C1C1C"/>
                </a:solidFill>
                <a:latin typeface="Geist" pitchFamily="34" charset="0"/>
                <a:ea typeface="Geist" pitchFamily="34" charset="-122"/>
                <a:cs typeface="Geist" pitchFamily="34" charset="-120"/>
              </a:rPr>
              <a:t>ERP database</a:t>
            </a:r>
            <a:endParaRPr lang="en-US" sz="1000" dirty="0"/>
          </a:p>
          <a:p>
            <a:pPr algn="ctr" indent="0" marL="0">
              <a:buNone/>
            </a:pPr>
            <a:r>
              <a:rPr lang="en-US" sz="1000" b="1" dirty="0">
                <a:solidFill>
                  <a:srgbClr val="1C1C1C"/>
                </a:solidFill>
                <a:latin typeface="Geist" pitchFamily="34" charset="0"/>
                <a:ea typeface="Geist" pitchFamily="34" charset="-122"/>
                <a:cs typeface="Geist" pitchFamily="34" charset="-120"/>
              </a:rPr>
              <a:t>(Postgres)</a:t>
            </a:r>
            <a:endParaRPr lang="en-US" sz="1000" dirty="0"/>
          </a:p>
        </p:txBody>
      </p:sp>
      <p:sp>
        <p:nvSpPr>
          <p:cNvPr id="19" name="Text 16"/>
          <p:cNvSpPr txBox="1"/>
          <p:nvPr/>
        </p:nvSpPr>
        <p:spPr>
          <a:xfrm>
            <a:off x="457200" y="2880360"/>
            <a:ext cx="8229600" cy="274320"/>
          </a:xfrm>
          <a:prstGeom prst="rect">
            <a:avLst/>
          </a:prstGeom>
          <a:noFill/>
          <a:ln/>
        </p:spPr>
        <p:txBody>
          <a:bodyPr wrap="square" lIns="0" tIns="0" rIns="0" bIns="0" rtlCol="0" anchor="t"/>
          <a:lstStyle/>
          <a:p>
            <a:pPr indent="0" marL="0">
              <a:buNone/>
            </a:pPr>
            <a:r>
              <a:rPr lang="en-US" sz="900" dirty="0">
                <a:solidFill>
                  <a:srgbClr val="FF5700"/>
                </a:solidFill>
                <a:latin typeface="IBM Plex Mono" pitchFamily="34" charset="0"/>
                <a:ea typeface="IBM Plex Mono" pitchFamily="34" charset="-122"/>
                <a:cs typeface="IBM Plex Mono" pitchFamily="34" charset="-120"/>
              </a:rPr>
              <a:t>A SERVER EXPOSES THREE THINGS</a:t>
            </a:r>
            <a:endParaRPr lang="en-US" sz="900" dirty="0"/>
          </a:p>
        </p:txBody>
      </p:sp>
      <p:sp>
        <p:nvSpPr>
          <p:cNvPr id="20" name="Shape 17"/>
          <p:cNvSpPr/>
          <p:nvPr/>
        </p:nvSpPr>
        <p:spPr>
          <a:xfrm>
            <a:off x="457200" y="3200400"/>
            <a:ext cx="2606040" cy="1097280"/>
          </a:xfrm>
          <a:prstGeom prst="rect">
            <a:avLst/>
          </a:prstGeom>
          <a:solidFill>
            <a:srgbClr val="F7F7F5"/>
          </a:solidFill>
          <a:ln w="9525">
            <a:solidFill>
              <a:srgbClr val="E5E5E5"/>
            </a:solidFill>
            <a:prstDash val="solid"/>
          </a:ln>
        </p:spPr>
      </p:sp>
      <p:sp>
        <p:nvSpPr>
          <p:cNvPr id="21" name="Text 18"/>
          <p:cNvSpPr txBox="1"/>
          <p:nvPr/>
        </p:nvSpPr>
        <p:spPr>
          <a:xfrm>
            <a:off x="685800" y="3310128"/>
            <a:ext cx="1645920" cy="320040"/>
          </a:xfrm>
          <a:prstGeom prst="rect">
            <a:avLst/>
          </a:prstGeom>
          <a:noFill/>
          <a:ln/>
        </p:spPr>
        <p:txBody>
          <a:bodyPr wrap="square" lIns="0" tIns="0" rIns="0" bIns="0" rtlCol="0" anchor="t"/>
          <a:lstStyle/>
          <a:p>
            <a:pPr indent="0" marL="0">
              <a:buNone/>
            </a:pPr>
            <a:r>
              <a:rPr lang="en-US" sz="1500" b="1" spc="-50" kern="0" dirty="0">
                <a:solidFill>
                  <a:srgbClr val="1C1C1C"/>
                </a:solidFill>
                <a:latin typeface="Geist" pitchFamily="34" charset="0"/>
                <a:ea typeface="Geist" pitchFamily="34" charset="-122"/>
                <a:cs typeface="Geist" pitchFamily="34" charset="-120"/>
              </a:rPr>
              <a:t>Tools</a:t>
            </a:r>
            <a:endParaRPr lang="en-US" sz="1500" dirty="0"/>
          </a:p>
        </p:txBody>
      </p:sp>
      <p:sp>
        <p:nvSpPr>
          <p:cNvPr id="22" name="Text 19"/>
          <p:cNvSpPr txBox="1"/>
          <p:nvPr/>
        </p:nvSpPr>
        <p:spPr>
          <a:xfrm>
            <a:off x="2194560" y="3337560"/>
            <a:ext cx="640080" cy="274320"/>
          </a:xfrm>
          <a:prstGeom prst="rect">
            <a:avLst/>
          </a:prstGeom>
          <a:noFill/>
          <a:ln/>
        </p:spPr>
        <p:txBody>
          <a:bodyPr wrap="square" lIns="0" tIns="0" rIns="0" bIns="0" rtlCol="0" anchor="ctr"/>
          <a:lstStyle/>
          <a:p>
            <a:pPr algn="r" indent="0" marL="0">
              <a:buNone/>
            </a:pPr>
            <a:r>
              <a:rPr lang="en-US" sz="800" dirty="0">
                <a:solidFill>
                  <a:srgbClr val="FF5700"/>
                </a:solidFill>
                <a:latin typeface="IBM Plex Mono" pitchFamily="34" charset="0"/>
                <a:ea typeface="IBM Plex Mono" pitchFamily="34" charset="-122"/>
                <a:cs typeface="IBM Plex Mono" pitchFamily="34" charset="-120"/>
              </a:rPr>
              <a:t>today</a:t>
            </a:r>
            <a:endParaRPr lang="en-US" sz="800" dirty="0"/>
          </a:p>
        </p:txBody>
      </p:sp>
      <p:sp>
        <p:nvSpPr>
          <p:cNvPr id="23" name="Text 20"/>
          <p:cNvSpPr txBox="1"/>
          <p:nvPr/>
        </p:nvSpPr>
        <p:spPr>
          <a:xfrm>
            <a:off x="685800" y="3657600"/>
            <a:ext cx="2194560" cy="548640"/>
          </a:xfrm>
          <a:prstGeom prst="rect">
            <a:avLst/>
          </a:prstGeom>
          <a:noFill/>
          <a:ln/>
        </p:spPr>
        <p:txBody>
          <a:bodyPr wrap="square" lIns="0" tIns="0" rIns="0" bIns="0" rtlCol="0" anchor="t"/>
          <a:lstStyle/>
          <a:p>
            <a:pPr indent="0" marL="0">
              <a:buNone/>
            </a:pPr>
            <a:r>
              <a:rPr lang="en-US" sz="1050" dirty="0">
                <a:solidFill>
                  <a:srgbClr val="6B7280"/>
                </a:solidFill>
                <a:latin typeface="Geist" pitchFamily="34" charset="0"/>
                <a:ea typeface="Geist" pitchFamily="34" charset="-122"/>
                <a:cs typeface="Geist" pitchFamily="34" charset="-120"/>
              </a:rPr>
              <a:t>actions the model can call — functions with a schema</a:t>
            </a:r>
            <a:endParaRPr lang="en-US" sz="1050" dirty="0"/>
          </a:p>
        </p:txBody>
      </p:sp>
      <p:sp>
        <p:nvSpPr>
          <p:cNvPr id="24" name="Shape 21"/>
          <p:cNvSpPr/>
          <p:nvPr/>
        </p:nvSpPr>
        <p:spPr>
          <a:xfrm>
            <a:off x="3246120" y="3200400"/>
            <a:ext cx="2606040" cy="1097280"/>
          </a:xfrm>
          <a:prstGeom prst="rect">
            <a:avLst/>
          </a:prstGeom>
          <a:solidFill>
            <a:srgbClr val="FFFFFF"/>
          </a:solidFill>
          <a:ln w="9525">
            <a:solidFill>
              <a:srgbClr val="E5E5E5"/>
            </a:solidFill>
            <a:prstDash val="solid"/>
          </a:ln>
        </p:spPr>
      </p:sp>
      <p:sp>
        <p:nvSpPr>
          <p:cNvPr id="25" name="Text 22"/>
          <p:cNvSpPr txBox="1"/>
          <p:nvPr/>
        </p:nvSpPr>
        <p:spPr>
          <a:xfrm>
            <a:off x="3474720" y="3310128"/>
            <a:ext cx="1645920" cy="320040"/>
          </a:xfrm>
          <a:prstGeom prst="rect">
            <a:avLst/>
          </a:prstGeom>
          <a:noFill/>
          <a:ln/>
        </p:spPr>
        <p:txBody>
          <a:bodyPr wrap="square" lIns="0" tIns="0" rIns="0" bIns="0" rtlCol="0" anchor="t"/>
          <a:lstStyle/>
          <a:p>
            <a:pPr indent="0" marL="0">
              <a:buNone/>
            </a:pPr>
            <a:r>
              <a:rPr lang="en-US" sz="1500" b="1" spc="-50" kern="0" dirty="0">
                <a:solidFill>
                  <a:srgbClr val="1C1C1C"/>
                </a:solidFill>
                <a:latin typeface="Geist" pitchFamily="34" charset="0"/>
                <a:ea typeface="Geist" pitchFamily="34" charset="-122"/>
                <a:cs typeface="Geist" pitchFamily="34" charset="-120"/>
              </a:rPr>
              <a:t>Resources</a:t>
            </a:r>
            <a:endParaRPr lang="en-US" sz="1500" dirty="0"/>
          </a:p>
        </p:txBody>
      </p:sp>
      <p:sp>
        <p:nvSpPr>
          <p:cNvPr id="26" name="Text 23"/>
          <p:cNvSpPr txBox="1"/>
          <p:nvPr/>
        </p:nvSpPr>
        <p:spPr>
          <a:xfrm>
            <a:off x="4983480" y="3337560"/>
            <a:ext cx="640080" cy="274320"/>
          </a:xfrm>
          <a:prstGeom prst="rect">
            <a:avLst/>
          </a:prstGeom>
          <a:noFill/>
          <a:ln/>
        </p:spPr>
        <p:txBody>
          <a:bodyPr wrap="square" lIns="0" tIns="0" rIns="0" bIns="0" rtlCol="0" anchor="ctr"/>
          <a:lstStyle/>
          <a:p>
            <a:pPr algn="r" indent="0" marL="0">
              <a:buNone/>
            </a:pPr>
            <a:r>
              <a:rPr lang="en-US" sz="800" dirty="0">
                <a:solidFill>
                  <a:srgbClr val="919191"/>
                </a:solidFill>
                <a:latin typeface="IBM Plex Mono" pitchFamily="34" charset="0"/>
                <a:ea typeface="IBM Plex Mono" pitchFamily="34" charset="-122"/>
                <a:cs typeface="IBM Plex Mono" pitchFamily="34" charset="-120"/>
              </a:rPr>
              <a:t>later</a:t>
            </a:r>
            <a:endParaRPr lang="en-US" sz="800" dirty="0"/>
          </a:p>
        </p:txBody>
      </p:sp>
      <p:sp>
        <p:nvSpPr>
          <p:cNvPr id="27" name="Text 24"/>
          <p:cNvSpPr txBox="1"/>
          <p:nvPr/>
        </p:nvSpPr>
        <p:spPr>
          <a:xfrm>
            <a:off x="3474720" y="3657600"/>
            <a:ext cx="2194560" cy="548640"/>
          </a:xfrm>
          <a:prstGeom prst="rect">
            <a:avLst/>
          </a:prstGeom>
          <a:noFill/>
          <a:ln/>
        </p:spPr>
        <p:txBody>
          <a:bodyPr wrap="square" lIns="0" tIns="0" rIns="0" bIns="0" rtlCol="0" anchor="t"/>
          <a:lstStyle/>
          <a:p>
            <a:pPr indent="0" marL="0">
              <a:buNone/>
            </a:pPr>
            <a:r>
              <a:rPr lang="en-US" sz="1050" dirty="0">
                <a:solidFill>
                  <a:srgbClr val="6B7280"/>
                </a:solidFill>
                <a:latin typeface="Geist" pitchFamily="34" charset="0"/>
                <a:ea typeface="Geist" pitchFamily="34" charset="-122"/>
                <a:cs typeface="Geist" pitchFamily="34" charset="-120"/>
              </a:rPr>
              <a:t>data the client can read — records, files, URIs</a:t>
            </a:r>
            <a:endParaRPr lang="en-US" sz="1050" dirty="0"/>
          </a:p>
        </p:txBody>
      </p:sp>
      <p:sp>
        <p:nvSpPr>
          <p:cNvPr id="28" name="Shape 25"/>
          <p:cNvSpPr/>
          <p:nvPr/>
        </p:nvSpPr>
        <p:spPr>
          <a:xfrm>
            <a:off x="6035040" y="3200400"/>
            <a:ext cx="2606040" cy="1097280"/>
          </a:xfrm>
          <a:prstGeom prst="rect">
            <a:avLst/>
          </a:prstGeom>
          <a:solidFill>
            <a:srgbClr val="FFFFFF"/>
          </a:solidFill>
          <a:ln w="9525">
            <a:solidFill>
              <a:srgbClr val="E5E5E5"/>
            </a:solidFill>
            <a:prstDash val="solid"/>
          </a:ln>
        </p:spPr>
      </p:sp>
      <p:sp>
        <p:nvSpPr>
          <p:cNvPr id="29" name="Text 26"/>
          <p:cNvSpPr txBox="1"/>
          <p:nvPr/>
        </p:nvSpPr>
        <p:spPr>
          <a:xfrm>
            <a:off x="6263640" y="3310128"/>
            <a:ext cx="1645920" cy="320040"/>
          </a:xfrm>
          <a:prstGeom prst="rect">
            <a:avLst/>
          </a:prstGeom>
          <a:noFill/>
          <a:ln/>
        </p:spPr>
        <p:txBody>
          <a:bodyPr wrap="square" lIns="0" tIns="0" rIns="0" bIns="0" rtlCol="0" anchor="t"/>
          <a:lstStyle/>
          <a:p>
            <a:pPr indent="0" marL="0">
              <a:buNone/>
            </a:pPr>
            <a:r>
              <a:rPr lang="en-US" sz="1500" b="1" spc="-50" kern="0" dirty="0">
                <a:solidFill>
                  <a:srgbClr val="1C1C1C"/>
                </a:solidFill>
                <a:latin typeface="Geist" pitchFamily="34" charset="0"/>
                <a:ea typeface="Geist" pitchFamily="34" charset="-122"/>
                <a:cs typeface="Geist" pitchFamily="34" charset="-120"/>
              </a:rPr>
              <a:t>Prompts</a:t>
            </a:r>
            <a:endParaRPr lang="en-US" sz="1500" dirty="0"/>
          </a:p>
        </p:txBody>
      </p:sp>
      <p:sp>
        <p:nvSpPr>
          <p:cNvPr id="30" name="Text 27"/>
          <p:cNvSpPr txBox="1"/>
          <p:nvPr/>
        </p:nvSpPr>
        <p:spPr>
          <a:xfrm>
            <a:off x="7772400" y="3337560"/>
            <a:ext cx="640080" cy="274320"/>
          </a:xfrm>
          <a:prstGeom prst="rect">
            <a:avLst/>
          </a:prstGeom>
          <a:noFill/>
          <a:ln/>
        </p:spPr>
        <p:txBody>
          <a:bodyPr wrap="square" lIns="0" tIns="0" rIns="0" bIns="0" rtlCol="0" anchor="ctr"/>
          <a:lstStyle/>
          <a:p>
            <a:pPr algn="r" indent="0" marL="0">
              <a:buNone/>
            </a:pPr>
            <a:r>
              <a:rPr lang="en-US" sz="800" dirty="0">
                <a:solidFill>
                  <a:srgbClr val="919191"/>
                </a:solidFill>
                <a:latin typeface="IBM Plex Mono" pitchFamily="34" charset="0"/>
                <a:ea typeface="IBM Plex Mono" pitchFamily="34" charset="-122"/>
                <a:cs typeface="IBM Plex Mono" pitchFamily="34" charset="-120"/>
              </a:rPr>
              <a:t>later</a:t>
            </a:r>
            <a:endParaRPr lang="en-US" sz="800" dirty="0"/>
          </a:p>
        </p:txBody>
      </p:sp>
      <p:sp>
        <p:nvSpPr>
          <p:cNvPr id="31" name="Text 28"/>
          <p:cNvSpPr txBox="1"/>
          <p:nvPr/>
        </p:nvSpPr>
        <p:spPr>
          <a:xfrm>
            <a:off x="6263640" y="3657600"/>
            <a:ext cx="2194560" cy="548640"/>
          </a:xfrm>
          <a:prstGeom prst="rect">
            <a:avLst/>
          </a:prstGeom>
          <a:noFill/>
          <a:ln/>
        </p:spPr>
        <p:txBody>
          <a:bodyPr wrap="square" lIns="0" tIns="0" rIns="0" bIns="0" rtlCol="0" anchor="t"/>
          <a:lstStyle/>
          <a:p>
            <a:pPr indent="0" marL="0">
              <a:buNone/>
            </a:pPr>
            <a:r>
              <a:rPr lang="en-US" sz="1050" dirty="0">
                <a:solidFill>
                  <a:srgbClr val="6B7280"/>
                </a:solidFill>
                <a:latin typeface="Geist" pitchFamily="34" charset="0"/>
                <a:ea typeface="Geist" pitchFamily="34" charset="-122"/>
                <a:cs typeface="Geist" pitchFamily="34" charset="-120"/>
              </a:rPr>
              <a:t>reusable templates the client can offer the user</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457200" y="292608"/>
            <a:ext cx="8229600" cy="231140"/>
          </a:xfrm>
          <a:prstGeom prst="rect">
            <a:avLst/>
          </a:prstGeom>
          <a:noFill/>
          <a:ln/>
        </p:spPr>
        <p:txBody>
          <a:bodyPr wrap="square" lIns="0" tIns="0" rIns="0" bIns="0" rtlCol="0" anchor="ctr"/>
          <a:lstStyle/>
          <a:p>
            <a:pPr indent="0" marL="0">
              <a:buNone/>
            </a:pPr>
            <a:r>
              <a:rPr lang="en-US" sz="1400" b="1" spc="-200" kern="0" dirty="0">
                <a:solidFill>
                  <a:srgbClr val="1C1C1C"/>
                </a:solidFill>
                <a:latin typeface="Geist" pitchFamily="34" charset="0"/>
                <a:ea typeface="Geist" pitchFamily="34" charset="-122"/>
                <a:cs typeface="Geist" pitchFamily="34" charset="-120"/>
              </a:rPr>
              <a:t>learn with </a:t>
            </a:r>
            <a:pPr indent="0" marL="0">
              <a:buNone/>
            </a:pPr>
            <a:r>
              <a:rPr lang="en-US" sz="1400" b="1" spc="-200" kern="0" dirty="0">
                <a:solidFill>
                  <a:srgbClr val="FF5700"/>
                </a:solidFill>
                <a:latin typeface="Geist" pitchFamily="34" charset="0"/>
                <a:ea typeface="Geist" pitchFamily="34" charset="-122"/>
                <a:cs typeface="Geist" pitchFamily="34" charset="-120"/>
              </a:rPr>
              <a:t>harsha</a:t>
            </a:r>
            <a:pPr indent="0" marL="0">
              <a:buNone/>
            </a:pPr>
            <a:r>
              <a:rPr lang="en-US" sz="600" b="1" spc="-200" kern="0" dirty="0">
                <a:solidFill>
                  <a:srgbClr val="FF5700"/>
                </a:solidFill>
                <a:latin typeface="Geist" pitchFamily="34" charset="0"/>
                <a:ea typeface="Geist" pitchFamily="34" charset="-122"/>
                <a:cs typeface="Geist" pitchFamily="34" charset="-120"/>
              </a:rPr>
              <a:t>■</a:t>
            </a:r>
            <a:endParaRPr lang="en-US" sz="1400" dirty="0"/>
          </a:p>
        </p:txBody>
      </p:sp>
      <p:sp>
        <p:nvSpPr>
          <p:cNvPr id="4" name="Shape 1"/>
          <p:cNvSpPr/>
          <p:nvPr/>
        </p:nvSpPr>
        <p:spPr>
          <a:xfrm>
            <a:off x="457200" y="813816"/>
            <a:ext cx="91440" cy="91440"/>
          </a:xfrm>
          <a:prstGeom prst="rect">
            <a:avLst/>
          </a:prstGeom>
          <a:solidFill>
            <a:srgbClr val="FF5700"/>
          </a:solidFill>
          <a:ln/>
        </p:spPr>
      </p:sp>
      <p:sp>
        <p:nvSpPr>
          <p:cNvPr id="5" name="Text 2"/>
          <p:cNvSpPr txBox="1"/>
          <p:nvPr/>
        </p:nvSpPr>
        <p:spPr>
          <a:xfrm>
            <a:off x="621792" y="713232"/>
            <a:ext cx="6400800" cy="292608"/>
          </a:xfrm>
          <a:prstGeom prst="rect">
            <a:avLst/>
          </a:prstGeom>
          <a:noFill/>
          <a:ln/>
        </p:spPr>
        <p:txBody>
          <a:bodyPr wrap="square" lIns="0" tIns="0" rIns="0" bIns="0" rtlCol="0" anchor="ctr"/>
          <a:lstStyle/>
          <a:p>
            <a:pPr indent="0" marL="0">
              <a:buNone/>
            </a:pPr>
            <a:r>
              <a:rPr lang="en-US" sz="1000" spc="400" kern="0" dirty="0">
                <a:solidFill>
                  <a:srgbClr val="FF5700"/>
                </a:solidFill>
                <a:latin typeface="IBM Plex Mono" pitchFamily="34" charset="0"/>
                <a:ea typeface="IBM Plex Mono" pitchFamily="34" charset="-122"/>
                <a:cs typeface="IBM Plex Mono" pitchFamily="34" charset="-120"/>
              </a:rPr>
              <a:t>WHAT MCP IS NOT</a:t>
            </a:r>
            <a:endParaRPr lang="en-US" sz="1000" dirty="0"/>
          </a:p>
        </p:txBody>
      </p:sp>
      <p:sp>
        <p:nvSpPr>
          <p:cNvPr id="6" name="Text 3"/>
          <p:cNvSpPr txBox="1"/>
          <p:nvPr/>
        </p:nvSpPr>
        <p:spPr>
          <a:xfrm>
            <a:off x="457200" y="987552"/>
            <a:ext cx="8229600" cy="640080"/>
          </a:xfrm>
          <a:prstGeom prst="rect">
            <a:avLst/>
          </a:prstGeom>
          <a:noFill/>
          <a:ln/>
        </p:spPr>
        <p:txBody>
          <a:bodyPr wrap="square" lIns="0" tIns="0" rIns="0" bIns="0" rtlCol="0" anchor="ctr"/>
          <a:lstStyle/>
          <a:p>
            <a:pPr indent="0" marL="0">
              <a:buNone/>
            </a:pPr>
            <a:r>
              <a:rPr lang="en-US" sz="2800" b="1" spc="-100" kern="0" dirty="0">
                <a:solidFill>
                  <a:srgbClr val="1C1C1C"/>
                </a:solidFill>
                <a:latin typeface="Geist" pitchFamily="34" charset="0"/>
                <a:ea typeface="Geist" pitchFamily="34" charset="-122"/>
                <a:cs typeface="Geist" pitchFamily="34" charset="-120"/>
              </a:rPr>
              <a:t>The plug, not the appliance</a:t>
            </a:r>
            <a:endParaRPr lang="en-US" sz="2800" dirty="0"/>
          </a:p>
        </p:txBody>
      </p:sp>
      <p:sp>
        <p:nvSpPr>
          <p:cNvPr id="7" name="Text 4"/>
          <p:cNvSpPr txBox="1"/>
          <p:nvPr/>
        </p:nvSpPr>
        <p:spPr>
          <a:xfrm>
            <a:off x="457200" y="4754880"/>
            <a:ext cx="5943600" cy="228600"/>
          </a:xfrm>
          <a:prstGeom prst="rect">
            <a:avLst/>
          </a:prstGeom>
          <a:noFill/>
          <a:ln/>
        </p:spPr>
        <p:txBody>
          <a:bodyPr wrap="square" lIns="0" tIns="0" rIns="0" bIns="0" rtlCol="0" anchor="ctr"/>
          <a:lstStyle/>
          <a:p>
            <a:pP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 Learning · The Agentic Enterprise · Ep 3</a:t>
            </a:r>
            <a:endParaRPr lang="en-US" sz="800" dirty="0"/>
          </a:p>
        </p:txBody>
      </p:sp>
      <p:sp>
        <p:nvSpPr>
          <p:cNvPr id="8" name="Text 5"/>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arthashastra.ai</a:t>
            </a:r>
            <a:endParaRPr lang="en-US" sz="800" dirty="0"/>
          </a:p>
        </p:txBody>
      </p:sp>
      <p:sp>
        <p:nvSpPr>
          <p:cNvPr id="9" name="Shape 6"/>
          <p:cNvSpPr/>
          <p:nvPr/>
        </p:nvSpPr>
        <p:spPr>
          <a:xfrm>
            <a:off x="457200" y="1828800"/>
            <a:ext cx="2606040" cy="1828800"/>
          </a:xfrm>
          <a:prstGeom prst="rect">
            <a:avLst/>
          </a:prstGeom>
          <a:solidFill>
            <a:srgbClr val="FFFFFF"/>
          </a:solidFill>
          <a:ln w="9525">
            <a:solidFill>
              <a:srgbClr val="E5E5E5"/>
            </a:solidFill>
            <a:prstDash val="solid"/>
          </a:ln>
        </p:spPr>
      </p:sp>
      <p:sp>
        <p:nvSpPr>
          <p:cNvPr id="10" name="Shape 7"/>
          <p:cNvSpPr/>
          <p:nvPr/>
        </p:nvSpPr>
        <p:spPr>
          <a:xfrm>
            <a:off x="685800" y="2057400"/>
            <a:ext cx="329184" cy="329184"/>
          </a:xfrm>
          <a:prstGeom prst="rect">
            <a:avLst/>
          </a:prstGeom>
          <a:solidFill>
            <a:srgbClr val="D14343"/>
          </a:solidFill>
          <a:ln/>
        </p:spPr>
      </p:sp>
      <p:sp>
        <p:nvSpPr>
          <p:cNvPr id="11" name="Text 8"/>
          <p:cNvSpPr txBox="1"/>
          <p:nvPr/>
        </p:nvSpPr>
        <p:spPr>
          <a:xfrm>
            <a:off x="685800" y="20574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Geist" pitchFamily="34" charset="0"/>
                <a:ea typeface="Geist" pitchFamily="34" charset="-122"/>
                <a:cs typeface="Geist" pitchFamily="34" charset="-120"/>
              </a:rPr>
              <a:t>✕</a:t>
            </a:r>
            <a:endParaRPr lang="en-US" sz="1200" dirty="0"/>
          </a:p>
        </p:txBody>
      </p:sp>
      <p:sp>
        <p:nvSpPr>
          <p:cNvPr id="12" name="Text 9"/>
          <p:cNvSpPr txBox="1"/>
          <p:nvPr/>
        </p:nvSpPr>
        <p:spPr>
          <a:xfrm>
            <a:off x="685800" y="2514600"/>
            <a:ext cx="2194560" cy="365760"/>
          </a:xfrm>
          <a:prstGeom prst="rect">
            <a:avLst/>
          </a:prstGeom>
          <a:noFill/>
          <a:ln/>
        </p:spPr>
        <p:txBody>
          <a:bodyPr wrap="square" lIns="0" tIns="0" rIns="0" bIns="0" rtlCol="0" anchor="t"/>
          <a:lstStyle/>
          <a:p>
            <a:pPr indent="0" marL="0">
              <a:buNone/>
            </a:pPr>
            <a:r>
              <a:rPr lang="en-US" sz="1400" b="1" spc="-50" kern="0" dirty="0">
                <a:solidFill>
                  <a:srgbClr val="1C1C1C"/>
                </a:solidFill>
                <a:latin typeface="Geist" pitchFamily="34" charset="0"/>
                <a:ea typeface="Geist" pitchFamily="34" charset="-122"/>
                <a:cs typeface="Geist" pitchFamily="34" charset="-120"/>
              </a:rPr>
              <a:t>An agent framework</a:t>
            </a:r>
            <a:endParaRPr lang="en-US" sz="1400" dirty="0"/>
          </a:p>
        </p:txBody>
      </p:sp>
      <p:sp>
        <p:nvSpPr>
          <p:cNvPr id="13" name="Text 10"/>
          <p:cNvSpPr txBox="1"/>
          <p:nvPr/>
        </p:nvSpPr>
        <p:spPr>
          <a:xfrm>
            <a:off x="685800" y="2880360"/>
            <a:ext cx="2194560" cy="731520"/>
          </a:xfrm>
          <a:prstGeom prst="rect">
            <a:avLst/>
          </a:prstGeom>
          <a:noFill/>
          <a:ln/>
        </p:spPr>
        <p:txBody>
          <a:bodyPr wrap="square" lIns="0" tIns="0" rIns="0" bIns="0" rtlCol="0" anchor="t"/>
          <a:lstStyle/>
          <a:p>
            <a:pPr indent="0" marL="0">
              <a:buNone/>
            </a:pPr>
            <a:r>
              <a:rPr lang="en-US" sz="1100" dirty="0">
                <a:solidFill>
                  <a:srgbClr val="6B7280"/>
                </a:solidFill>
                <a:latin typeface="Geist" pitchFamily="34" charset="0"/>
                <a:ea typeface="Geist" pitchFamily="34" charset="-122"/>
                <a:cs typeface="Geist" pitchFamily="34" charset="-120"/>
              </a:rPr>
              <a:t>No loop, no planning, no memory. Your agent still owns all of that.</a:t>
            </a:r>
            <a:endParaRPr lang="en-US" sz="1100" dirty="0"/>
          </a:p>
        </p:txBody>
      </p:sp>
      <p:sp>
        <p:nvSpPr>
          <p:cNvPr id="14" name="Shape 11"/>
          <p:cNvSpPr/>
          <p:nvPr/>
        </p:nvSpPr>
        <p:spPr>
          <a:xfrm>
            <a:off x="3246120" y="1828800"/>
            <a:ext cx="2606040" cy="1828800"/>
          </a:xfrm>
          <a:prstGeom prst="rect">
            <a:avLst/>
          </a:prstGeom>
          <a:solidFill>
            <a:srgbClr val="FFFFFF"/>
          </a:solidFill>
          <a:ln w="9525">
            <a:solidFill>
              <a:srgbClr val="E5E5E5"/>
            </a:solidFill>
            <a:prstDash val="solid"/>
          </a:ln>
        </p:spPr>
      </p:sp>
      <p:sp>
        <p:nvSpPr>
          <p:cNvPr id="15" name="Shape 12"/>
          <p:cNvSpPr/>
          <p:nvPr/>
        </p:nvSpPr>
        <p:spPr>
          <a:xfrm>
            <a:off x="3474720" y="2057400"/>
            <a:ext cx="329184" cy="329184"/>
          </a:xfrm>
          <a:prstGeom prst="rect">
            <a:avLst/>
          </a:prstGeom>
          <a:solidFill>
            <a:srgbClr val="D14343"/>
          </a:solidFill>
          <a:ln/>
        </p:spPr>
      </p:sp>
      <p:sp>
        <p:nvSpPr>
          <p:cNvPr id="16" name="Text 13"/>
          <p:cNvSpPr txBox="1"/>
          <p:nvPr/>
        </p:nvSpPr>
        <p:spPr>
          <a:xfrm>
            <a:off x="3474720" y="20574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Geist" pitchFamily="34" charset="0"/>
                <a:ea typeface="Geist" pitchFamily="34" charset="-122"/>
                <a:cs typeface="Geist" pitchFamily="34" charset="-120"/>
              </a:rPr>
              <a:t>✕</a:t>
            </a:r>
            <a:endParaRPr lang="en-US" sz="1200" dirty="0"/>
          </a:p>
        </p:txBody>
      </p:sp>
      <p:sp>
        <p:nvSpPr>
          <p:cNvPr id="17" name="Text 14"/>
          <p:cNvSpPr txBox="1"/>
          <p:nvPr/>
        </p:nvSpPr>
        <p:spPr>
          <a:xfrm>
            <a:off x="3474720" y="2514600"/>
            <a:ext cx="2194560" cy="365760"/>
          </a:xfrm>
          <a:prstGeom prst="rect">
            <a:avLst/>
          </a:prstGeom>
          <a:noFill/>
          <a:ln/>
        </p:spPr>
        <p:txBody>
          <a:bodyPr wrap="square" lIns="0" tIns="0" rIns="0" bIns="0" rtlCol="0" anchor="t"/>
          <a:lstStyle/>
          <a:p>
            <a:pPr indent="0" marL="0">
              <a:buNone/>
            </a:pPr>
            <a:r>
              <a:rPr lang="en-US" sz="1400" b="1" spc="-50" kern="0" dirty="0">
                <a:solidFill>
                  <a:srgbClr val="1C1C1C"/>
                </a:solidFill>
                <a:latin typeface="Geist" pitchFamily="34" charset="0"/>
                <a:ea typeface="Geist" pitchFamily="34" charset="-122"/>
                <a:cs typeface="Geist" pitchFamily="34" charset="-120"/>
              </a:rPr>
              <a:t>An orchestrator</a:t>
            </a:r>
            <a:endParaRPr lang="en-US" sz="1400" dirty="0"/>
          </a:p>
        </p:txBody>
      </p:sp>
      <p:sp>
        <p:nvSpPr>
          <p:cNvPr id="18" name="Text 15"/>
          <p:cNvSpPr txBox="1"/>
          <p:nvPr/>
        </p:nvSpPr>
        <p:spPr>
          <a:xfrm>
            <a:off x="3474720" y="2880360"/>
            <a:ext cx="2194560" cy="731520"/>
          </a:xfrm>
          <a:prstGeom prst="rect">
            <a:avLst/>
          </a:prstGeom>
          <a:noFill/>
          <a:ln/>
        </p:spPr>
        <p:txBody>
          <a:bodyPr wrap="square" lIns="0" tIns="0" rIns="0" bIns="0" rtlCol="0" anchor="t"/>
          <a:lstStyle/>
          <a:p>
            <a:pPr indent="0" marL="0">
              <a:buNone/>
            </a:pPr>
            <a:r>
              <a:rPr lang="en-US" sz="1100" dirty="0">
                <a:solidFill>
                  <a:srgbClr val="6B7280"/>
                </a:solidFill>
                <a:latin typeface="Geist" pitchFamily="34" charset="0"/>
                <a:ea typeface="Geist" pitchFamily="34" charset="-122"/>
                <a:cs typeface="Geist" pitchFamily="34" charset="-120"/>
              </a:rPr>
              <a:t>It doesn't decide which server to call or in what order. The model does.</a:t>
            </a:r>
            <a:endParaRPr lang="en-US" sz="1100" dirty="0"/>
          </a:p>
        </p:txBody>
      </p:sp>
      <p:sp>
        <p:nvSpPr>
          <p:cNvPr id="19" name="Shape 16"/>
          <p:cNvSpPr/>
          <p:nvPr/>
        </p:nvSpPr>
        <p:spPr>
          <a:xfrm>
            <a:off x="6035040" y="1828800"/>
            <a:ext cx="2606040" cy="1828800"/>
          </a:xfrm>
          <a:prstGeom prst="rect">
            <a:avLst/>
          </a:prstGeom>
          <a:solidFill>
            <a:srgbClr val="FFFFFF"/>
          </a:solidFill>
          <a:ln w="9525">
            <a:solidFill>
              <a:srgbClr val="E5E5E5"/>
            </a:solidFill>
            <a:prstDash val="solid"/>
          </a:ln>
        </p:spPr>
      </p:sp>
      <p:sp>
        <p:nvSpPr>
          <p:cNvPr id="20" name="Shape 17"/>
          <p:cNvSpPr/>
          <p:nvPr/>
        </p:nvSpPr>
        <p:spPr>
          <a:xfrm>
            <a:off x="6263640" y="2057400"/>
            <a:ext cx="329184" cy="329184"/>
          </a:xfrm>
          <a:prstGeom prst="rect">
            <a:avLst/>
          </a:prstGeom>
          <a:solidFill>
            <a:srgbClr val="D14343"/>
          </a:solidFill>
          <a:ln/>
        </p:spPr>
      </p:sp>
      <p:sp>
        <p:nvSpPr>
          <p:cNvPr id="21" name="Text 18"/>
          <p:cNvSpPr txBox="1"/>
          <p:nvPr/>
        </p:nvSpPr>
        <p:spPr>
          <a:xfrm>
            <a:off x="6263640" y="20574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Geist" pitchFamily="34" charset="0"/>
                <a:ea typeface="Geist" pitchFamily="34" charset="-122"/>
                <a:cs typeface="Geist" pitchFamily="34" charset="-120"/>
              </a:rPr>
              <a:t>✕</a:t>
            </a:r>
            <a:endParaRPr lang="en-US" sz="1200" dirty="0"/>
          </a:p>
        </p:txBody>
      </p:sp>
      <p:sp>
        <p:nvSpPr>
          <p:cNvPr id="22" name="Text 19"/>
          <p:cNvSpPr txBox="1"/>
          <p:nvPr/>
        </p:nvSpPr>
        <p:spPr>
          <a:xfrm>
            <a:off x="6263640" y="2514600"/>
            <a:ext cx="2194560" cy="365760"/>
          </a:xfrm>
          <a:prstGeom prst="rect">
            <a:avLst/>
          </a:prstGeom>
          <a:noFill/>
          <a:ln/>
        </p:spPr>
        <p:txBody>
          <a:bodyPr wrap="square" lIns="0" tIns="0" rIns="0" bIns="0" rtlCol="0" anchor="t"/>
          <a:lstStyle/>
          <a:p>
            <a:pPr indent="0" marL="0">
              <a:buNone/>
            </a:pPr>
            <a:r>
              <a:rPr lang="en-US" sz="1400" b="1" spc="-50" kern="0" dirty="0">
                <a:solidFill>
                  <a:srgbClr val="1C1C1C"/>
                </a:solidFill>
                <a:latin typeface="Geist" pitchFamily="34" charset="0"/>
                <a:ea typeface="Geist" pitchFamily="34" charset="-122"/>
                <a:cs typeface="Geist" pitchFamily="34" charset="-120"/>
              </a:rPr>
              <a:t>Authorization</a:t>
            </a:r>
            <a:endParaRPr lang="en-US" sz="1400" dirty="0"/>
          </a:p>
        </p:txBody>
      </p:sp>
      <p:sp>
        <p:nvSpPr>
          <p:cNvPr id="23" name="Text 20"/>
          <p:cNvSpPr txBox="1"/>
          <p:nvPr/>
        </p:nvSpPr>
        <p:spPr>
          <a:xfrm>
            <a:off x="6263640" y="2880360"/>
            <a:ext cx="2194560" cy="731520"/>
          </a:xfrm>
          <a:prstGeom prst="rect">
            <a:avLst/>
          </a:prstGeom>
          <a:noFill/>
          <a:ln/>
        </p:spPr>
        <p:txBody>
          <a:bodyPr wrap="square" lIns="0" tIns="0" rIns="0" bIns="0" rtlCol="0" anchor="t"/>
          <a:lstStyle/>
          <a:p>
            <a:pPr indent="0" marL="0">
              <a:buNone/>
            </a:pPr>
            <a:r>
              <a:rPr lang="en-US" sz="1100" dirty="0">
                <a:solidFill>
                  <a:srgbClr val="6B7280"/>
                </a:solidFill>
                <a:latin typeface="Geist" pitchFamily="34" charset="0"/>
                <a:ea typeface="Geist" pitchFamily="34" charset="-122"/>
                <a:cs typeface="Geist" pitchFamily="34" charset="-120"/>
              </a:rPr>
              <a:t>OAuth exists for HTTP transports. Who may do what is still your code and your policy.</a:t>
            </a:r>
            <a:endParaRPr lang="en-US" sz="1100" dirty="0"/>
          </a:p>
        </p:txBody>
      </p:sp>
      <p:sp>
        <p:nvSpPr>
          <p:cNvPr id="24" name="Shape 21"/>
          <p:cNvSpPr/>
          <p:nvPr/>
        </p:nvSpPr>
        <p:spPr>
          <a:xfrm>
            <a:off x="457200" y="3840480"/>
            <a:ext cx="8229600" cy="548640"/>
          </a:xfrm>
          <a:prstGeom prst="rect">
            <a:avLst/>
          </a:prstGeom>
          <a:solidFill>
            <a:srgbClr val="F7F7F5"/>
          </a:solidFill>
          <a:ln w="9525">
            <a:solidFill>
              <a:srgbClr val="E5E5E5"/>
            </a:solidFill>
            <a:prstDash val="solid"/>
          </a:ln>
        </p:spPr>
      </p:sp>
      <p:sp>
        <p:nvSpPr>
          <p:cNvPr id="25" name="Text 22"/>
          <p:cNvSpPr txBox="1"/>
          <p:nvPr/>
        </p:nvSpPr>
        <p:spPr>
          <a:xfrm>
            <a:off x="685800" y="3840480"/>
            <a:ext cx="7772400" cy="548640"/>
          </a:xfrm>
          <a:prstGeom prst="rect">
            <a:avLst/>
          </a:prstGeom>
          <a:noFill/>
          <a:ln/>
        </p:spPr>
        <p:txBody>
          <a:bodyPr wrap="square" lIns="0" tIns="0" rIns="0" bIns="0" rtlCol="0" anchor="ctr"/>
          <a:lstStyle/>
          <a:p>
            <a:pPr indent="0" marL="0">
              <a:buNone/>
            </a:pPr>
            <a:r>
              <a:rPr lang="en-US" sz="900" spc="200" kern="0" dirty="0">
                <a:solidFill>
                  <a:srgbClr val="FF5700"/>
                </a:solidFill>
                <a:latin typeface="IBM Plex Mono" pitchFamily="34" charset="0"/>
                <a:ea typeface="IBM Plex Mono" pitchFamily="34" charset="-122"/>
                <a:cs typeface="IBM Plex Mono" pitchFamily="34" charset="-120"/>
              </a:rPr>
              <a:t>MCP  </a:t>
            </a:r>
            <a:pPr indent="0" marL="0">
              <a:buNone/>
            </a:pPr>
            <a:r>
              <a:rPr lang="en-US" sz="1150" dirty="0">
                <a:solidFill>
                  <a:srgbClr val="1C1C1C"/>
                </a:solidFill>
                <a:latin typeface="Geist" pitchFamily="34" charset="0"/>
                <a:ea typeface="Geist" pitchFamily="34" charset="-122"/>
                <a:cs typeface="Geist" pitchFamily="34" charset="-120"/>
              </a:rPr>
              <a:t>standardises how tools are described and called — nothing more.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457200" y="292608"/>
            <a:ext cx="8229600" cy="231140"/>
          </a:xfrm>
          <a:prstGeom prst="rect">
            <a:avLst/>
          </a:prstGeom>
          <a:noFill/>
          <a:ln/>
        </p:spPr>
        <p:txBody>
          <a:bodyPr wrap="square" lIns="0" tIns="0" rIns="0" bIns="0" rtlCol="0" anchor="ctr"/>
          <a:lstStyle/>
          <a:p>
            <a:pPr indent="0" marL="0">
              <a:buNone/>
            </a:pPr>
            <a:r>
              <a:rPr lang="en-US" sz="1400" b="1" spc="-200" kern="0" dirty="0">
                <a:solidFill>
                  <a:srgbClr val="1C1C1C"/>
                </a:solidFill>
                <a:latin typeface="Geist" pitchFamily="34" charset="0"/>
                <a:ea typeface="Geist" pitchFamily="34" charset="-122"/>
                <a:cs typeface="Geist" pitchFamily="34" charset="-120"/>
              </a:rPr>
              <a:t>learn with </a:t>
            </a:r>
            <a:pPr indent="0" marL="0">
              <a:buNone/>
            </a:pPr>
            <a:r>
              <a:rPr lang="en-US" sz="1400" b="1" spc="-200" kern="0" dirty="0">
                <a:solidFill>
                  <a:srgbClr val="FF5700"/>
                </a:solidFill>
                <a:latin typeface="Geist" pitchFamily="34" charset="0"/>
                <a:ea typeface="Geist" pitchFamily="34" charset="-122"/>
                <a:cs typeface="Geist" pitchFamily="34" charset="-120"/>
              </a:rPr>
              <a:t>harsha</a:t>
            </a:r>
            <a:pPr indent="0" marL="0">
              <a:buNone/>
            </a:pPr>
            <a:r>
              <a:rPr lang="en-US" sz="600" b="1" spc="-200" kern="0" dirty="0">
                <a:solidFill>
                  <a:srgbClr val="FF5700"/>
                </a:solidFill>
                <a:latin typeface="Geist" pitchFamily="34" charset="0"/>
                <a:ea typeface="Geist" pitchFamily="34" charset="-122"/>
                <a:cs typeface="Geist" pitchFamily="34" charset="-120"/>
              </a:rPr>
              <a:t>■</a:t>
            </a:r>
            <a:endParaRPr lang="en-US" sz="1400" dirty="0"/>
          </a:p>
        </p:txBody>
      </p:sp>
      <p:sp>
        <p:nvSpPr>
          <p:cNvPr id="4" name="Shape 1"/>
          <p:cNvSpPr/>
          <p:nvPr/>
        </p:nvSpPr>
        <p:spPr>
          <a:xfrm>
            <a:off x="457200" y="813816"/>
            <a:ext cx="91440" cy="91440"/>
          </a:xfrm>
          <a:prstGeom prst="rect">
            <a:avLst/>
          </a:prstGeom>
          <a:solidFill>
            <a:srgbClr val="FF5700"/>
          </a:solidFill>
          <a:ln/>
        </p:spPr>
      </p:sp>
      <p:sp>
        <p:nvSpPr>
          <p:cNvPr id="5" name="Text 2"/>
          <p:cNvSpPr txBox="1"/>
          <p:nvPr/>
        </p:nvSpPr>
        <p:spPr>
          <a:xfrm>
            <a:off x="621792" y="713232"/>
            <a:ext cx="6400800" cy="292608"/>
          </a:xfrm>
          <a:prstGeom prst="rect">
            <a:avLst/>
          </a:prstGeom>
          <a:noFill/>
          <a:ln/>
        </p:spPr>
        <p:txBody>
          <a:bodyPr wrap="square" lIns="0" tIns="0" rIns="0" bIns="0" rtlCol="0" anchor="ctr"/>
          <a:lstStyle/>
          <a:p>
            <a:pPr indent="0" marL="0">
              <a:buNone/>
            </a:pPr>
            <a:r>
              <a:rPr lang="en-US" sz="1000" spc="400" kern="0" dirty="0">
                <a:solidFill>
                  <a:srgbClr val="FF5700"/>
                </a:solidFill>
                <a:latin typeface="IBM Plex Mono" pitchFamily="34" charset="0"/>
                <a:ea typeface="IBM Plex Mono" pitchFamily="34" charset="-122"/>
                <a:cs typeface="IBM Plex Mono" pitchFamily="34" charset="-120"/>
              </a:rPr>
              <a:t>THE DATA SOURCE</a:t>
            </a:r>
            <a:endParaRPr lang="en-US" sz="1000" dirty="0"/>
          </a:p>
        </p:txBody>
      </p:sp>
      <p:sp>
        <p:nvSpPr>
          <p:cNvPr id="6" name="Text 3"/>
          <p:cNvSpPr txBox="1"/>
          <p:nvPr/>
        </p:nvSpPr>
        <p:spPr>
          <a:xfrm>
            <a:off x="457200" y="987552"/>
            <a:ext cx="8229600" cy="640080"/>
          </a:xfrm>
          <a:prstGeom prst="rect">
            <a:avLst/>
          </a:prstGeom>
          <a:noFill/>
          <a:ln/>
        </p:spPr>
        <p:txBody>
          <a:bodyPr wrap="square" lIns="0" tIns="0" rIns="0" bIns="0" rtlCol="0" anchor="ctr"/>
          <a:lstStyle/>
          <a:p>
            <a:pPr indent="0" marL="0">
              <a:buNone/>
            </a:pPr>
            <a:r>
              <a:rPr lang="en-US" sz="2300" b="1" spc="-100" kern="0" dirty="0">
                <a:solidFill>
                  <a:srgbClr val="1C1C1C"/>
                </a:solidFill>
                <a:latin typeface="Geist" pitchFamily="34" charset="0"/>
                <a:ea typeface="Geist" pitchFamily="34" charset="-122"/>
                <a:cs typeface="Geist" pitchFamily="34" charset="-120"/>
              </a:rPr>
              <a:t>The ERP database, three modules, three tools</a:t>
            </a:r>
            <a:endParaRPr lang="en-US" sz="2300" dirty="0"/>
          </a:p>
        </p:txBody>
      </p:sp>
      <p:sp>
        <p:nvSpPr>
          <p:cNvPr id="7" name="Text 4"/>
          <p:cNvSpPr txBox="1"/>
          <p:nvPr/>
        </p:nvSpPr>
        <p:spPr>
          <a:xfrm>
            <a:off x="457200" y="4754880"/>
            <a:ext cx="5943600" cy="228600"/>
          </a:xfrm>
          <a:prstGeom prst="rect">
            <a:avLst/>
          </a:prstGeom>
          <a:noFill/>
          <a:ln/>
        </p:spPr>
        <p:txBody>
          <a:bodyPr wrap="square" lIns="0" tIns="0" rIns="0" bIns="0" rtlCol="0" anchor="ctr"/>
          <a:lstStyle/>
          <a:p>
            <a:pP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 Learning · The Agentic Enterprise · Ep 3</a:t>
            </a:r>
            <a:endParaRPr lang="en-US" sz="800" dirty="0"/>
          </a:p>
        </p:txBody>
      </p:sp>
      <p:sp>
        <p:nvSpPr>
          <p:cNvPr id="8" name="Text 5"/>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arthashastra.ai</a:t>
            </a:r>
            <a:endParaRPr lang="en-US" sz="800" dirty="0"/>
          </a:p>
        </p:txBody>
      </p:sp>
      <p:sp>
        <p:nvSpPr>
          <p:cNvPr id="9" name="Shape 6"/>
          <p:cNvSpPr/>
          <p:nvPr/>
        </p:nvSpPr>
        <p:spPr>
          <a:xfrm>
            <a:off x="457200" y="1783080"/>
            <a:ext cx="5303520" cy="640080"/>
          </a:xfrm>
          <a:prstGeom prst="rect">
            <a:avLst/>
          </a:prstGeom>
          <a:solidFill>
            <a:srgbClr val="FFFFFF"/>
          </a:solidFill>
          <a:ln w="9525">
            <a:solidFill>
              <a:srgbClr val="E5E5E5"/>
            </a:solidFill>
            <a:prstDash val="solid"/>
          </a:ln>
        </p:spPr>
      </p:sp>
      <p:sp>
        <p:nvSpPr>
          <p:cNvPr id="10" name="Text 7"/>
          <p:cNvSpPr txBox="1"/>
          <p:nvPr/>
        </p:nvSpPr>
        <p:spPr>
          <a:xfrm>
            <a:off x="640080" y="1856232"/>
            <a:ext cx="1280160" cy="274320"/>
          </a:xfrm>
          <a:prstGeom prst="rect">
            <a:avLst/>
          </a:prstGeom>
          <a:noFill/>
          <a:ln/>
        </p:spPr>
        <p:txBody>
          <a:bodyPr wrap="square" lIns="0" tIns="0" rIns="0" bIns="0" rtlCol="0" anchor="t"/>
          <a:lstStyle/>
          <a:p>
            <a:pPr indent="0" marL="0">
              <a:buNone/>
            </a:pPr>
            <a:r>
              <a:rPr lang="en-US" sz="1300" b="1" spc="-50" kern="0" dirty="0">
                <a:solidFill>
                  <a:srgbClr val="1C1C1C"/>
                </a:solidFill>
                <a:latin typeface="Geist" pitchFamily="34" charset="0"/>
                <a:ea typeface="Geist" pitchFamily="34" charset="-122"/>
                <a:cs typeface="Geist" pitchFamily="34" charset="-120"/>
              </a:rPr>
              <a:t>Inventory</a:t>
            </a:r>
            <a:endParaRPr lang="en-US" sz="1300" dirty="0"/>
          </a:p>
        </p:txBody>
      </p:sp>
      <p:sp>
        <p:nvSpPr>
          <p:cNvPr id="11" name="Text 8"/>
          <p:cNvSpPr txBox="1"/>
          <p:nvPr/>
        </p:nvSpPr>
        <p:spPr>
          <a:xfrm>
            <a:off x="1828800" y="1874520"/>
            <a:ext cx="2286000" cy="274320"/>
          </a:xfrm>
          <a:prstGeom prst="rect">
            <a:avLst/>
          </a:prstGeom>
          <a:noFill/>
          <a:ln/>
        </p:spPr>
        <p:txBody>
          <a:bodyPr wrap="square" lIns="0" tIns="0" rIns="0" bIns="0" rtlCol="0" anchor="t"/>
          <a:lstStyle/>
          <a:p>
            <a:pPr indent="0" marL="0">
              <a:buNone/>
            </a:pPr>
            <a:r>
              <a:rPr lang="en-US" sz="800" dirty="0">
                <a:solidFill>
                  <a:srgbClr val="6B7280"/>
                </a:solidFill>
                <a:latin typeface="IBM Plex Mono" pitchFamily="34" charset="0"/>
                <a:ea typeface="IBM Plex Mono" pitchFamily="34" charset="-122"/>
                <a:cs typeface="IBM Plex Mono" pitchFamily="34" charset="-120"/>
              </a:rPr>
              <a:t>items · warehouses · stock_levels</a:t>
            </a:r>
            <a:endParaRPr lang="en-US" sz="800" dirty="0"/>
          </a:p>
        </p:txBody>
      </p:sp>
      <p:sp>
        <p:nvSpPr>
          <p:cNvPr id="12" name="Text 9"/>
          <p:cNvSpPr txBox="1"/>
          <p:nvPr/>
        </p:nvSpPr>
        <p:spPr>
          <a:xfrm>
            <a:off x="1828800" y="2130552"/>
            <a:ext cx="3840480" cy="274320"/>
          </a:xfrm>
          <a:prstGeom prst="rect">
            <a:avLst/>
          </a:prstGeom>
          <a:noFill/>
          <a:ln/>
        </p:spPr>
        <p:txBody>
          <a:bodyPr wrap="square" lIns="0" tIns="0" rIns="0" bIns="0" rtlCol="0" anchor="t"/>
          <a:lstStyle/>
          <a:p>
            <a:pPr indent="0" marL="0">
              <a:buNone/>
            </a:pPr>
            <a:r>
              <a:rPr lang="en-US" sz="850" dirty="0">
                <a:solidFill>
                  <a:srgbClr val="FF5700"/>
                </a:solidFill>
                <a:latin typeface="IBM Plex Mono" pitchFamily="34" charset="0"/>
                <a:ea typeface="IBM Plex Mono" pitchFamily="34" charset="-122"/>
                <a:cs typeface="IBM Plex Mono" pitchFamily="34" charset="-120"/>
              </a:rPr>
              <a:t>get_item_stock(sku)</a:t>
            </a:r>
            <a:endParaRPr lang="en-US" sz="850" dirty="0"/>
          </a:p>
        </p:txBody>
      </p:sp>
      <p:sp>
        <p:nvSpPr>
          <p:cNvPr id="13" name="Shape 10"/>
          <p:cNvSpPr/>
          <p:nvPr/>
        </p:nvSpPr>
        <p:spPr>
          <a:xfrm>
            <a:off x="457200" y="2560320"/>
            <a:ext cx="5303520" cy="640080"/>
          </a:xfrm>
          <a:prstGeom prst="rect">
            <a:avLst/>
          </a:prstGeom>
          <a:solidFill>
            <a:srgbClr val="FFFFFF"/>
          </a:solidFill>
          <a:ln w="9525">
            <a:solidFill>
              <a:srgbClr val="E5E5E5"/>
            </a:solidFill>
            <a:prstDash val="solid"/>
          </a:ln>
        </p:spPr>
      </p:sp>
      <p:sp>
        <p:nvSpPr>
          <p:cNvPr id="14" name="Text 11"/>
          <p:cNvSpPr txBox="1"/>
          <p:nvPr/>
        </p:nvSpPr>
        <p:spPr>
          <a:xfrm>
            <a:off x="640080" y="2633472"/>
            <a:ext cx="1280160" cy="274320"/>
          </a:xfrm>
          <a:prstGeom prst="rect">
            <a:avLst/>
          </a:prstGeom>
          <a:noFill/>
          <a:ln/>
        </p:spPr>
        <p:txBody>
          <a:bodyPr wrap="square" lIns="0" tIns="0" rIns="0" bIns="0" rtlCol="0" anchor="t"/>
          <a:lstStyle/>
          <a:p>
            <a:pPr indent="0" marL="0">
              <a:buNone/>
            </a:pPr>
            <a:r>
              <a:rPr lang="en-US" sz="1300" b="1" spc="-50" kern="0" dirty="0">
                <a:solidFill>
                  <a:srgbClr val="1C1C1C"/>
                </a:solidFill>
                <a:latin typeface="Geist" pitchFamily="34" charset="0"/>
                <a:ea typeface="Geist" pitchFamily="34" charset="-122"/>
                <a:cs typeface="Geist" pitchFamily="34" charset="-120"/>
              </a:rPr>
              <a:t>Sales</a:t>
            </a:r>
            <a:endParaRPr lang="en-US" sz="1300" dirty="0"/>
          </a:p>
        </p:txBody>
      </p:sp>
      <p:sp>
        <p:nvSpPr>
          <p:cNvPr id="15" name="Text 12"/>
          <p:cNvSpPr txBox="1"/>
          <p:nvPr/>
        </p:nvSpPr>
        <p:spPr>
          <a:xfrm>
            <a:off x="1828800" y="2651760"/>
            <a:ext cx="2286000" cy="274320"/>
          </a:xfrm>
          <a:prstGeom prst="rect">
            <a:avLst/>
          </a:prstGeom>
          <a:noFill/>
          <a:ln/>
        </p:spPr>
        <p:txBody>
          <a:bodyPr wrap="square" lIns="0" tIns="0" rIns="0" bIns="0" rtlCol="0" anchor="t"/>
          <a:lstStyle/>
          <a:p>
            <a:pPr indent="0" marL="0">
              <a:buNone/>
            </a:pPr>
            <a:r>
              <a:rPr lang="en-US" sz="800" dirty="0">
                <a:solidFill>
                  <a:srgbClr val="6B7280"/>
                </a:solidFill>
                <a:latin typeface="IBM Plex Mono" pitchFamily="34" charset="0"/>
                <a:ea typeface="IBM Plex Mono" pitchFamily="34" charset="-122"/>
                <a:cs typeface="IBM Plex Mono" pitchFamily="34" charset="-120"/>
              </a:rPr>
              <a:t>customers · sales_orders · sales_order_lines</a:t>
            </a:r>
            <a:endParaRPr lang="en-US" sz="800" dirty="0"/>
          </a:p>
        </p:txBody>
      </p:sp>
      <p:sp>
        <p:nvSpPr>
          <p:cNvPr id="16" name="Text 13"/>
          <p:cNvSpPr txBox="1"/>
          <p:nvPr/>
        </p:nvSpPr>
        <p:spPr>
          <a:xfrm>
            <a:off x="1828800" y="2907792"/>
            <a:ext cx="3840480" cy="274320"/>
          </a:xfrm>
          <a:prstGeom prst="rect">
            <a:avLst/>
          </a:prstGeom>
          <a:noFill/>
          <a:ln/>
        </p:spPr>
        <p:txBody>
          <a:bodyPr wrap="square" lIns="0" tIns="0" rIns="0" bIns="0" rtlCol="0" anchor="t"/>
          <a:lstStyle/>
          <a:p>
            <a:pPr indent="0" marL="0">
              <a:buNone/>
            </a:pPr>
            <a:r>
              <a:rPr lang="en-US" sz="850" dirty="0">
                <a:solidFill>
                  <a:srgbClr val="FF5700"/>
                </a:solidFill>
                <a:latin typeface="IBM Plex Mono" pitchFamily="34" charset="0"/>
                <a:ea typeface="IBM Plex Mono" pitchFamily="34" charset="-122"/>
                <a:cs typeface="IBM Plex Mono" pitchFamily="34" charset="-120"/>
              </a:rPr>
              <a:t>search_sales_orders(status, customer_id, limit)</a:t>
            </a:r>
            <a:endParaRPr lang="en-US" sz="850" dirty="0"/>
          </a:p>
        </p:txBody>
      </p:sp>
      <p:sp>
        <p:nvSpPr>
          <p:cNvPr id="17" name="Shape 14"/>
          <p:cNvSpPr/>
          <p:nvPr/>
        </p:nvSpPr>
        <p:spPr>
          <a:xfrm>
            <a:off x="457200" y="3337560"/>
            <a:ext cx="5303520" cy="640080"/>
          </a:xfrm>
          <a:prstGeom prst="rect">
            <a:avLst/>
          </a:prstGeom>
          <a:solidFill>
            <a:srgbClr val="FFFFFF"/>
          </a:solidFill>
          <a:ln w="9525">
            <a:solidFill>
              <a:srgbClr val="E5E5E5"/>
            </a:solidFill>
            <a:prstDash val="solid"/>
          </a:ln>
        </p:spPr>
      </p:sp>
      <p:sp>
        <p:nvSpPr>
          <p:cNvPr id="18" name="Text 15"/>
          <p:cNvSpPr txBox="1"/>
          <p:nvPr/>
        </p:nvSpPr>
        <p:spPr>
          <a:xfrm>
            <a:off x="640080" y="3410712"/>
            <a:ext cx="1280160" cy="274320"/>
          </a:xfrm>
          <a:prstGeom prst="rect">
            <a:avLst/>
          </a:prstGeom>
          <a:noFill/>
          <a:ln/>
        </p:spPr>
        <p:txBody>
          <a:bodyPr wrap="square" lIns="0" tIns="0" rIns="0" bIns="0" rtlCol="0" anchor="t"/>
          <a:lstStyle/>
          <a:p>
            <a:pPr indent="0" marL="0">
              <a:buNone/>
            </a:pPr>
            <a:r>
              <a:rPr lang="en-US" sz="1300" b="1" spc="-50" kern="0" dirty="0">
                <a:solidFill>
                  <a:srgbClr val="1C1C1C"/>
                </a:solidFill>
                <a:latin typeface="Geist" pitchFamily="34" charset="0"/>
                <a:ea typeface="Geist" pitchFamily="34" charset="-122"/>
                <a:cs typeface="Geist" pitchFamily="34" charset="-120"/>
              </a:rPr>
              <a:t>Finance</a:t>
            </a:r>
            <a:endParaRPr lang="en-US" sz="1300" dirty="0"/>
          </a:p>
        </p:txBody>
      </p:sp>
      <p:sp>
        <p:nvSpPr>
          <p:cNvPr id="19" name="Text 16"/>
          <p:cNvSpPr txBox="1"/>
          <p:nvPr/>
        </p:nvSpPr>
        <p:spPr>
          <a:xfrm>
            <a:off x="1828800" y="3429000"/>
            <a:ext cx="2286000" cy="274320"/>
          </a:xfrm>
          <a:prstGeom prst="rect">
            <a:avLst/>
          </a:prstGeom>
          <a:noFill/>
          <a:ln/>
        </p:spPr>
        <p:txBody>
          <a:bodyPr wrap="square" lIns="0" tIns="0" rIns="0" bIns="0" rtlCol="0" anchor="t"/>
          <a:lstStyle/>
          <a:p>
            <a:pPr indent="0" marL="0">
              <a:buNone/>
            </a:pPr>
            <a:r>
              <a:rPr lang="en-US" sz="800" dirty="0">
                <a:solidFill>
                  <a:srgbClr val="6B7280"/>
                </a:solidFill>
                <a:latin typeface="IBM Plex Mono" pitchFamily="34" charset="0"/>
                <a:ea typeface="IBM Plex Mono" pitchFamily="34" charset="-122"/>
                <a:cs typeface="IBM Plex Mono" pitchFamily="34" charset="-120"/>
              </a:rPr>
              <a:t>invoices · credit_notes</a:t>
            </a:r>
            <a:endParaRPr lang="en-US" sz="800" dirty="0"/>
          </a:p>
        </p:txBody>
      </p:sp>
      <p:sp>
        <p:nvSpPr>
          <p:cNvPr id="20" name="Text 17"/>
          <p:cNvSpPr txBox="1"/>
          <p:nvPr/>
        </p:nvSpPr>
        <p:spPr>
          <a:xfrm>
            <a:off x="1828800" y="3685032"/>
            <a:ext cx="3840480" cy="274320"/>
          </a:xfrm>
          <a:prstGeom prst="rect">
            <a:avLst/>
          </a:prstGeom>
          <a:noFill/>
          <a:ln/>
        </p:spPr>
        <p:txBody>
          <a:bodyPr wrap="square" lIns="0" tIns="0" rIns="0" bIns="0" rtlCol="0" anchor="t"/>
          <a:lstStyle/>
          <a:p>
            <a:pPr indent="0" marL="0">
              <a:buNone/>
            </a:pPr>
            <a:r>
              <a:rPr lang="en-US" sz="850" dirty="0">
                <a:solidFill>
                  <a:srgbClr val="FF5700"/>
                </a:solidFill>
                <a:latin typeface="IBM Plex Mono" pitchFamily="34" charset="0"/>
                <a:ea typeface="IBM Plex Mono" pitchFamily="34" charset="-122"/>
                <a:cs typeface="IBM Plex Mono" pitchFamily="34" charset="-120"/>
              </a:rPr>
              <a:t>get_invoice(invoice_id)</a:t>
            </a:r>
            <a:endParaRPr lang="en-US" sz="850" dirty="0"/>
          </a:p>
        </p:txBody>
      </p:sp>
      <p:sp>
        <p:nvSpPr>
          <p:cNvPr id="21" name="Shape 18"/>
          <p:cNvSpPr/>
          <p:nvPr/>
        </p:nvSpPr>
        <p:spPr>
          <a:xfrm>
            <a:off x="6126480" y="1783080"/>
            <a:ext cx="2560320" cy="411480"/>
          </a:xfrm>
          <a:prstGeom prst="rect">
            <a:avLst/>
          </a:prstGeom>
          <a:solidFill>
            <a:srgbClr val="F7F7F5"/>
          </a:solidFill>
          <a:ln w="9525">
            <a:solidFill>
              <a:srgbClr val="E5E5E5"/>
            </a:solidFill>
            <a:prstDash val="solid"/>
          </a:ln>
        </p:spPr>
      </p:sp>
      <p:sp>
        <p:nvSpPr>
          <p:cNvPr id="22" name="Text 19"/>
          <p:cNvSpPr txBox="1"/>
          <p:nvPr/>
        </p:nvSpPr>
        <p:spPr>
          <a:xfrm>
            <a:off x="6126480" y="1783080"/>
            <a:ext cx="2560320" cy="411480"/>
          </a:xfrm>
          <a:prstGeom prst="rect">
            <a:avLst/>
          </a:prstGeom>
          <a:noFill/>
          <a:ln/>
        </p:spPr>
        <p:txBody>
          <a:bodyPr wrap="square" lIns="635" tIns="635" rIns="635" bIns="635" rtlCol="0" anchor="ctr"/>
          <a:lstStyle/>
          <a:p>
            <a:pPr algn="ctr" indent="0" marL="0">
              <a:buNone/>
            </a:pPr>
            <a:r>
              <a:rPr lang="en-US" sz="1000" b="1" dirty="0">
                <a:solidFill>
                  <a:srgbClr val="1C1C1C"/>
                </a:solidFill>
                <a:latin typeface="Geist" pitchFamily="34" charset="0"/>
                <a:ea typeface="Geist" pitchFamily="34" charset="-122"/>
                <a:cs typeface="Geist" pitchFamily="34" charset="-120"/>
              </a:rPr>
              <a:t>Agent</a:t>
            </a:r>
            <a:endParaRPr lang="en-US" sz="1000" dirty="0"/>
          </a:p>
        </p:txBody>
      </p:sp>
      <p:sp>
        <p:nvSpPr>
          <p:cNvPr id="23" name="Shape 20"/>
          <p:cNvSpPr/>
          <p:nvPr/>
        </p:nvSpPr>
        <p:spPr>
          <a:xfrm>
            <a:off x="7406640" y="2194560"/>
            <a:ext cx="0" cy="210312"/>
          </a:xfrm>
          <a:prstGeom prst="line">
            <a:avLst/>
          </a:prstGeom>
          <a:noFill/>
          <a:ln w="12700">
            <a:solidFill>
              <a:srgbClr val="919191"/>
            </a:solidFill>
            <a:prstDash val="solid"/>
            <a:tailEnd type="triangle"/>
          </a:ln>
        </p:spPr>
      </p:sp>
      <p:sp>
        <p:nvSpPr>
          <p:cNvPr id="24" name="Shape 21"/>
          <p:cNvSpPr/>
          <p:nvPr/>
        </p:nvSpPr>
        <p:spPr>
          <a:xfrm>
            <a:off x="6126480" y="2404872"/>
            <a:ext cx="2560320" cy="411480"/>
          </a:xfrm>
          <a:prstGeom prst="rect">
            <a:avLst/>
          </a:prstGeom>
          <a:solidFill>
            <a:srgbClr val="F7F7F5"/>
          </a:solidFill>
          <a:ln w="9525">
            <a:solidFill>
              <a:srgbClr val="E5E5E5"/>
            </a:solidFill>
            <a:prstDash val="solid"/>
          </a:ln>
        </p:spPr>
      </p:sp>
      <p:sp>
        <p:nvSpPr>
          <p:cNvPr id="25" name="Text 22"/>
          <p:cNvSpPr txBox="1"/>
          <p:nvPr/>
        </p:nvSpPr>
        <p:spPr>
          <a:xfrm>
            <a:off x="6126480" y="2404872"/>
            <a:ext cx="2560320" cy="411480"/>
          </a:xfrm>
          <a:prstGeom prst="rect">
            <a:avLst/>
          </a:prstGeom>
          <a:noFill/>
          <a:ln/>
        </p:spPr>
        <p:txBody>
          <a:bodyPr wrap="square" lIns="635" tIns="635" rIns="635" bIns="635" rtlCol="0" anchor="ctr"/>
          <a:lstStyle/>
          <a:p>
            <a:pPr algn="ctr" indent="0" marL="0">
              <a:buNone/>
            </a:pPr>
            <a:r>
              <a:rPr lang="en-US" sz="1000" b="1" dirty="0">
                <a:solidFill>
                  <a:srgbClr val="1C1C1C"/>
                </a:solidFill>
                <a:latin typeface="Geist" pitchFamily="34" charset="0"/>
                <a:ea typeface="Geist" pitchFamily="34" charset="-122"/>
                <a:cs typeface="Geist" pitchFamily="34" charset="-120"/>
              </a:rPr>
              <a:t>MCP client</a:t>
            </a:r>
            <a:endParaRPr lang="en-US" sz="1000" dirty="0"/>
          </a:p>
        </p:txBody>
      </p:sp>
      <p:sp>
        <p:nvSpPr>
          <p:cNvPr id="26" name="Shape 23"/>
          <p:cNvSpPr/>
          <p:nvPr/>
        </p:nvSpPr>
        <p:spPr>
          <a:xfrm>
            <a:off x="7406640" y="2816352"/>
            <a:ext cx="0" cy="210312"/>
          </a:xfrm>
          <a:prstGeom prst="line">
            <a:avLst/>
          </a:prstGeom>
          <a:noFill/>
          <a:ln w="12700">
            <a:solidFill>
              <a:srgbClr val="919191"/>
            </a:solidFill>
            <a:prstDash val="solid"/>
            <a:tailEnd type="triangle"/>
          </a:ln>
        </p:spPr>
      </p:sp>
      <p:sp>
        <p:nvSpPr>
          <p:cNvPr id="27" name="Shape 24"/>
          <p:cNvSpPr/>
          <p:nvPr/>
        </p:nvSpPr>
        <p:spPr>
          <a:xfrm>
            <a:off x="6126480" y="3026664"/>
            <a:ext cx="2560320" cy="411480"/>
          </a:xfrm>
          <a:prstGeom prst="rect">
            <a:avLst/>
          </a:prstGeom>
          <a:solidFill>
            <a:srgbClr val="FFFFFF"/>
          </a:solidFill>
          <a:ln w="15875">
            <a:solidFill>
              <a:srgbClr val="FF5700"/>
            </a:solidFill>
            <a:prstDash val="solid"/>
          </a:ln>
        </p:spPr>
      </p:sp>
      <p:sp>
        <p:nvSpPr>
          <p:cNvPr id="28" name="Text 25"/>
          <p:cNvSpPr txBox="1"/>
          <p:nvPr/>
        </p:nvSpPr>
        <p:spPr>
          <a:xfrm>
            <a:off x="6126480" y="3026664"/>
            <a:ext cx="2560320" cy="411480"/>
          </a:xfrm>
          <a:prstGeom prst="rect">
            <a:avLst/>
          </a:prstGeom>
          <a:noFill/>
          <a:ln/>
        </p:spPr>
        <p:txBody>
          <a:bodyPr wrap="square" lIns="635" tIns="635" rIns="635" bIns="635" rtlCol="0" anchor="ctr"/>
          <a:lstStyle/>
          <a:p>
            <a:pPr algn="ctr" indent="0" marL="0">
              <a:buNone/>
            </a:pPr>
            <a:r>
              <a:rPr lang="en-US" sz="1000" b="1" dirty="0">
                <a:solidFill>
                  <a:srgbClr val="FF5700"/>
                </a:solidFill>
                <a:latin typeface="Geist" pitchFamily="34" charset="0"/>
                <a:ea typeface="Geist" pitchFamily="34" charset="-122"/>
                <a:cs typeface="Geist" pitchFamily="34" charset="-120"/>
              </a:rPr>
              <a:t>MCP server</a:t>
            </a:r>
            <a:endParaRPr lang="en-US" sz="1000" dirty="0"/>
          </a:p>
        </p:txBody>
      </p:sp>
      <p:sp>
        <p:nvSpPr>
          <p:cNvPr id="29" name="Shape 26"/>
          <p:cNvSpPr/>
          <p:nvPr/>
        </p:nvSpPr>
        <p:spPr>
          <a:xfrm>
            <a:off x="7406640" y="3438144"/>
            <a:ext cx="0" cy="210312"/>
          </a:xfrm>
          <a:prstGeom prst="line">
            <a:avLst/>
          </a:prstGeom>
          <a:noFill/>
          <a:ln w="12700">
            <a:solidFill>
              <a:srgbClr val="919191"/>
            </a:solidFill>
            <a:prstDash val="solid"/>
            <a:tailEnd type="triangle"/>
          </a:ln>
        </p:spPr>
      </p:sp>
      <p:sp>
        <p:nvSpPr>
          <p:cNvPr id="30" name="Shape 27"/>
          <p:cNvSpPr/>
          <p:nvPr/>
        </p:nvSpPr>
        <p:spPr>
          <a:xfrm>
            <a:off x="6126480" y="3648456"/>
            <a:ext cx="2560320" cy="411480"/>
          </a:xfrm>
          <a:prstGeom prst="rect">
            <a:avLst/>
          </a:prstGeom>
          <a:solidFill>
            <a:srgbClr val="F7F7F5"/>
          </a:solidFill>
          <a:ln w="9525">
            <a:solidFill>
              <a:srgbClr val="E5E5E5"/>
            </a:solidFill>
            <a:prstDash val="solid"/>
          </a:ln>
        </p:spPr>
      </p:sp>
      <p:sp>
        <p:nvSpPr>
          <p:cNvPr id="31" name="Text 28"/>
          <p:cNvSpPr txBox="1"/>
          <p:nvPr/>
        </p:nvSpPr>
        <p:spPr>
          <a:xfrm>
            <a:off x="6126480" y="3648456"/>
            <a:ext cx="2560320" cy="411480"/>
          </a:xfrm>
          <a:prstGeom prst="rect">
            <a:avLst/>
          </a:prstGeom>
          <a:noFill/>
          <a:ln/>
        </p:spPr>
        <p:txBody>
          <a:bodyPr wrap="square" lIns="635" tIns="635" rIns="635" bIns="635" rtlCol="0" anchor="ctr"/>
          <a:lstStyle/>
          <a:p>
            <a:pPr algn="ctr" indent="0" marL="0">
              <a:buNone/>
            </a:pPr>
            <a:r>
              <a:rPr lang="en-US" sz="1000" b="1" dirty="0">
                <a:solidFill>
                  <a:srgbClr val="1C1C1C"/>
                </a:solidFill>
                <a:latin typeface="Geist" pitchFamily="34" charset="0"/>
                <a:ea typeface="Geist" pitchFamily="34" charset="-122"/>
                <a:cs typeface="Geist" pitchFamily="34" charset="-120"/>
              </a:rPr>
              <a:t>Postgres</a:t>
            </a:r>
            <a:endParaRPr lang="en-US" sz="1000" dirty="0"/>
          </a:p>
        </p:txBody>
      </p:sp>
      <p:sp>
        <p:nvSpPr>
          <p:cNvPr id="32" name="Text 29"/>
          <p:cNvSpPr txBox="1"/>
          <p:nvPr/>
        </p:nvSpPr>
        <p:spPr>
          <a:xfrm>
            <a:off x="457200" y="4206240"/>
            <a:ext cx="5486400" cy="274320"/>
          </a:xfrm>
          <a:prstGeom prst="rect">
            <a:avLst/>
          </a:prstGeom>
          <a:noFill/>
          <a:ln/>
        </p:spPr>
        <p:txBody>
          <a:bodyPr wrap="square" lIns="0" tIns="0" rIns="0" bIns="0" rtlCol="0" anchor="t"/>
          <a:lstStyle/>
          <a:p>
            <a:pPr indent="0" marL="0">
              <a:buNone/>
            </a:pPr>
            <a:r>
              <a:rPr lang="en-US" sz="900" dirty="0">
                <a:solidFill>
                  <a:srgbClr val="1C1C1C"/>
                </a:solidFill>
                <a:latin typeface="IBM Plex Mono" pitchFamily="34" charset="0"/>
                <a:ea typeface="IBM Plex Mono" pitchFamily="34" charset="-122"/>
                <a:cs typeface="IBM Plex Mono" pitchFamily="34" charset="-120"/>
              </a:rPr>
              <a:t>docker compose up -d   ·   python -m erp.seed</a:t>
            </a:r>
            <a:endParaRPr lang="en-US" sz="900" dirty="0"/>
          </a:p>
        </p:txBody>
      </p:sp>
      <p:sp>
        <p:nvSpPr>
          <p:cNvPr id="33" name="Text 30"/>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900" dirty="0">
                <a:solidFill>
                  <a:srgbClr val="919191"/>
                </a:solidFill>
                <a:latin typeface="Geist" pitchFamily="34" charset="0"/>
                <a:ea typeface="Geist" pitchFamily="34" charset="-122"/>
                <a:cs typeface="Geist" pitchFamily="34" charset="-120"/>
              </a:rPr>
              <a:t>2 companies · 50 items · 303 orders · 222 invoices — fixed seed, same numbers as the video</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457200" y="292608"/>
            <a:ext cx="8229600" cy="231140"/>
          </a:xfrm>
          <a:prstGeom prst="rect">
            <a:avLst/>
          </a:prstGeom>
          <a:noFill/>
          <a:ln/>
        </p:spPr>
        <p:txBody>
          <a:bodyPr wrap="square" lIns="0" tIns="0" rIns="0" bIns="0" rtlCol="0" anchor="ctr"/>
          <a:lstStyle/>
          <a:p>
            <a:pPr indent="0" marL="0">
              <a:buNone/>
            </a:pPr>
            <a:r>
              <a:rPr lang="en-US" sz="1400" b="1" spc="-200" kern="0" dirty="0">
                <a:solidFill>
                  <a:srgbClr val="1C1C1C"/>
                </a:solidFill>
                <a:latin typeface="Geist" pitchFamily="34" charset="0"/>
                <a:ea typeface="Geist" pitchFamily="34" charset="-122"/>
                <a:cs typeface="Geist" pitchFamily="34" charset="-120"/>
              </a:rPr>
              <a:t>learn with </a:t>
            </a:r>
            <a:pPr indent="0" marL="0">
              <a:buNone/>
            </a:pPr>
            <a:r>
              <a:rPr lang="en-US" sz="1400" b="1" spc="-200" kern="0" dirty="0">
                <a:solidFill>
                  <a:srgbClr val="FF5700"/>
                </a:solidFill>
                <a:latin typeface="Geist" pitchFamily="34" charset="0"/>
                <a:ea typeface="Geist" pitchFamily="34" charset="-122"/>
                <a:cs typeface="Geist" pitchFamily="34" charset="-120"/>
              </a:rPr>
              <a:t>harsha</a:t>
            </a:r>
            <a:pPr indent="0" marL="0">
              <a:buNone/>
            </a:pPr>
            <a:r>
              <a:rPr lang="en-US" sz="600" b="1" spc="-200" kern="0" dirty="0">
                <a:solidFill>
                  <a:srgbClr val="FF5700"/>
                </a:solidFill>
                <a:latin typeface="Geist" pitchFamily="34" charset="0"/>
                <a:ea typeface="Geist" pitchFamily="34" charset="-122"/>
                <a:cs typeface="Geist" pitchFamily="34" charset="-120"/>
              </a:rPr>
              <a:t>■</a:t>
            </a:r>
            <a:endParaRPr lang="en-US" sz="1400" dirty="0"/>
          </a:p>
        </p:txBody>
      </p:sp>
      <p:sp>
        <p:nvSpPr>
          <p:cNvPr id="4" name="Shape 1"/>
          <p:cNvSpPr/>
          <p:nvPr/>
        </p:nvSpPr>
        <p:spPr>
          <a:xfrm>
            <a:off x="457200" y="813816"/>
            <a:ext cx="91440" cy="91440"/>
          </a:xfrm>
          <a:prstGeom prst="rect">
            <a:avLst/>
          </a:prstGeom>
          <a:solidFill>
            <a:srgbClr val="FF5700"/>
          </a:solidFill>
          <a:ln/>
        </p:spPr>
      </p:sp>
      <p:sp>
        <p:nvSpPr>
          <p:cNvPr id="5" name="Text 2"/>
          <p:cNvSpPr txBox="1"/>
          <p:nvPr/>
        </p:nvSpPr>
        <p:spPr>
          <a:xfrm>
            <a:off x="621792" y="713232"/>
            <a:ext cx="6400800" cy="292608"/>
          </a:xfrm>
          <a:prstGeom prst="rect">
            <a:avLst/>
          </a:prstGeom>
          <a:noFill/>
          <a:ln/>
        </p:spPr>
        <p:txBody>
          <a:bodyPr wrap="square" lIns="0" tIns="0" rIns="0" bIns="0" rtlCol="0" anchor="ctr"/>
          <a:lstStyle/>
          <a:p>
            <a:pPr indent="0" marL="0">
              <a:buNone/>
            </a:pPr>
            <a:r>
              <a:rPr lang="en-US" sz="1000" spc="400" kern="0" dirty="0">
                <a:solidFill>
                  <a:srgbClr val="FF5700"/>
                </a:solidFill>
                <a:latin typeface="IBM Plex Mono" pitchFamily="34" charset="0"/>
                <a:ea typeface="IBM Plex Mono" pitchFamily="34" charset="-122"/>
                <a:cs typeface="IBM Plex Mono" pitchFamily="34" charset="-120"/>
              </a:rPr>
              <a:t>LIVE CODE 1</a:t>
            </a:r>
            <a:endParaRPr lang="en-US" sz="1000" dirty="0"/>
          </a:p>
        </p:txBody>
      </p:sp>
      <p:sp>
        <p:nvSpPr>
          <p:cNvPr id="6" name="Text 3"/>
          <p:cNvSpPr txBox="1"/>
          <p:nvPr/>
        </p:nvSpPr>
        <p:spPr>
          <a:xfrm>
            <a:off x="457200" y="987552"/>
            <a:ext cx="8229600" cy="640080"/>
          </a:xfrm>
          <a:prstGeom prst="rect">
            <a:avLst/>
          </a:prstGeom>
          <a:noFill/>
          <a:ln/>
        </p:spPr>
        <p:txBody>
          <a:bodyPr wrap="square" lIns="0" tIns="0" rIns="0" bIns="0" rtlCol="0" anchor="ctr"/>
          <a:lstStyle/>
          <a:p>
            <a:pPr indent="0" marL="0">
              <a:buNone/>
            </a:pPr>
            <a:r>
              <a:rPr lang="en-US" sz="2800" b="1" spc="-100" kern="0" dirty="0">
                <a:solidFill>
                  <a:srgbClr val="1C1C1C"/>
                </a:solidFill>
                <a:latin typeface="Geist" pitchFamily="34" charset="0"/>
                <a:ea typeface="Geist" pitchFamily="34" charset="-122"/>
                <a:cs typeface="Geist" pitchFamily="34" charset="-120"/>
              </a:rPr>
              <a:t>The server skeleton</a:t>
            </a:r>
            <a:endParaRPr lang="en-US" sz="2800" dirty="0"/>
          </a:p>
        </p:txBody>
      </p:sp>
      <p:sp>
        <p:nvSpPr>
          <p:cNvPr id="7" name="Text 4"/>
          <p:cNvSpPr txBox="1"/>
          <p:nvPr/>
        </p:nvSpPr>
        <p:spPr>
          <a:xfrm>
            <a:off x="457200" y="4754880"/>
            <a:ext cx="5943600" cy="228600"/>
          </a:xfrm>
          <a:prstGeom prst="rect">
            <a:avLst/>
          </a:prstGeom>
          <a:noFill/>
          <a:ln/>
        </p:spPr>
        <p:txBody>
          <a:bodyPr wrap="square" lIns="0" tIns="0" rIns="0" bIns="0" rtlCol="0" anchor="ctr"/>
          <a:lstStyle/>
          <a:p>
            <a:pP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 Learning · The Agentic Enterprise · Ep 3</a:t>
            </a:r>
            <a:endParaRPr lang="en-US" sz="800" dirty="0"/>
          </a:p>
        </p:txBody>
      </p:sp>
      <p:sp>
        <p:nvSpPr>
          <p:cNvPr id="8" name="Text 5"/>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arthashastra.ai</a:t>
            </a:r>
            <a:endParaRPr lang="en-US" sz="800" dirty="0"/>
          </a:p>
        </p:txBody>
      </p:sp>
      <p:sp>
        <p:nvSpPr>
          <p:cNvPr id="9" name="Shape 6"/>
          <p:cNvSpPr/>
          <p:nvPr/>
        </p:nvSpPr>
        <p:spPr>
          <a:xfrm>
            <a:off x="457200" y="1783080"/>
            <a:ext cx="5120640" cy="2194560"/>
          </a:xfrm>
          <a:prstGeom prst="rect">
            <a:avLst/>
          </a:prstGeom>
          <a:solidFill>
            <a:srgbClr val="111111"/>
          </a:solidFill>
          <a:ln/>
        </p:spPr>
      </p:sp>
      <p:sp>
        <p:nvSpPr>
          <p:cNvPr id="10" name="Text 7"/>
          <p:cNvSpPr txBox="1"/>
          <p:nvPr/>
        </p:nvSpPr>
        <p:spPr>
          <a:xfrm>
            <a:off x="640080" y="1920240"/>
            <a:ext cx="4754880" cy="1920240"/>
          </a:xfrm>
          <a:prstGeom prst="rect">
            <a:avLst/>
          </a:prstGeom>
          <a:noFill/>
          <a:ln/>
        </p:spPr>
        <p:txBody>
          <a:bodyPr wrap="square" lIns="0" tIns="0" rIns="0" bIns="0" rtlCol="0" anchor="t"/>
          <a:lstStyle/>
          <a:p>
            <a:pPr indent="0" marL="0">
              <a:buNone/>
            </a:pPr>
            <a:r>
              <a:rPr lang="en-US" sz="1100" dirty="0">
                <a:solidFill>
                  <a:srgbClr val="E6E6E6"/>
                </a:solidFill>
                <a:latin typeface="IBM Plex Mono" pitchFamily="34" charset="0"/>
                <a:ea typeface="IBM Plex Mono" pitchFamily="34" charset="-122"/>
                <a:cs typeface="IBM Plex Mono" pitchFamily="34" charset="-120"/>
              </a:rPr>
              <a:t>from mcp.server.fastmcp import FastMCP</a:t>
            </a:r>
            <a:endParaRPr lang="en-US" sz="1100" dirty="0"/>
          </a:p>
          <a:p>
            <a:pPr indent="0" marL="0">
              <a:buNone/>
            </a:pPr>
            <a:endParaRPr lang="en-US" sz="1100" dirty="0"/>
          </a:p>
          <a:p>
            <a:pPr indent="0" marL="0">
              <a:buNone/>
            </a:pPr>
            <a:r>
              <a:rPr lang="en-US" sz="1100" dirty="0">
                <a:solidFill>
                  <a:srgbClr val="FF7A33"/>
                </a:solidFill>
                <a:latin typeface="IBM Plex Mono" pitchFamily="34" charset="0"/>
                <a:ea typeface="IBM Plex Mono" pitchFamily="34" charset="-122"/>
                <a:cs typeface="IBM Plex Mono" pitchFamily="34" charset="-120"/>
              </a:rPr>
              <a:t>mcp = FastMCP("erp")</a:t>
            </a:r>
            <a:endParaRPr lang="en-US" sz="1100" dirty="0"/>
          </a:p>
          <a:p>
            <a:pPr indent="0" marL="0">
              <a:buNone/>
            </a:pPr>
            <a:endParaRPr lang="en-US" sz="1100" dirty="0"/>
          </a:p>
          <a:p>
            <a:pPr indent="0" marL="0">
              <a:buNone/>
            </a:pPr>
            <a:r>
              <a:rPr lang="en-US" sz="1100" dirty="0">
                <a:solidFill>
                  <a:srgbClr val="E6E6E6"/>
                </a:solidFill>
                <a:latin typeface="IBM Plex Mono" pitchFamily="34" charset="0"/>
                <a:ea typeface="IBM Plex Mono" pitchFamily="34" charset="-122"/>
                <a:cs typeface="IBM Plex Mono" pitchFamily="34" charset="-120"/>
              </a:rPr>
              <a:t># ... tools go here ...</a:t>
            </a:r>
            <a:endParaRPr lang="en-US" sz="1100" dirty="0"/>
          </a:p>
          <a:p>
            <a:pPr indent="0" marL="0">
              <a:buNone/>
            </a:pPr>
            <a:endParaRPr lang="en-US" sz="1100" dirty="0"/>
          </a:p>
          <a:p>
            <a:pPr indent="0" marL="0">
              <a:buNone/>
            </a:pPr>
            <a:r>
              <a:rPr lang="en-US" sz="1100" dirty="0">
                <a:solidFill>
                  <a:srgbClr val="E6E6E6"/>
                </a:solidFill>
                <a:latin typeface="IBM Plex Mono" pitchFamily="34" charset="0"/>
                <a:ea typeface="IBM Plex Mono" pitchFamily="34" charset="-122"/>
                <a:cs typeface="IBM Plex Mono" pitchFamily="34" charset="-120"/>
              </a:rPr>
              <a:t>if __name__ == "__main__":</a:t>
            </a:r>
            <a:endParaRPr lang="en-US" sz="1100" dirty="0"/>
          </a:p>
          <a:p>
            <a:pPr indent="0" marL="0">
              <a:buNone/>
            </a:pPr>
            <a:r>
              <a:rPr lang="en-US" sz="1100" dirty="0">
                <a:solidFill>
                  <a:srgbClr val="FF7A33"/>
                </a:solidFill>
                <a:latin typeface="IBM Plex Mono" pitchFamily="34" charset="0"/>
                <a:ea typeface="IBM Plex Mono" pitchFamily="34" charset="-122"/>
                <a:cs typeface="IBM Plex Mono" pitchFamily="34" charset="-120"/>
              </a:rPr>
              <a:t>    mcp.run()   # stdio transport by default</a:t>
            </a:r>
            <a:endParaRPr lang="en-US" sz="1100" dirty="0"/>
          </a:p>
        </p:txBody>
      </p:sp>
      <p:sp>
        <p:nvSpPr>
          <p:cNvPr id="11" name="Text 8"/>
          <p:cNvSpPr txBox="1"/>
          <p:nvPr/>
        </p:nvSpPr>
        <p:spPr>
          <a:xfrm>
            <a:off x="5852160" y="1783080"/>
            <a:ext cx="2834640" cy="274320"/>
          </a:xfrm>
          <a:prstGeom prst="rect">
            <a:avLst/>
          </a:prstGeom>
          <a:noFill/>
          <a:ln/>
        </p:spPr>
        <p:txBody>
          <a:bodyPr wrap="square" lIns="0" tIns="0" rIns="0" bIns="0" rtlCol="0" anchor="t"/>
          <a:lstStyle/>
          <a:p>
            <a:pPr indent="0" marL="0">
              <a:buNone/>
            </a:pPr>
            <a:r>
              <a:rPr lang="en-US" sz="1000" dirty="0">
                <a:solidFill>
                  <a:srgbClr val="0E7C7B"/>
                </a:solidFill>
                <a:latin typeface="IBM Plex Mono" pitchFamily="34" charset="0"/>
                <a:ea typeface="IBM Plex Mono" pitchFamily="34" charset="-122"/>
                <a:cs typeface="IBM Plex Mono" pitchFamily="34" charset="-120"/>
              </a:rPr>
              <a:t>FastMCP</a:t>
            </a:r>
            <a:endParaRPr lang="en-US" sz="1000" dirty="0"/>
          </a:p>
        </p:txBody>
      </p:sp>
      <p:sp>
        <p:nvSpPr>
          <p:cNvPr id="12" name="Text 9"/>
          <p:cNvSpPr txBox="1"/>
          <p:nvPr/>
        </p:nvSpPr>
        <p:spPr>
          <a:xfrm>
            <a:off x="5852160" y="2057400"/>
            <a:ext cx="2834640" cy="502920"/>
          </a:xfrm>
          <a:prstGeom prst="rect">
            <a:avLst/>
          </a:prstGeom>
          <a:noFill/>
          <a:ln/>
        </p:spPr>
        <p:txBody>
          <a:bodyPr wrap="square" lIns="0" tIns="0" rIns="0" bIns="0" rtlCol="0" anchor="t"/>
          <a:lstStyle/>
          <a:p>
            <a:pPr indent="0" marL="0">
              <a:buNone/>
            </a:pPr>
            <a:r>
              <a:rPr lang="en-US" sz="1000" dirty="0">
                <a:solidFill>
                  <a:srgbClr val="6B7280"/>
                </a:solidFill>
                <a:latin typeface="Geist" pitchFamily="34" charset="0"/>
                <a:ea typeface="Geist" pitchFamily="34" charset="-122"/>
                <a:cs typeface="Geist" pitchFamily="34" charset="-120"/>
              </a:rPr>
              <a:t>the high-level server class in the official Python SDK — decorators, not boilerplate</a:t>
            </a:r>
            <a:endParaRPr lang="en-US" sz="1000" dirty="0"/>
          </a:p>
        </p:txBody>
      </p:sp>
      <p:sp>
        <p:nvSpPr>
          <p:cNvPr id="13" name="Text 10"/>
          <p:cNvSpPr txBox="1"/>
          <p:nvPr/>
        </p:nvSpPr>
        <p:spPr>
          <a:xfrm>
            <a:off x="5852160" y="2560320"/>
            <a:ext cx="2834640" cy="274320"/>
          </a:xfrm>
          <a:prstGeom prst="rect">
            <a:avLst/>
          </a:prstGeom>
          <a:noFill/>
          <a:ln/>
        </p:spPr>
        <p:txBody>
          <a:bodyPr wrap="square" lIns="0" tIns="0" rIns="0" bIns="0" rtlCol="0" anchor="t"/>
          <a:lstStyle/>
          <a:p>
            <a:pPr indent="0" marL="0">
              <a:buNone/>
            </a:pPr>
            <a:r>
              <a:rPr lang="en-US" sz="1000" dirty="0">
                <a:solidFill>
                  <a:srgbClr val="0E7C7B"/>
                </a:solidFill>
                <a:latin typeface="IBM Plex Mono" pitchFamily="34" charset="0"/>
                <a:ea typeface="IBM Plex Mono" pitchFamily="34" charset="-122"/>
                <a:cs typeface="IBM Plex Mono" pitchFamily="34" charset="-120"/>
              </a:rPr>
              <a:t>mcp.run()</a:t>
            </a:r>
            <a:endParaRPr lang="en-US" sz="1000" dirty="0"/>
          </a:p>
        </p:txBody>
      </p:sp>
      <p:sp>
        <p:nvSpPr>
          <p:cNvPr id="14" name="Text 11"/>
          <p:cNvSpPr txBox="1"/>
          <p:nvPr/>
        </p:nvSpPr>
        <p:spPr>
          <a:xfrm>
            <a:off x="5852160" y="2834640"/>
            <a:ext cx="2834640" cy="502920"/>
          </a:xfrm>
          <a:prstGeom prst="rect">
            <a:avLst/>
          </a:prstGeom>
          <a:noFill/>
          <a:ln/>
        </p:spPr>
        <p:txBody>
          <a:bodyPr wrap="square" lIns="0" tIns="0" rIns="0" bIns="0" rtlCol="0" anchor="t"/>
          <a:lstStyle/>
          <a:p>
            <a:pPr indent="0" marL="0">
              <a:buNone/>
            </a:pPr>
            <a:r>
              <a:rPr lang="en-US" sz="1000" dirty="0">
                <a:solidFill>
                  <a:srgbClr val="6B7280"/>
                </a:solidFill>
                <a:latin typeface="Geist" pitchFamily="34" charset="0"/>
                <a:ea typeface="Geist" pitchFamily="34" charset="-122"/>
                <a:cs typeface="Geist" pitchFamily="34" charset="-120"/>
              </a:rPr>
              <a:t>speaks JSON-RPC over stdin/stdout; the client launches it as a subprocess</a:t>
            </a:r>
            <a:endParaRPr lang="en-US" sz="1000" dirty="0"/>
          </a:p>
        </p:txBody>
      </p:sp>
      <p:sp>
        <p:nvSpPr>
          <p:cNvPr id="15" name="Text 12"/>
          <p:cNvSpPr txBox="1"/>
          <p:nvPr/>
        </p:nvSpPr>
        <p:spPr>
          <a:xfrm>
            <a:off x="5852160" y="3337560"/>
            <a:ext cx="2834640" cy="274320"/>
          </a:xfrm>
          <a:prstGeom prst="rect">
            <a:avLst/>
          </a:prstGeom>
          <a:noFill/>
          <a:ln/>
        </p:spPr>
        <p:txBody>
          <a:bodyPr wrap="square" lIns="0" tIns="0" rIns="0" bIns="0" rtlCol="0" anchor="t"/>
          <a:lstStyle/>
          <a:p>
            <a:pPr indent="0" marL="0">
              <a:buNone/>
            </a:pPr>
            <a:r>
              <a:rPr lang="en-US" sz="1000" dirty="0">
                <a:solidFill>
                  <a:srgbClr val="0E7C7B"/>
                </a:solidFill>
                <a:latin typeface="IBM Plex Mono" pitchFamily="34" charset="0"/>
                <a:ea typeface="IBM Plex Mono" pitchFamily="34" charset="-122"/>
                <a:cs typeface="IBM Plex Mono" pitchFamily="34" charset="-120"/>
              </a:rPr>
              <a:t>No tools yet</a:t>
            </a:r>
            <a:endParaRPr lang="en-US" sz="1000" dirty="0"/>
          </a:p>
        </p:txBody>
      </p:sp>
      <p:sp>
        <p:nvSpPr>
          <p:cNvPr id="16" name="Text 13"/>
          <p:cNvSpPr txBox="1"/>
          <p:nvPr/>
        </p:nvSpPr>
        <p:spPr>
          <a:xfrm>
            <a:off x="5852160" y="3611880"/>
            <a:ext cx="2834640" cy="502920"/>
          </a:xfrm>
          <a:prstGeom prst="rect">
            <a:avLst/>
          </a:prstGeom>
          <a:noFill/>
          <a:ln/>
        </p:spPr>
        <p:txBody>
          <a:bodyPr wrap="square" lIns="0" tIns="0" rIns="0" bIns="0" rtlCol="0" anchor="t"/>
          <a:lstStyle/>
          <a:p>
            <a:pPr indent="0" marL="0">
              <a:buNone/>
            </a:pPr>
            <a:r>
              <a:rPr lang="en-US" sz="1000" dirty="0">
                <a:solidFill>
                  <a:srgbClr val="6B7280"/>
                </a:solidFill>
                <a:latin typeface="Geist" pitchFamily="34" charset="0"/>
                <a:ea typeface="Geist" pitchFamily="34" charset="-122"/>
                <a:cs typeface="Geist" pitchFamily="34" charset="-120"/>
              </a:rPr>
              <a:t>a server with zero tools is valid — the client lists an empty set</a:t>
            </a:r>
            <a:endParaRPr lang="en-US" sz="1000" dirty="0"/>
          </a:p>
        </p:txBody>
      </p:sp>
      <p:sp>
        <p:nvSpPr>
          <p:cNvPr id="17" name="Text 14"/>
          <p:cNvSpPr txBox="1"/>
          <p:nvPr/>
        </p:nvSpPr>
        <p:spPr>
          <a:xfrm>
            <a:off x="457200" y="4114800"/>
            <a:ext cx="5120640" cy="274320"/>
          </a:xfrm>
          <a:prstGeom prst="rect">
            <a:avLst/>
          </a:prstGeom>
          <a:noFill/>
          <a:ln/>
        </p:spPr>
        <p:txBody>
          <a:bodyPr wrap="square" lIns="0" tIns="0" rIns="0" bIns="0" rtlCol="0" anchor="t"/>
          <a:lstStyle/>
          <a:p>
            <a:pPr indent="0" marL="0">
              <a:buNone/>
            </a:pPr>
            <a:r>
              <a:rPr lang="en-US" sz="900" dirty="0">
                <a:solidFill>
                  <a:srgbClr val="919191"/>
                </a:solidFill>
                <a:latin typeface="IBM Plex Mono" pitchFamily="34" charset="0"/>
                <a:ea typeface="IBM Plex Mono" pitchFamily="34" charset="-122"/>
                <a:cs typeface="IBM Plex Mono" pitchFamily="34" charset="-120"/>
              </a:rPr>
              <a:t>pip install mcp sqlalchemy psycopg[binary]</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457200" y="292608"/>
            <a:ext cx="8229600" cy="231140"/>
          </a:xfrm>
          <a:prstGeom prst="rect">
            <a:avLst/>
          </a:prstGeom>
          <a:noFill/>
          <a:ln/>
        </p:spPr>
        <p:txBody>
          <a:bodyPr wrap="square" lIns="0" tIns="0" rIns="0" bIns="0" rtlCol="0" anchor="ctr"/>
          <a:lstStyle/>
          <a:p>
            <a:pPr indent="0" marL="0">
              <a:buNone/>
            </a:pPr>
            <a:r>
              <a:rPr lang="en-US" sz="1400" b="1" spc="-200" kern="0" dirty="0">
                <a:solidFill>
                  <a:srgbClr val="1C1C1C"/>
                </a:solidFill>
                <a:latin typeface="Geist" pitchFamily="34" charset="0"/>
                <a:ea typeface="Geist" pitchFamily="34" charset="-122"/>
                <a:cs typeface="Geist" pitchFamily="34" charset="-120"/>
              </a:rPr>
              <a:t>learn with </a:t>
            </a:r>
            <a:pPr indent="0" marL="0">
              <a:buNone/>
            </a:pPr>
            <a:r>
              <a:rPr lang="en-US" sz="1400" b="1" spc="-200" kern="0" dirty="0">
                <a:solidFill>
                  <a:srgbClr val="FF5700"/>
                </a:solidFill>
                <a:latin typeface="Geist" pitchFamily="34" charset="0"/>
                <a:ea typeface="Geist" pitchFamily="34" charset="-122"/>
                <a:cs typeface="Geist" pitchFamily="34" charset="-120"/>
              </a:rPr>
              <a:t>harsha</a:t>
            </a:r>
            <a:pPr indent="0" marL="0">
              <a:buNone/>
            </a:pPr>
            <a:r>
              <a:rPr lang="en-US" sz="600" b="1" spc="-200" kern="0" dirty="0">
                <a:solidFill>
                  <a:srgbClr val="FF5700"/>
                </a:solidFill>
                <a:latin typeface="Geist" pitchFamily="34" charset="0"/>
                <a:ea typeface="Geist" pitchFamily="34" charset="-122"/>
                <a:cs typeface="Geist" pitchFamily="34" charset="-120"/>
              </a:rPr>
              <a:t>■</a:t>
            </a:r>
            <a:endParaRPr lang="en-US" sz="1400" dirty="0"/>
          </a:p>
        </p:txBody>
      </p:sp>
      <p:sp>
        <p:nvSpPr>
          <p:cNvPr id="4" name="Shape 1"/>
          <p:cNvSpPr/>
          <p:nvPr/>
        </p:nvSpPr>
        <p:spPr>
          <a:xfrm>
            <a:off x="457200" y="813816"/>
            <a:ext cx="91440" cy="91440"/>
          </a:xfrm>
          <a:prstGeom prst="rect">
            <a:avLst/>
          </a:prstGeom>
          <a:solidFill>
            <a:srgbClr val="FF5700"/>
          </a:solidFill>
          <a:ln/>
        </p:spPr>
      </p:sp>
      <p:sp>
        <p:nvSpPr>
          <p:cNvPr id="5" name="Text 2"/>
          <p:cNvSpPr txBox="1"/>
          <p:nvPr/>
        </p:nvSpPr>
        <p:spPr>
          <a:xfrm>
            <a:off x="621792" y="713232"/>
            <a:ext cx="6400800" cy="292608"/>
          </a:xfrm>
          <a:prstGeom prst="rect">
            <a:avLst/>
          </a:prstGeom>
          <a:noFill/>
          <a:ln/>
        </p:spPr>
        <p:txBody>
          <a:bodyPr wrap="square" lIns="0" tIns="0" rIns="0" bIns="0" rtlCol="0" anchor="ctr"/>
          <a:lstStyle/>
          <a:p>
            <a:pPr indent="0" marL="0">
              <a:buNone/>
            </a:pPr>
            <a:r>
              <a:rPr lang="en-US" sz="1000" spc="400" kern="0" dirty="0">
                <a:solidFill>
                  <a:srgbClr val="FF5700"/>
                </a:solidFill>
                <a:latin typeface="IBM Plex Mono" pitchFamily="34" charset="0"/>
                <a:ea typeface="IBM Plex Mono" pitchFamily="34" charset="-122"/>
                <a:cs typeface="IBM Plex Mono" pitchFamily="34" charset="-120"/>
              </a:rPr>
              <a:t>LIVE CODE 2</a:t>
            </a:r>
            <a:endParaRPr lang="en-US" sz="1000" dirty="0"/>
          </a:p>
        </p:txBody>
      </p:sp>
      <p:sp>
        <p:nvSpPr>
          <p:cNvPr id="6" name="Text 3"/>
          <p:cNvSpPr txBox="1"/>
          <p:nvPr/>
        </p:nvSpPr>
        <p:spPr>
          <a:xfrm>
            <a:off x="457200" y="987552"/>
            <a:ext cx="8229600" cy="640080"/>
          </a:xfrm>
          <a:prstGeom prst="rect">
            <a:avLst/>
          </a:prstGeom>
          <a:noFill/>
          <a:ln/>
        </p:spPr>
        <p:txBody>
          <a:bodyPr wrap="square" lIns="0" tIns="0" rIns="0" bIns="0" rtlCol="0" anchor="ctr"/>
          <a:lstStyle/>
          <a:p>
            <a:pPr indent="0" marL="0">
              <a:buNone/>
            </a:pPr>
            <a:r>
              <a:rPr lang="en-US" sz="2800" b="1" spc="-100" kern="0" dirty="0">
                <a:solidFill>
                  <a:srgbClr val="1C1C1C"/>
                </a:solidFill>
                <a:latin typeface="Geist" pitchFamily="34" charset="0"/>
                <a:ea typeface="Geist" pitchFamily="34" charset="-122"/>
                <a:cs typeface="Geist" pitchFamily="34" charset="-120"/>
              </a:rPr>
              <a:t>Three tools, one pattern</a:t>
            </a:r>
            <a:endParaRPr lang="en-US" sz="2800" dirty="0"/>
          </a:p>
        </p:txBody>
      </p:sp>
      <p:sp>
        <p:nvSpPr>
          <p:cNvPr id="7" name="Text 4"/>
          <p:cNvSpPr txBox="1"/>
          <p:nvPr/>
        </p:nvSpPr>
        <p:spPr>
          <a:xfrm>
            <a:off x="457200" y="4754880"/>
            <a:ext cx="5943600" cy="228600"/>
          </a:xfrm>
          <a:prstGeom prst="rect">
            <a:avLst/>
          </a:prstGeom>
          <a:noFill/>
          <a:ln/>
        </p:spPr>
        <p:txBody>
          <a:bodyPr wrap="square" lIns="0" tIns="0" rIns="0" bIns="0" rtlCol="0" anchor="ctr"/>
          <a:lstStyle/>
          <a:p>
            <a:pP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 Learning · The Agentic Enterprise · Ep 3</a:t>
            </a:r>
            <a:endParaRPr lang="en-US" sz="800" dirty="0"/>
          </a:p>
        </p:txBody>
      </p:sp>
      <p:sp>
        <p:nvSpPr>
          <p:cNvPr id="8" name="Text 5"/>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arthashastra.ai</a:t>
            </a:r>
            <a:endParaRPr lang="en-US" sz="800" dirty="0"/>
          </a:p>
        </p:txBody>
      </p:sp>
      <p:sp>
        <p:nvSpPr>
          <p:cNvPr id="9" name="Shape 6"/>
          <p:cNvSpPr/>
          <p:nvPr/>
        </p:nvSpPr>
        <p:spPr>
          <a:xfrm>
            <a:off x="457200" y="1783080"/>
            <a:ext cx="5394960" cy="2697480"/>
          </a:xfrm>
          <a:prstGeom prst="rect">
            <a:avLst/>
          </a:prstGeom>
          <a:solidFill>
            <a:srgbClr val="111111"/>
          </a:solidFill>
          <a:ln/>
        </p:spPr>
      </p:sp>
      <p:sp>
        <p:nvSpPr>
          <p:cNvPr id="10" name="Text 7"/>
          <p:cNvSpPr txBox="1"/>
          <p:nvPr/>
        </p:nvSpPr>
        <p:spPr>
          <a:xfrm>
            <a:off x="640080" y="1920240"/>
            <a:ext cx="5029200" cy="2423160"/>
          </a:xfrm>
          <a:prstGeom prst="rect">
            <a:avLst/>
          </a:prstGeom>
          <a:noFill/>
          <a:ln/>
        </p:spPr>
        <p:txBody>
          <a:bodyPr wrap="square" lIns="0" tIns="0" rIns="0" bIns="0" rtlCol="0" anchor="t"/>
          <a:lstStyle/>
          <a:p>
            <a:pPr indent="0" marL="0">
              <a:buNone/>
            </a:pPr>
            <a:r>
              <a:rPr lang="en-US" sz="900" dirty="0">
                <a:solidFill>
                  <a:srgbClr val="FF7A33"/>
                </a:solidFill>
                <a:latin typeface="IBM Plex Mono" pitchFamily="34" charset="0"/>
                <a:ea typeface="IBM Plex Mono" pitchFamily="34" charset="-122"/>
                <a:cs typeface="IBM Plex Mono" pitchFamily="34" charset="-120"/>
              </a:rPr>
              <a:t>@mcp.tool()</a:t>
            </a:r>
            <a:endParaRPr lang="en-US" sz="900" dirty="0"/>
          </a:p>
          <a:p>
            <a:pPr indent="0" marL="0">
              <a:buNone/>
            </a:pPr>
            <a:r>
              <a:rPr lang="en-US" sz="900" dirty="0">
                <a:solidFill>
                  <a:srgbClr val="E6E6E6"/>
                </a:solidFill>
                <a:latin typeface="IBM Plex Mono" pitchFamily="34" charset="0"/>
                <a:ea typeface="IBM Plex Mono" pitchFamily="34" charset="-122"/>
                <a:cs typeface="IBM Plex Mono" pitchFamily="34" charset="-120"/>
              </a:rPr>
              <a:t>def get_item_stock(sku: str) -&gt; str:</a:t>
            </a:r>
            <a:endParaRPr lang="en-US" sz="900" dirty="0"/>
          </a:p>
          <a:p>
            <a:pPr indent="0" marL="0">
              <a:buNone/>
            </a:pPr>
            <a:r>
              <a:rPr lang="en-US" sz="900" dirty="0">
                <a:solidFill>
                  <a:srgbClr val="4FB3BF"/>
                </a:solidFill>
                <a:latin typeface="IBM Plex Mono" pitchFamily="34" charset="0"/>
                <a:ea typeface="IBM Plex Mono" pitchFamily="34" charset="-122"/>
                <a:cs typeface="IBM Plex Mono" pitchFamily="34" charset="-120"/>
              </a:rPr>
              <a:t>    """Inventory: stock on hand and reserved for one SKU</a:t>
            </a:r>
            <a:endParaRPr lang="en-US" sz="900" dirty="0"/>
          </a:p>
          <a:p>
            <a:pPr indent="0" marL="0">
              <a:buNone/>
            </a:pPr>
            <a:r>
              <a:rPr lang="en-US" sz="900" dirty="0">
                <a:solidFill>
                  <a:srgbClr val="4FB3BF"/>
                </a:solidFill>
                <a:latin typeface="IBM Plex Mono" pitchFamily="34" charset="0"/>
                <a:ea typeface="IBM Plex Mono" pitchFamily="34" charset="-122"/>
                <a:cs typeface="IBM Plex Mono" pitchFamily="34" charset="-120"/>
              </a:rPr>
              <a:t>    (e.g. 'WH-204') across warehouses, plus reorder level.</a:t>
            </a:r>
            <a:endParaRPr lang="en-US" sz="900" dirty="0"/>
          </a:p>
          <a:p>
            <a:pPr indent="0" marL="0">
              <a:buNone/>
            </a:pPr>
            <a:r>
              <a:rPr lang="en-US" sz="900" dirty="0">
                <a:solidFill>
                  <a:srgbClr val="4FB3BF"/>
                </a:solidFill>
                <a:latin typeface="IBM Plex Mono" pitchFamily="34" charset="0"/>
                <a:ea typeface="IBM Plex Mono" pitchFamily="34" charset="-122"/>
                <a:cs typeface="IBM Plex Mono" pitchFamily="34" charset="-120"/>
              </a:rPr>
              <a:t>    Use when asked whether something is in stock."""</a:t>
            </a:r>
            <a:endParaRPr lang="en-US" sz="900" dirty="0"/>
          </a:p>
          <a:p>
            <a:pPr indent="0" marL="0">
              <a:buNone/>
            </a:pPr>
            <a:r>
              <a:rPr lang="en-US" sz="900" dirty="0">
                <a:solidFill>
                  <a:srgbClr val="E6E6E6"/>
                </a:solidFill>
                <a:latin typeface="IBM Plex Mono" pitchFamily="34" charset="0"/>
                <a:ea typeface="IBM Plex Mono" pitchFamily="34" charset="-122"/>
                <a:cs typeface="IBM Plex Mono" pitchFamily="34" charset="-120"/>
              </a:rPr>
              <a:t>    with engine.connect() as con:</a:t>
            </a:r>
            <a:endParaRPr lang="en-US" sz="900" dirty="0"/>
          </a:p>
          <a:p>
            <a:pPr indent="0" marL="0">
              <a:buNone/>
            </a:pPr>
            <a:r>
              <a:rPr lang="en-US" sz="900" dirty="0">
                <a:solidFill>
                  <a:srgbClr val="E6E6E6"/>
                </a:solidFill>
                <a:latin typeface="IBM Plex Mono" pitchFamily="34" charset="0"/>
                <a:ea typeface="IBM Plex Mono" pitchFamily="34" charset="-122"/>
                <a:cs typeface="IBM Plex Mono" pitchFamily="34" charset="-120"/>
              </a:rPr>
              <a:t>        item = con.execute(select(items)</a:t>
            </a:r>
            <a:endParaRPr lang="en-US" sz="900" dirty="0"/>
          </a:p>
          <a:p>
            <a:pPr indent="0" marL="0">
              <a:buNone/>
            </a:pPr>
            <a:r>
              <a:rPr lang="en-US" sz="900" dirty="0">
                <a:solidFill>
                  <a:srgbClr val="FF8A80"/>
                </a:solidFill>
                <a:latin typeface="IBM Plex Mono" pitchFamily="34" charset="0"/>
                <a:ea typeface="IBM Plex Mono" pitchFamily="34" charset="-122"/>
                <a:cs typeface="IBM Plex Mono" pitchFamily="34" charset="-120"/>
              </a:rPr>
              <a:t>            .where(items.c.sku == sku, items.c.company_id == COMPANY)</a:t>
            </a:r>
            <a:endParaRPr lang="en-US" sz="900" dirty="0"/>
          </a:p>
          <a:p>
            <a:pPr indent="0" marL="0">
              <a:buNone/>
            </a:pPr>
            <a:r>
              <a:rPr lang="en-US" sz="900" dirty="0">
                <a:solidFill>
                  <a:srgbClr val="E6E6E6"/>
                </a:solidFill>
                <a:latin typeface="IBM Plex Mono" pitchFamily="34" charset="0"/>
                <a:ea typeface="IBM Plex Mono" pitchFamily="34" charset="-122"/>
                <a:cs typeface="IBM Plex Mono" pitchFamily="34" charset="-120"/>
              </a:rPr>
              <a:t>        ).mappings().first()</a:t>
            </a:r>
            <a:endParaRPr lang="en-US" sz="900" dirty="0"/>
          </a:p>
          <a:p>
            <a:pPr indent="0" marL="0">
              <a:buNone/>
            </a:pPr>
            <a:r>
              <a:rPr lang="en-US" sz="900" dirty="0">
                <a:solidFill>
                  <a:srgbClr val="E6E6E6"/>
                </a:solidFill>
                <a:latin typeface="IBM Plex Mono" pitchFamily="34" charset="0"/>
                <a:ea typeface="IBM Plex Mono" pitchFamily="34" charset="-122"/>
                <a:cs typeface="IBM Plex Mono" pitchFamily="34" charset="-120"/>
              </a:rPr>
              <a:t>        ...</a:t>
            </a:r>
            <a:endParaRPr lang="en-US" sz="900" dirty="0"/>
          </a:p>
          <a:p>
            <a:pPr indent="0" marL="0">
              <a:buNone/>
            </a:pPr>
            <a:r>
              <a:rPr lang="en-US" sz="900" dirty="0">
                <a:solidFill>
                  <a:srgbClr val="E6E6E6"/>
                </a:solidFill>
                <a:latin typeface="IBM Plex Mono" pitchFamily="34" charset="0"/>
                <a:ea typeface="IBM Plex Mono" pitchFamily="34" charset="-122"/>
                <a:cs typeface="IBM Plex Mono" pitchFamily="34" charset="-120"/>
              </a:rPr>
              <a:t>    return _j({"sku": ..., "available_total": total, ...})</a:t>
            </a:r>
            <a:endParaRPr lang="en-US" sz="900" dirty="0"/>
          </a:p>
          <a:p>
            <a:pPr indent="0" marL="0">
              <a:buNone/>
            </a:pPr>
            <a:endParaRPr lang="en-US" sz="900" dirty="0"/>
          </a:p>
          <a:p>
            <a:pPr indent="0" marL="0">
              <a:buNone/>
            </a:pPr>
            <a:r>
              <a:rPr lang="en-US" sz="900" dirty="0">
                <a:solidFill>
                  <a:srgbClr val="FF7A33"/>
                </a:solidFill>
                <a:latin typeface="IBM Plex Mono" pitchFamily="34" charset="0"/>
                <a:ea typeface="IBM Plex Mono" pitchFamily="34" charset="-122"/>
                <a:cs typeface="IBM Plex Mono" pitchFamily="34" charset="-120"/>
              </a:rPr>
              <a:t>@mcp.tool()</a:t>
            </a:r>
            <a:endParaRPr lang="en-US" sz="900" dirty="0"/>
          </a:p>
          <a:p>
            <a:pPr indent="0" marL="0">
              <a:buNone/>
            </a:pPr>
            <a:r>
              <a:rPr lang="en-US" sz="900" dirty="0">
                <a:solidFill>
                  <a:srgbClr val="E6E6E6"/>
                </a:solidFill>
                <a:latin typeface="IBM Plex Mono" pitchFamily="34" charset="0"/>
                <a:ea typeface="IBM Plex Mono" pitchFamily="34" charset="-122"/>
                <a:cs typeface="IBM Plex Mono" pitchFamily="34" charset="-120"/>
              </a:rPr>
              <a:t>def search_sales_orders(status="", customer_id="", limit=10) -&gt; str:</a:t>
            </a:r>
            <a:endParaRPr lang="en-US" sz="900" dirty="0"/>
          </a:p>
          <a:p>
            <a:pPr indent="0" marL="0">
              <a:buNone/>
            </a:pPr>
            <a:r>
              <a:rPr lang="en-US" sz="900" dirty="0">
                <a:solidFill>
                  <a:srgbClr val="FF8A80"/>
                </a:solidFill>
                <a:latin typeface="IBM Plex Mono" pitchFamily="34" charset="0"/>
                <a:ea typeface="IBM Plex Mono" pitchFamily="34" charset="-122"/>
                <a:cs typeface="IBM Plex Mono" pitchFamily="34" charset="-120"/>
              </a:rPr>
              <a:t>    limit = max(1, min(int(limit), MAX_ROWS))   # cap it</a:t>
            </a:r>
            <a:endParaRPr lang="en-US" sz="900" dirty="0"/>
          </a:p>
        </p:txBody>
      </p:sp>
      <p:sp>
        <p:nvSpPr>
          <p:cNvPr id="11" name="Text 8"/>
          <p:cNvSpPr txBox="1"/>
          <p:nvPr/>
        </p:nvSpPr>
        <p:spPr>
          <a:xfrm>
            <a:off x="6080760" y="1783080"/>
            <a:ext cx="2606040" cy="228600"/>
          </a:xfrm>
          <a:prstGeom prst="rect">
            <a:avLst/>
          </a:prstGeom>
          <a:noFill/>
          <a:ln/>
        </p:spPr>
        <p:txBody>
          <a:bodyPr wrap="square" lIns="0" tIns="0" rIns="0" bIns="0" rtlCol="0" anchor="t"/>
          <a:lstStyle/>
          <a:p>
            <a:pPr indent="0" marL="0">
              <a:buNone/>
            </a:pPr>
            <a:r>
              <a:rPr lang="en-US" sz="900" dirty="0">
                <a:solidFill>
                  <a:srgbClr val="FF5700"/>
                </a:solidFill>
                <a:latin typeface="IBM Plex Mono" pitchFamily="34" charset="0"/>
                <a:ea typeface="IBM Plex Mono" pitchFamily="34" charset="-122"/>
                <a:cs typeface="IBM Plex Mono" pitchFamily="34" charset="-120"/>
              </a:rPr>
              <a:t>Signature = schema</a:t>
            </a:r>
            <a:endParaRPr lang="en-US" sz="900" dirty="0"/>
          </a:p>
        </p:txBody>
      </p:sp>
      <p:sp>
        <p:nvSpPr>
          <p:cNvPr id="12" name="Text 9"/>
          <p:cNvSpPr txBox="1"/>
          <p:nvPr/>
        </p:nvSpPr>
        <p:spPr>
          <a:xfrm>
            <a:off x="6080760" y="2029968"/>
            <a:ext cx="2606040" cy="640080"/>
          </a:xfrm>
          <a:prstGeom prst="rect">
            <a:avLst/>
          </a:prstGeom>
          <a:noFill/>
          <a:ln/>
        </p:spPr>
        <p:txBody>
          <a:bodyPr wrap="square" lIns="0" tIns="0" rIns="0" bIns="0" rtlCol="0" anchor="t"/>
          <a:lstStyle/>
          <a:p>
            <a:pPr indent="0" marL="0">
              <a:buNone/>
            </a:pPr>
            <a:r>
              <a:rPr lang="en-US" sz="1000" dirty="0">
                <a:solidFill>
                  <a:srgbClr val="6B7280"/>
                </a:solidFill>
                <a:latin typeface="Geist" pitchFamily="34" charset="0"/>
                <a:ea typeface="Geist" pitchFamily="34" charset="-122"/>
                <a:cs typeface="Geist" pitchFamily="34" charset="-120"/>
              </a:rPr>
              <a:t>type hints become the JSON schema the client sends to the model</a:t>
            </a:r>
            <a:endParaRPr lang="en-US" sz="1000" dirty="0"/>
          </a:p>
        </p:txBody>
      </p:sp>
      <p:sp>
        <p:nvSpPr>
          <p:cNvPr id="13" name="Text 10"/>
          <p:cNvSpPr txBox="1"/>
          <p:nvPr/>
        </p:nvSpPr>
        <p:spPr>
          <a:xfrm>
            <a:off x="6080760" y="2697480"/>
            <a:ext cx="2606040" cy="228600"/>
          </a:xfrm>
          <a:prstGeom prst="rect">
            <a:avLst/>
          </a:prstGeom>
          <a:noFill/>
          <a:ln/>
        </p:spPr>
        <p:txBody>
          <a:bodyPr wrap="square" lIns="0" tIns="0" rIns="0" bIns="0" rtlCol="0" anchor="t"/>
          <a:lstStyle/>
          <a:p>
            <a:pPr indent="0" marL="0">
              <a:buNone/>
            </a:pPr>
            <a:r>
              <a:rPr lang="en-US" sz="900" dirty="0">
                <a:solidFill>
                  <a:srgbClr val="0E7C7B"/>
                </a:solidFill>
                <a:latin typeface="IBM Plex Mono" pitchFamily="34" charset="0"/>
                <a:ea typeface="IBM Plex Mono" pitchFamily="34" charset="-122"/>
                <a:cs typeface="IBM Plex Mono" pitchFamily="34" charset="-120"/>
              </a:rPr>
              <a:t>Docstring = description</a:t>
            </a:r>
            <a:endParaRPr lang="en-US" sz="900" dirty="0"/>
          </a:p>
        </p:txBody>
      </p:sp>
      <p:sp>
        <p:nvSpPr>
          <p:cNvPr id="14" name="Text 11"/>
          <p:cNvSpPr txBox="1"/>
          <p:nvPr/>
        </p:nvSpPr>
        <p:spPr>
          <a:xfrm>
            <a:off x="6080760" y="2944368"/>
            <a:ext cx="2606040" cy="640080"/>
          </a:xfrm>
          <a:prstGeom prst="rect">
            <a:avLst/>
          </a:prstGeom>
          <a:noFill/>
          <a:ln/>
        </p:spPr>
        <p:txBody>
          <a:bodyPr wrap="square" lIns="0" tIns="0" rIns="0" bIns="0" rtlCol="0" anchor="t"/>
          <a:lstStyle/>
          <a:p>
            <a:pPr indent="0" marL="0">
              <a:buNone/>
            </a:pPr>
            <a:r>
              <a:rPr lang="en-US" sz="1000" dirty="0">
                <a:solidFill>
                  <a:srgbClr val="6B7280"/>
                </a:solidFill>
                <a:latin typeface="Geist" pitchFamily="34" charset="0"/>
                <a:ea typeface="Geist" pitchFamily="34" charset="-122"/>
                <a:cs typeface="Geist" pitchFamily="34" charset="-120"/>
              </a:rPr>
              <a:t>the ONLY thing the model reads to decide when to call it</a:t>
            </a:r>
            <a:endParaRPr lang="en-US" sz="1000" dirty="0"/>
          </a:p>
        </p:txBody>
      </p:sp>
      <p:sp>
        <p:nvSpPr>
          <p:cNvPr id="15" name="Text 12"/>
          <p:cNvSpPr txBox="1"/>
          <p:nvPr/>
        </p:nvSpPr>
        <p:spPr>
          <a:xfrm>
            <a:off x="6080760" y="3611880"/>
            <a:ext cx="2606040" cy="228600"/>
          </a:xfrm>
          <a:prstGeom prst="rect">
            <a:avLst/>
          </a:prstGeom>
          <a:noFill/>
          <a:ln/>
        </p:spPr>
        <p:txBody>
          <a:bodyPr wrap="square" lIns="0" tIns="0" rIns="0" bIns="0" rtlCol="0" anchor="t"/>
          <a:lstStyle/>
          <a:p>
            <a:pPr indent="0" marL="0">
              <a:buNone/>
            </a:pPr>
            <a:r>
              <a:rPr lang="en-US" sz="900" dirty="0">
                <a:solidFill>
                  <a:srgbClr val="D14343"/>
                </a:solidFill>
                <a:latin typeface="IBM Plex Mono" pitchFamily="34" charset="0"/>
                <a:ea typeface="IBM Plex Mono" pitchFamily="34" charset="-122"/>
                <a:cs typeface="IBM Plex Mono" pitchFamily="34" charset="-120"/>
              </a:rPr>
              <a:t>Cap and filter</a:t>
            </a:r>
            <a:endParaRPr lang="en-US" sz="900" dirty="0"/>
          </a:p>
        </p:txBody>
      </p:sp>
      <p:sp>
        <p:nvSpPr>
          <p:cNvPr id="16" name="Text 13"/>
          <p:cNvSpPr txBox="1"/>
          <p:nvPr/>
        </p:nvSpPr>
        <p:spPr>
          <a:xfrm>
            <a:off x="6080760" y="3858768"/>
            <a:ext cx="2606040" cy="640080"/>
          </a:xfrm>
          <a:prstGeom prst="rect">
            <a:avLst/>
          </a:prstGeom>
          <a:noFill/>
          <a:ln/>
        </p:spPr>
        <p:txBody>
          <a:bodyPr wrap="square" lIns="0" tIns="0" rIns="0" bIns="0" rtlCol="0" anchor="t"/>
          <a:lstStyle/>
          <a:p>
            <a:pPr indent="0" marL="0">
              <a:buNone/>
            </a:pPr>
            <a:r>
              <a:rPr lang="en-US" sz="1000" dirty="0">
                <a:solidFill>
                  <a:srgbClr val="6B7280"/>
                </a:solidFill>
                <a:latin typeface="Geist" pitchFamily="34" charset="0"/>
                <a:ea typeface="Geist" pitchFamily="34" charset="-122"/>
                <a:cs typeface="Geist" pitchFamily="34" charset="-120"/>
              </a:rPr>
              <a:t>MAX_ROWS caps every list. COMPANY filters every query — from the environment, never the model.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457200" y="292608"/>
            <a:ext cx="8229600" cy="231140"/>
          </a:xfrm>
          <a:prstGeom prst="rect">
            <a:avLst/>
          </a:prstGeom>
          <a:noFill/>
          <a:ln/>
        </p:spPr>
        <p:txBody>
          <a:bodyPr wrap="square" lIns="0" tIns="0" rIns="0" bIns="0" rtlCol="0" anchor="ctr"/>
          <a:lstStyle/>
          <a:p>
            <a:pPr indent="0" marL="0">
              <a:buNone/>
            </a:pPr>
            <a:r>
              <a:rPr lang="en-US" sz="1400" b="1" spc="-200" kern="0" dirty="0">
                <a:solidFill>
                  <a:srgbClr val="1C1C1C"/>
                </a:solidFill>
                <a:latin typeface="Geist" pitchFamily="34" charset="0"/>
                <a:ea typeface="Geist" pitchFamily="34" charset="-122"/>
                <a:cs typeface="Geist" pitchFamily="34" charset="-120"/>
              </a:rPr>
              <a:t>learn with </a:t>
            </a:r>
            <a:pPr indent="0" marL="0">
              <a:buNone/>
            </a:pPr>
            <a:r>
              <a:rPr lang="en-US" sz="1400" b="1" spc="-200" kern="0" dirty="0">
                <a:solidFill>
                  <a:srgbClr val="FF5700"/>
                </a:solidFill>
                <a:latin typeface="Geist" pitchFamily="34" charset="0"/>
                <a:ea typeface="Geist" pitchFamily="34" charset="-122"/>
                <a:cs typeface="Geist" pitchFamily="34" charset="-120"/>
              </a:rPr>
              <a:t>harsha</a:t>
            </a:r>
            <a:pPr indent="0" marL="0">
              <a:buNone/>
            </a:pPr>
            <a:r>
              <a:rPr lang="en-US" sz="600" b="1" spc="-200" kern="0" dirty="0">
                <a:solidFill>
                  <a:srgbClr val="FF5700"/>
                </a:solidFill>
                <a:latin typeface="Geist" pitchFamily="34" charset="0"/>
                <a:ea typeface="Geist" pitchFamily="34" charset="-122"/>
                <a:cs typeface="Geist" pitchFamily="34" charset="-120"/>
              </a:rPr>
              <a:t>■</a:t>
            </a:r>
            <a:endParaRPr lang="en-US" sz="1400" dirty="0"/>
          </a:p>
        </p:txBody>
      </p:sp>
      <p:sp>
        <p:nvSpPr>
          <p:cNvPr id="4" name="Shape 1"/>
          <p:cNvSpPr/>
          <p:nvPr/>
        </p:nvSpPr>
        <p:spPr>
          <a:xfrm>
            <a:off x="457200" y="813816"/>
            <a:ext cx="91440" cy="91440"/>
          </a:xfrm>
          <a:prstGeom prst="rect">
            <a:avLst/>
          </a:prstGeom>
          <a:solidFill>
            <a:srgbClr val="FF5700"/>
          </a:solidFill>
          <a:ln/>
        </p:spPr>
      </p:sp>
      <p:sp>
        <p:nvSpPr>
          <p:cNvPr id="5" name="Text 2"/>
          <p:cNvSpPr txBox="1"/>
          <p:nvPr/>
        </p:nvSpPr>
        <p:spPr>
          <a:xfrm>
            <a:off x="621792" y="713232"/>
            <a:ext cx="6400800" cy="292608"/>
          </a:xfrm>
          <a:prstGeom prst="rect">
            <a:avLst/>
          </a:prstGeom>
          <a:noFill/>
          <a:ln/>
        </p:spPr>
        <p:txBody>
          <a:bodyPr wrap="square" lIns="0" tIns="0" rIns="0" bIns="0" rtlCol="0" anchor="ctr"/>
          <a:lstStyle/>
          <a:p>
            <a:pPr indent="0" marL="0">
              <a:buNone/>
            </a:pPr>
            <a:r>
              <a:rPr lang="en-US" sz="1000" spc="400" kern="0" dirty="0">
                <a:solidFill>
                  <a:srgbClr val="FF5700"/>
                </a:solidFill>
                <a:latin typeface="IBM Plex Mono" pitchFamily="34" charset="0"/>
                <a:ea typeface="IBM Plex Mono" pitchFamily="34" charset="-122"/>
                <a:cs typeface="IBM Plex Mono" pitchFamily="34" charset="-120"/>
              </a:rPr>
              <a:t>TEST IT</a:t>
            </a:r>
            <a:endParaRPr lang="en-US" sz="1000" dirty="0"/>
          </a:p>
        </p:txBody>
      </p:sp>
      <p:sp>
        <p:nvSpPr>
          <p:cNvPr id="6" name="Text 3"/>
          <p:cNvSpPr txBox="1"/>
          <p:nvPr/>
        </p:nvSpPr>
        <p:spPr>
          <a:xfrm>
            <a:off x="457200" y="987552"/>
            <a:ext cx="8229600" cy="640080"/>
          </a:xfrm>
          <a:prstGeom prst="rect">
            <a:avLst/>
          </a:prstGeom>
          <a:noFill/>
          <a:ln/>
        </p:spPr>
        <p:txBody>
          <a:bodyPr wrap="square" lIns="0" tIns="0" rIns="0" bIns="0" rtlCol="0" anchor="ctr"/>
          <a:lstStyle/>
          <a:p>
            <a:pPr indent="0" marL="0">
              <a:buNone/>
            </a:pPr>
            <a:r>
              <a:rPr lang="en-US" sz="2800" b="1" spc="-100" kern="0" dirty="0">
                <a:solidFill>
                  <a:srgbClr val="1C1C1C"/>
                </a:solidFill>
                <a:latin typeface="Geist" pitchFamily="34" charset="0"/>
                <a:ea typeface="Geist" pitchFamily="34" charset="-122"/>
                <a:cs typeface="Geist" pitchFamily="34" charset="-120"/>
              </a:rPr>
              <a:t>Before any agent touches it</a:t>
            </a:r>
            <a:endParaRPr lang="en-US" sz="2800" dirty="0"/>
          </a:p>
        </p:txBody>
      </p:sp>
      <p:sp>
        <p:nvSpPr>
          <p:cNvPr id="7" name="Text 4"/>
          <p:cNvSpPr txBox="1"/>
          <p:nvPr/>
        </p:nvSpPr>
        <p:spPr>
          <a:xfrm>
            <a:off x="457200" y="4754880"/>
            <a:ext cx="5943600" cy="228600"/>
          </a:xfrm>
          <a:prstGeom prst="rect">
            <a:avLst/>
          </a:prstGeom>
          <a:noFill/>
          <a:ln/>
        </p:spPr>
        <p:txBody>
          <a:bodyPr wrap="square" lIns="0" tIns="0" rIns="0" bIns="0" rtlCol="0" anchor="ctr"/>
          <a:lstStyle/>
          <a:p>
            <a:pP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 Learning · The Agentic Enterprise · Ep 3</a:t>
            </a:r>
            <a:endParaRPr lang="en-US" sz="800" dirty="0"/>
          </a:p>
        </p:txBody>
      </p:sp>
      <p:sp>
        <p:nvSpPr>
          <p:cNvPr id="8" name="Text 5"/>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arthashastra.ai</a:t>
            </a:r>
            <a:endParaRPr lang="en-US" sz="800" dirty="0"/>
          </a:p>
        </p:txBody>
      </p:sp>
      <p:sp>
        <p:nvSpPr>
          <p:cNvPr id="9" name="Shape 6"/>
          <p:cNvSpPr/>
          <p:nvPr/>
        </p:nvSpPr>
        <p:spPr>
          <a:xfrm>
            <a:off x="457200" y="1783080"/>
            <a:ext cx="8229600" cy="502920"/>
          </a:xfrm>
          <a:prstGeom prst="rect">
            <a:avLst/>
          </a:prstGeom>
          <a:solidFill>
            <a:srgbClr val="111111"/>
          </a:solidFill>
          <a:ln/>
        </p:spPr>
      </p:sp>
      <p:sp>
        <p:nvSpPr>
          <p:cNvPr id="10" name="Text 7"/>
          <p:cNvSpPr txBox="1"/>
          <p:nvPr/>
        </p:nvSpPr>
        <p:spPr>
          <a:xfrm>
            <a:off x="640080" y="1920240"/>
            <a:ext cx="7863840" cy="228600"/>
          </a:xfrm>
          <a:prstGeom prst="rect">
            <a:avLst/>
          </a:prstGeom>
          <a:noFill/>
          <a:ln/>
        </p:spPr>
        <p:txBody>
          <a:bodyPr wrap="square" lIns="0" tIns="0" rIns="0" bIns="0" rtlCol="0" anchor="t"/>
          <a:lstStyle/>
          <a:p>
            <a:pPr indent="0" marL="0">
              <a:buNone/>
            </a:pPr>
            <a:r>
              <a:rPr lang="en-US" sz="1100" dirty="0">
                <a:solidFill>
                  <a:srgbClr val="E6E6E6"/>
                </a:solidFill>
                <a:latin typeface="IBM Plex Mono" pitchFamily="34" charset="0"/>
                <a:ea typeface="IBM Plex Mono" pitchFamily="34" charset="-122"/>
                <a:cs typeface="IBM Plex Mono" pitchFamily="34" charset="-120"/>
              </a:rPr>
              <a:t>npx @modelcontextprotocol/inspector python server.py</a:t>
            </a:r>
            <a:endParaRPr lang="en-US" sz="1100" dirty="0"/>
          </a:p>
        </p:txBody>
      </p:sp>
      <p:sp>
        <p:nvSpPr>
          <p:cNvPr id="11" name="Shape 8"/>
          <p:cNvSpPr/>
          <p:nvPr/>
        </p:nvSpPr>
        <p:spPr>
          <a:xfrm>
            <a:off x="457200" y="2523744"/>
            <a:ext cx="310896" cy="310896"/>
          </a:xfrm>
          <a:prstGeom prst="rect">
            <a:avLst/>
          </a:prstGeom>
          <a:solidFill>
            <a:srgbClr val="FF5700"/>
          </a:solidFill>
          <a:ln/>
        </p:spPr>
      </p:sp>
      <p:sp>
        <p:nvSpPr>
          <p:cNvPr id="12" name="Text 9"/>
          <p:cNvSpPr txBox="1"/>
          <p:nvPr/>
        </p:nvSpPr>
        <p:spPr>
          <a:xfrm>
            <a:off x="457200" y="252374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IBM Plex Mono" pitchFamily="34" charset="0"/>
                <a:ea typeface="IBM Plex Mono" pitchFamily="34" charset="-122"/>
                <a:cs typeface="IBM Plex Mono" pitchFamily="34" charset="-120"/>
              </a:rPr>
              <a:t>1</a:t>
            </a:r>
            <a:endParaRPr lang="en-US" sz="1100" dirty="0"/>
          </a:p>
        </p:txBody>
      </p:sp>
      <p:sp>
        <p:nvSpPr>
          <p:cNvPr id="13" name="Text 10"/>
          <p:cNvSpPr txBox="1"/>
          <p:nvPr/>
        </p:nvSpPr>
        <p:spPr>
          <a:xfrm>
            <a:off x="960120" y="2487168"/>
            <a:ext cx="1828800" cy="411480"/>
          </a:xfrm>
          <a:prstGeom prst="rect">
            <a:avLst/>
          </a:prstGeom>
          <a:noFill/>
          <a:ln/>
        </p:spPr>
        <p:txBody>
          <a:bodyPr wrap="square" lIns="0" tIns="0" rIns="0" bIns="0" rtlCol="0" anchor="t"/>
          <a:lstStyle/>
          <a:p>
            <a:pPr indent="0" marL="0">
              <a:buNone/>
            </a:pPr>
            <a:r>
              <a:rPr lang="en-US" sz="1300" b="1" spc="-50" kern="0" dirty="0">
                <a:solidFill>
                  <a:srgbClr val="1C1C1C"/>
                </a:solidFill>
                <a:latin typeface="Geist" pitchFamily="34" charset="0"/>
                <a:ea typeface="Geist" pitchFamily="34" charset="-122"/>
                <a:cs typeface="Geist" pitchFamily="34" charset="-120"/>
              </a:rPr>
              <a:t>Connect</a:t>
            </a:r>
            <a:endParaRPr lang="en-US" sz="1300" dirty="0"/>
          </a:p>
        </p:txBody>
      </p:sp>
      <p:sp>
        <p:nvSpPr>
          <p:cNvPr id="14" name="Text 11"/>
          <p:cNvSpPr txBox="1"/>
          <p:nvPr/>
        </p:nvSpPr>
        <p:spPr>
          <a:xfrm>
            <a:off x="2834640" y="2542032"/>
            <a:ext cx="5852160" cy="411480"/>
          </a:xfrm>
          <a:prstGeom prst="rect">
            <a:avLst/>
          </a:prstGeom>
          <a:noFill/>
          <a:ln/>
        </p:spPr>
        <p:txBody>
          <a:bodyPr wrap="square" lIns="0" tIns="0" rIns="0" bIns="0" rtlCol="0" anchor="t"/>
          <a:lstStyle/>
          <a:p>
            <a:pPr indent="0" marL="0">
              <a:buNone/>
            </a:pPr>
            <a:r>
              <a:rPr lang="en-US" sz="1050" dirty="0">
                <a:solidFill>
                  <a:srgbClr val="6B7280"/>
                </a:solidFill>
                <a:latin typeface="Geist" pitchFamily="34" charset="0"/>
                <a:ea typeface="Geist" pitchFamily="34" charset="-122"/>
                <a:cs typeface="Geist" pitchFamily="34" charset="-120"/>
              </a:rPr>
              <a:t>Inspector launches server.py as a subprocess over stdio</a:t>
            </a:r>
            <a:endParaRPr lang="en-US" sz="1050" dirty="0"/>
          </a:p>
        </p:txBody>
      </p:sp>
      <p:sp>
        <p:nvSpPr>
          <p:cNvPr id="15" name="Shape 12"/>
          <p:cNvSpPr/>
          <p:nvPr/>
        </p:nvSpPr>
        <p:spPr>
          <a:xfrm>
            <a:off x="457200" y="2999232"/>
            <a:ext cx="310896" cy="310896"/>
          </a:xfrm>
          <a:prstGeom prst="rect">
            <a:avLst/>
          </a:prstGeom>
          <a:solidFill>
            <a:srgbClr val="FF5700"/>
          </a:solidFill>
          <a:ln/>
        </p:spPr>
      </p:sp>
      <p:sp>
        <p:nvSpPr>
          <p:cNvPr id="16" name="Text 13"/>
          <p:cNvSpPr txBox="1"/>
          <p:nvPr/>
        </p:nvSpPr>
        <p:spPr>
          <a:xfrm>
            <a:off x="457200" y="29992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IBM Plex Mono" pitchFamily="34" charset="0"/>
                <a:ea typeface="IBM Plex Mono" pitchFamily="34" charset="-122"/>
                <a:cs typeface="IBM Plex Mono" pitchFamily="34" charset="-120"/>
              </a:rPr>
              <a:t>2</a:t>
            </a:r>
            <a:endParaRPr lang="en-US" sz="1100" dirty="0"/>
          </a:p>
        </p:txBody>
      </p:sp>
      <p:sp>
        <p:nvSpPr>
          <p:cNvPr id="17" name="Text 14"/>
          <p:cNvSpPr txBox="1"/>
          <p:nvPr/>
        </p:nvSpPr>
        <p:spPr>
          <a:xfrm>
            <a:off x="960120" y="2962656"/>
            <a:ext cx="1828800" cy="411480"/>
          </a:xfrm>
          <a:prstGeom prst="rect">
            <a:avLst/>
          </a:prstGeom>
          <a:noFill/>
          <a:ln/>
        </p:spPr>
        <p:txBody>
          <a:bodyPr wrap="square" lIns="0" tIns="0" rIns="0" bIns="0" rtlCol="0" anchor="t"/>
          <a:lstStyle/>
          <a:p>
            <a:pPr indent="0" marL="0">
              <a:buNone/>
            </a:pPr>
            <a:r>
              <a:rPr lang="en-US" sz="1300" b="1" spc="-50" kern="0" dirty="0">
                <a:solidFill>
                  <a:srgbClr val="1C1C1C"/>
                </a:solidFill>
                <a:latin typeface="Geist" pitchFamily="34" charset="0"/>
                <a:ea typeface="Geist" pitchFamily="34" charset="-122"/>
                <a:cs typeface="Geist" pitchFamily="34" charset="-120"/>
              </a:rPr>
              <a:t>List tools</a:t>
            </a:r>
            <a:endParaRPr lang="en-US" sz="1300" dirty="0"/>
          </a:p>
        </p:txBody>
      </p:sp>
      <p:sp>
        <p:nvSpPr>
          <p:cNvPr id="18" name="Text 15"/>
          <p:cNvSpPr txBox="1"/>
          <p:nvPr/>
        </p:nvSpPr>
        <p:spPr>
          <a:xfrm>
            <a:off x="2834640" y="3017520"/>
            <a:ext cx="5852160" cy="411480"/>
          </a:xfrm>
          <a:prstGeom prst="rect">
            <a:avLst/>
          </a:prstGeom>
          <a:noFill/>
          <a:ln/>
        </p:spPr>
        <p:txBody>
          <a:bodyPr wrap="square" lIns="0" tIns="0" rIns="0" bIns="0" rtlCol="0" anchor="t"/>
          <a:lstStyle/>
          <a:p>
            <a:pPr indent="0" marL="0">
              <a:buNone/>
            </a:pPr>
            <a:r>
              <a:rPr lang="en-US" sz="1050" dirty="0">
                <a:solidFill>
                  <a:srgbClr val="6B7280"/>
                </a:solidFill>
                <a:latin typeface="Geist" pitchFamily="34" charset="0"/>
                <a:ea typeface="Geist" pitchFamily="34" charset="-122"/>
                <a:cs typeface="Geist" pitchFamily="34" charset="-120"/>
              </a:rPr>
              <a:t>three tools, schemas and docstrings — exactly what a model sees</a:t>
            </a:r>
            <a:endParaRPr lang="en-US" sz="1050" dirty="0"/>
          </a:p>
        </p:txBody>
      </p:sp>
      <p:sp>
        <p:nvSpPr>
          <p:cNvPr id="19" name="Shape 16"/>
          <p:cNvSpPr/>
          <p:nvPr/>
        </p:nvSpPr>
        <p:spPr>
          <a:xfrm>
            <a:off x="457200" y="3474720"/>
            <a:ext cx="310896" cy="310896"/>
          </a:xfrm>
          <a:prstGeom prst="rect">
            <a:avLst/>
          </a:prstGeom>
          <a:solidFill>
            <a:srgbClr val="FF5700"/>
          </a:solidFill>
          <a:ln/>
        </p:spPr>
      </p:sp>
      <p:sp>
        <p:nvSpPr>
          <p:cNvPr id="20" name="Text 17"/>
          <p:cNvSpPr txBox="1"/>
          <p:nvPr/>
        </p:nvSpPr>
        <p:spPr>
          <a:xfrm>
            <a:off x="457200" y="347472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IBM Plex Mono" pitchFamily="34" charset="0"/>
                <a:ea typeface="IBM Plex Mono" pitchFamily="34" charset="-122"/>
                <a:cs typeface="IBM Plex Mono" pitchFamily="34" charset="-120"/>
              </a:rPr>
              <a:t>3</a:t>
            </a:r>
            <a:endParaRPr lang="en-US" sz="1100" dirty="0"/>
          </a:p>
        </p:txBody>
      </p:sp>
      <p:sp>
        <p:nvSpPr>
          <p:cNvPr id="21" name="Text 18"/>
          <p:cNvSpPr txBox="1"/>
          <p:nvPr/>
        </p:nvSpPr>
        <p:spPr>
          <a:xfrm>
            <a:off x="960120" y="3438144"/>
            <a:ext cx="1828800" cy="411480"/>
          </a:xfrm>
          <a:prstGeom prst="rect">
            <a:avLst/>
          </a:prstGeom>
          <a:noFill/>
          <a:ln/>
        </p:spPr>
        <p:txBody>
          <a:bodyPr wrap="square" lIns="0" tIns="0" rIns="0" bIns="0" rtlCol="0" anchor="t"/>
          <a:lstStyle/>
          <a:p>
            <a:pPr indent="0" marL="0">
              <a:buNone/>
            </a:pPr>
            <a:r>
              <a:rPr lang="en-US" sz="1300" b="1" spc="-50" kern="0" dirty="0">
                <a:solidFill>
                  <a:srgbClr val="1C1C1C"/>
                </a:solidFill>
                <a:latin typeface="Geist" pitchFamily="34" charset="0"/>
                <a:ea typeface="Geist" pitchFamily="34" charset="-122"/>
                <a:cs typeface="Geist" pitchFamily="34" charset="-120"/>
              </a:rPr>
              <a:t>Call each one</a:t>
            </a:r>
            <a:endParaRPr lang="en-US" sz="1300" dirty="0"/>
          </a:p>
        </p:txBody>
      </p:sp>
      <p:sp>
        <p:nvSpPr>
          <p:cNvPr id="22" name="Text 19"/>
          <p:cNvSpPr txBox="1"/>
          <p:nvPr/>
        </p:nvSpPr>
        <p:spPr>
          <a:xfrm>
            <a:off x="2834640" y="3493008"/>
            <a:ext cx="5852160" cy="411480"/>
          </a:xfrm>
          <a:prstGeom prst="rect">
            <a:avLst/>
          </a:prstGeom>
          <a:noFill/>
          <a:ln/>
        </p:spPr>
        <p:txBody>
          <a:bodyPr wrap="square" lIns="0" tIns="0" rIns="0" bIns="0" rtlCol="0" anchor="t"/>
          <a:lstStyle/>
          <a:p>
            <a:pPr indent="0" marL="0">
              <a:buNone/>
            </a:pPr>
            <a:r>
              <a:rPr lang="en-US" sz="1050" dirty="0">
                <a:solidFill>
                  <a:srgbClr val="6B7280"/>
                </a:solidFill>
                <a:latin typeface="Geist" pitchFamily="34" charset="0"/>
                <a:ea typeface="Geist" pitchFamily="34" charset="-122"/>
                <a:cs typeface="Geist" pitchFamily="34" charset="-120"/>
              </a:rPr>
              <a:t>get_item_stock WH-204 · search_sales_orders confirmed · get_invoice INV-30117</a:t>
            </a:r>
            <a:endParaRPr lang="en-US" sz="1050" dirty="0"/>
          </a:p>
        </p:txBody>
      </p:sp>
      <p:sp>
        <p:nvSpPr>
          <p:cNvPr id="23" name="Shape 20"/>
          <p:cNvSpPr/>
          <p:nvPr/>
        </p:nvSpPr>
        <p:spPr>
          <a:xfrm>
            <a:off x="457200" y="3950208"/>
            <a:ext cx="310896" cy="310896"/>
          </a:xfrm>
          <a:prstGeom prst="rect">
            <a:avLst/>
          </a:prstGeom>
          <a:solidFill>
            <a:srgbClr val="FF5700"/>
          </a:solidFill>
          <a:ln/>
        </p:spPr>
      </p:sp>
      <p:sp>
        <p:nvSpPr>
          <p:cNvPr id="24" name="Text 21"/>
          <p:cNvSpPr txBox="1"/>
          <p:nvPr/>
        </p:nvSpPr>
        <p:spPr>
          <a:xfrm>
            <a:off x="457200" y="39502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IBM Plex Mono" pitchFamily="34" charset="0"/>
                <a:ea typeface="IBM Plex Mono" pitchFamily="34" charset="-122"/>
                <a:cs typeface="IBM Plex Mono" pitchFamily="34" charset="-120"/>
              </a:rPr>
              <a:t>4</a:t>
            </a:r>
            <a:endParaRPr lang="en-US" sz="1100" dirty="0"/>
          </a:p>
        </p:txBody>
      </p:sp>
      <p:sp>
        <p:nvSpPr>
          <p:cNvPr id="25" name="Text 22"/>
          <p:cNvSpPr txBox="1"/>
          <p:nvPr/>
        </p:nvSpPr>
        <p:spPr>
          <a:xfrm>
            <a:off x="960120" y="3913632"/>
            <a:ext cx="1828800" cy="411480"/>
          </a:xfrm>
          <a:prstGeom prst="rect">
            <a:avLst/>
          </a:prstGeom>
          <a:noFill/>
          <a:ln/>
        </p:spPr>
        <p:txBody>
          <a:bodyPr wrap="square" lIns="0" tIns="0" rIns="0" bIns="0" rtlCol="0" anchor="t"/>
          <a:lstStyle/>
          <a:p>
            <a:pPr indent="0" marL="0">
              <a:buNone/>
            </a:pPr>
            <a:r>
              <a:rPr lang="en-US" sz="1300" b="1" spc="-50" kern="0" dirty="0">
                <a:solidFill>
                  <a:srgbClr val="1C1C1C"/>
                </a:solidFill>
                <a:latin typeface="Geist" pitchFamily="34" charset="0"/>
                <a:ea typeface="Geist" pitchFamily="34" charset="-122"/>
                <a:cs typeface="Geist" pitchFamily="34" charset="-120"/>
              </a:rPr>
              <a:t>Read the wire</a:t>
            </a:r>
            <a:endParaRPr lang="en-US" sz="1300" dirty="0"/>
          </a:p>
        </p:txBody>
      </p:sp>
      <p:sp>
        <p:nvSpPr>
          <p:cNvPr id="26" name="Text 23"/>
          <p:cNvSpPr txBox="1"/>
          <p:nvPr/>
        </p:nvSpPr>
        <p:spPr>
          <a:xfrm>
            <a:off x="2834640" y="3968496"/>
            <a:ext cx="5852160" cy="411480"/>
          </a:xfrm>
          <a:prstGeom prst="rect">
            <a:avLst/>
          </a:prstGeom>
          <a:noFill/>
          <a:ln/>
        </p:spPr>
        <p:txBody>
          <a:bodyPr wrap="square" lIns="0" tIns="0" rIns="0" bIns="0" rtlCol="0" anchor="t"/>
          <a:lstStyle/>
          <a:p>
            <a:pPr indent="0" marL="0">
              <a:buNone/>
            </a:pPr>
            <a:r>
              <a:rPr lang="en-US" sz="1050" dirty="0">
                <a:solidFill>
                  <a:srgbClr val="6B7280"/>
                </a:solidFill>
                <a:latin typeface="Geist" pitchFamily="34" charset="0"/>
                <a:ea typeface="Geist" pitchFamily="34" charset="-122"/>
                <a:cs typeface="Geist" pitchFamily="34" charset="-120"/>
              </a:rPr>
              <a:t>the raw JSON-RPC request and response — this is all MCP is</a:t>
            </a:r>
            <a:endParaRPr lang="en-US" sz="1050" dirty="0"/>
          </a:p>
        </p:txBody>
      </p:sp>
      <p:sp>
        <p:nvSpPr>
          <p:cNvPr id="27" name="Text 24"/>
          <p:cNvSpPr txBox="1"/>
          <p:nvPr/>
        </p:nvSpPr>
        <p:spPr>
          <a:xfrm>
            <a:off x="457200" y="4389120"/>
            <a:ext cx="8229600" cy="274320"/>
          </a:xfrm>
          <a:prstGeom prst="rect">
            <a:avLst/>
          </a:prstGeom>
          <a:noFill/>
          <a:ln/>
        </p:spPr>
        <p:txBody>
          <a:bodyPr wrap="square" lIns="0" tIns="0" rIns="0" bIns="0" rtlCol="0" anchor="t"/>
          <a:lstStyle/>
          <a:p>
            <a:pPr indent="0" marL="0">
              <a:buNone/>
            </a:pPr>
            <a:r>
              <a:rPr lang="en-US" sz="900" dirty="0">
                <a:solidFill>
                  <a:srgbClr val="919191"/>
                </a:solidFill>
                <a:latin typeface="Geist" pitchFamily="34" charset="0"/>
                <a:ea typeface="Geist" pitchFamily="34" charset="-122"/>
                <a:cs typeface="Geist" pitchFamily="34" charset="-120"/>
              </a:rPr>
              <a:t>Opens at localhost:6274 — keep it on a second screen while recording.</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457200" y="292608"/>
            <a:ext cx="8229600" cy="231140"/>
          </a:xfrm>
          <a:prstGeom prst="rect">
            <a:avLst/>
          </a:prstGeom>
          <a:noFill/>
          <a:ln/>
        </p:spPr>
        <p:txBody>
          <a:bodyPr wrap="square" lIns="0" tIns="0" rIns="0" bIns="0" rtlCol="0" anchor="ctr"/>
          <a:lstStyle/>
          <a:p>
            <a:pPr indent="0" marL="0">
              <a:buNone/>
            </a:pPr>
            <a:r>
              <a:rPr lang="en-US" sz="1400" b="1" spc="-200" kern="0" dirty="0">
                <a:solidFill>
                  <a:srgbClr val="1C1C1C"/>
                </a:solidFill>
                <a:latin typeface="Geist" pitchFamily="34" charset="0"/>
                <a:ea typeface="Geist" pitchFamily="34" charset="-122"/>
                <a:cs typeface="Geist" pitchFamily="34" charset="-120"/>
              </a:rPr>
              <a:t>learn with </a:t>
            </a:r>
            <a:pPr indent="0" marL="0">
              <a:buNone/>
            </a:pPr>
            <a:r>
              <a:rPr lang="en-US" sz="1400" b="1" spc="-200" kern="0" dirty="0">
                <a:solidFill>
                  <a:srgbClr val="FF5700"/>
                </a:solidFill>
                <a:latin typeface="Geist" pitchFamily="34" charset="0"/>
                <a:ea typeface="Geist" pitchFamily="34" charset="-122"/>
                <a:cs typeface="Geist" pitchFamily="34" charset="-120"/>
              </a:rPr>
              <a:t>harsha</a:t>
            </a:r>
            <a:pPr indent="0" marL="0">
              <a:buNone/>
            </a:pPr>
            <a:r>
              <a:rPr lang="en-US" sz="600" b="1" spc="-200" kern="0" dirty="0">
                <a:solidFill>
                  <a:srgbClr val="FF5700"/>
                </a:solidFill>
                <a:latin typeface="Geist" pitchFamily="34" charset="0"/>
                <a:ea typeface="Geist" pitchFamily="34" charset="-122"/>
                <a:cs typeface="Geist" pitchFamily="34" charset="-120"/>
              </a:rPr>
              <a:t>■</a:t>
            </a:r>
            <a:endParaRPr lang="en-US" sz="1400" dirty="0"/>
          </a:p>
        </p:txBody>
      </p:sp>
      <p:sp>
        <p:nvSpPr>
          <p:cNvPr id="4" name="Shape 1"/>
          <p:cNvSpPr/>
          <p:nvPr/>
        </p:nvSpPr>
        <p:spPr>
          <a:xfrm>
            <a:off x="457200" y="813816"/>
            <a:ext cx="91440" cy="91440"/>
          </a:xfrm>
          <a:prstGeom prst="rect">
            <a:avLst/>
          </a:prstGeom>
          <a:solidFill>
            <a:srgbClr val="FF5700"/>
          </a:solidFill>
          <a:ln/>
        </p:spPr>
      </p:sp>
      <p:sp>
        <p:nvSpPr>
          <p:cNvPr id="5" name="Text 2"/>
          <p:cNvSpPr txBox="1"/>
          <p:nvPr/>
        </p:nvSpPr>
        <p:spPr>
          <a:xfrm>
            <a:off x="621792" y="713232"/>
            <a:ext cx="6400800" cy="292608"/>
          </a:xfrm>
          <a:prstGeom prst="rect">
            <a:avLst/>
          </a:prstGeom>
          <a:noFill/>
          <a:ln/>
        </p:spPr>
        <p:txBody>
          <a:bodyPr wrap="square" lIns="0" tIns="0" rIns="0" bIns="0" rtlCol="0" anchor="ctr"/>
          <a:lstStyle/>
          <a:p>
            <a:pPr indent="0" marL="0">
              <a:buNone/>
            </a:pPr>
            <a:r>
              <a:rPr lang="en-US" sz="1000" spc="400" kern="0" dirty="0">
                <a:solidFill>
                  <a:srgbClr val="FF5700"/>
                </a:solidFill>
                <a:latin typeface="IBM Plex Mono" pitchFamily="34" charset="0"/>
                <a:ea typeface="IBM Plex Mono" pitchFamily="34" charset="-122"/>
                <a:cs typeface="IBM Plex Mono" pitchFamily="34" charset="-120"/>
              </a:rPr>
              <a:t>PLUG IT IN · 1</a:t>
            </a:r>
            <a:endParaRPr lang="en-US" sz="1000" dirty="0"/>
          </a:p>
        </p:txBody>
      </p:sp>
      <p:sp>
        <p:nvSpPr>
          <p:cNvPr id="6" name="Text 3"/>
          <p:cNvSpPr txBox="1"/>
          <p:nvPr/>
        </p:nvSpPr>
        <p:spPr>
          <a:xfrm>
            <a:off x="457200" y="987552"/>
            <a:ext cx="8229600" cy="640080"/>
          </a:xfrm>
          <a:prstGeom prst="rect">
            <a:avLst/>
          </a:prstGeom>
          <a:noFill/>
          <a:ln/>
        </p:spPr>
        <p:txBody>
          <a:bodyPr wrap="square" lIns="0" tIns="0" rIns="0" bIns="0" rtlCol="0" anchor="ctr"/>
          <a:lstStyle/>
          <a:p>
            <a:pPr indent="0" marL="0">
              <a:buNone/>
            </a:pPr>
            <a:r>
              <a:rPr lang="en-US" sz="2800" b="1" spc="-100" kern="0" dirty="0">
                <a:solidFill>
                  <a:srgbClr val="1C1C1C"/>
                </a:solidFill>
                <a:latin typeface="Geist" pitchFamily="34" charset="0"/>
                <a:ea typeface="Geist" pitchFamily="34" charset="-122"/>
                <a:cs typeface="Geist" pitchFamily="34" charset="-120"/>
              </a:rPr>
              <a:t>Claude Desktop</a:t>
            </a:r>
            <a:endParaRPr lang="en-US" sz="2800" dirty="0"/>
          </a:p>
        </p:txBody>
      </p:sp>
      <p:sp>
        <p:nvSpPr>
          <p:cNvPr id="7" name="Text 4"/>
          <p:cNvSpPr txBox="1"/>
          <p:nvPr/>
        </p:nvSpPr>
        <p:spPr>
          <a:xfrm>
            <a:off x="457200" y="4754880"/>
            <a:ext cx="5943600" cy="228600"/>
          </a:xfrm>
          <a:prstGeom prst="rect">
            <a:avLst/>
          </a:prstGeom>
          <a:noFill/>
          <a:ln/>
        </p:spPr>
        <p:txBody>
          <a:bodyPr wrap="square" lIns="0" tIns="0" rIns="0" bIns="0" rtlCol="0" anchor="ctr"/>
          <a:lstStyle/>
          <a:p>
            <a:pP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 Learning · The Agentic Enterprise · Ep 3</a:t>
            </a:r>
            <a:endParaRPr lang="en-US" sz="800" dirty="0"/>
          </a:p>
        </p:txBody>
      </p:sp>
      <p:sp>
        <p:nvSpPr>
          <p:cNvPr id="8" name="Text 5"/>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arthashastra.ai</a:t>
            </a:r>
            <a:endParaRPr lang="en-US" sz="800" dirty="0"/>
          </a:p>
        </p:txBody>
      </p:sp>
      <p:sp>
        <p:nvSpPr>
          <p:cNvPr id="9" name="Shape 6"/>
          <p:cNvSpPr/>
          <p:nvPr/>
        </p:nvSpPr>
        <p:spPr>
          <a:xfrm>
            <a:off x="457200" y="1783080"/>
            <a:ext cx="4754880" cy="2286000"/>
          </a:xfrm>
          <a:prstGeom prst="rect">
            <a:avLst/>
          </a:prstGeom>
          <a:solidFill>
            <a:srgbClr val="111111"/>
          </a:solidFill>
          <a:ln/>
        </p:spPr>
      </p:sp>
      <p:sp>
        <p:nvSpPr>
          <p:cNvPr id="10" name="Text 7"/>
          <p:cNvSpPr txBox="1"/>
          <p:nvPr/>
        </p:nvSpPr>
        <p:spPr>
          <a:xfrm>
            <a:off x="640080" y="1920240"/>
            <a:ext cx="4389120" cy="2011680"/>
          </a:xfrm>
          <a:prstGeom prst="rect">
            <a:avLst/>
          </a:prstGeom>
          <a:noFill/>
          <a:ln/>
        </p:spPr>
        <p:txBody>
          <a:bodyPr wrap="square" lIns="0" tIns="0" rIns="0" bIns="0" rtlCol="0" anchor="t"/>
          <a:lstStyle/>
          <a:p>
            <a:pPr indent="0" marL="0">
              <a:buNone/>
            </a:pPr>
            <a:r>
              <a:rPr lang="en-US" sz="950" dirty="0">
                <a:solidFill>
                  <a:srgbClr val="E6E6E6"/>
                </a:solidFill>
                <a:latin typeface="IBM Plex Mono" pitchFamily="34" charset="0"/>
                <a:ea typeface="IBM Plex Mono" pitchFamily="34" charset="-122"/>
                <a:cs typeface="IBM Plex Mono" pitchFamily="34" charset="-120"/>
              </a:rPr>
              <a:t>{</a:t>
            </a:r>
            <a:endParaRPr lang="en-US" sz="950" dirty="0"/>
          </a:p>
          <a:p>
            <a:pPr indent="0" marL="0">
              <a:buNone/>
            </a:pPr>
            <a:r>
              <a:rPr lang="en-US" sz="950" dirty="0">
                <a:solidFill>
                  <a:srgbClr val="E6E6E6"/>
                </a:solidFill>
                <a:latin typeface="IBM Plex Mono" pitchFamily="34" charset="0"/>
                <a:ea typeface="IBM Plex Mono" pitchFamily="34" charset="-122"/>
                <a:cs typeface="IBM Plex Mono" pitchFamily="34" charset="-120"/>
              </a:rPr>
              <a:t>  "mcpServers": {</a:t>
            </a:r>
            <a:endParaRPr lang="en-US" sz="950" dirty="0"/>
          </a:p>
          <a:p>
            <a:pPr indent="0" marL="0">
              <a:buNone/>
            </a:pPr>
            <a:r>
              <a:rPr lang="en-US" sz="950" dirty="0">
                <a:solidFill>
                  <a:srgbClr val="FF7A33"/>
                </a:solidFill>
                <a:latin typeface="IBM Plex Mono" pitchFamily="34" charset="0"/>
                <a:ea typeface="IBM Plex Mono" pitchFamily="34" charset="-122"/>
                <a:cs typeface="IBM Plex Mono" pitchFamily="34" charset="-120"/>
              </a:rPr>
              <a:t>    "erp": {</a:t>
            </a:r>
            <a:endParaRPr lang="en-US" sz="950" dirty="0"/>
          </a:p>
          <a:p>
            <a:pPr indent="0" marL="0">
              <a:buNone/>
            </a:pPr>
            <a:r>
              <a:rPr lang="en-US" sz="950" dirty="0">
                <a:solidFill>
                  <a:srgbClr val="E6E6E6"/>
                </a:solidFill>
                <a:latin typeface="IBM Plex Mono" pitchFamily="34" charset="0"/>
                <a:ea typeface="IBM Plex Mono" pitchFamily="34" charset="-122"/>
                <a:cs typeface="IBM Plex Mono" pitchFamily="34" charset="-120"/>
              </a:rPr>
              <a:t>      "command": ".../.venv/bin/python",</a:t>
            </a:r>
            <a:endParaRPr lang="en-US" sz="950" dirty="0"/>
          </a:p>
          <a:p>
            <a:pPr indent="0" marL="0">
              <a:buNone/>
            </a:pPr>
            <a:r>
              <a:rPr lang="en-US" sz="950" dirty="0">
                <a:solidFill>
                  <a:srgbClr val="E6E6E6"/>
                </a:solidFill>
                <a:latin typeface="IBM Plex Mono" pitchFamily="34" charset="0"/>
                <a:ea typeface="IBM Plex Mono" pitchFamily="34" charset="-122"/>
                <a:cs typeface="IBM Plex Mono" pitchFamily="34" charset="-120"/>
              </a:rPr>
              <a:t>      "args": [".../code/server.py"],</a:t>
            </a:r>
            <a:endParaRPr lang="en-US" sz="950" dirty="0"/>
          </a:p>
          <a:p>
            <a:pPr indent="0" marL="0">
              <a:buNone/>
            </a:pPr>
            <a:r>
              <a:rPr lang="en-US" sz="950" dirty="0">
                <a:solidFill>
                  <a:srgbClr val="E6E6E6"/>
                </a:solidFill>
                <a:latin typeface="IBM Plex Mono" pitchFamily="34" charset="0"/>
                <a:ea typeface="IBM Plex Mono" pitchFamily="34" charset="-122"/>
                <a:cs typeface="IBM Plex Mono" pitchFamily="34" charset="-120"/>
              </a:rPr>
              <a:t>      "env": { "DATABASE_URL": "postgresql+psycopg://...",</a:t>
            </a:r>
            <a:endParaRPr lang="en-US" sz="950" dirty="0"/>
          </a:p>
          <a:p>
            <a:pPr indent="0" marL="0">
              <a:buNone/>
            </a:pPr>
            <a:r>
              <a:rPr lang="en-US" sz="950" dirty="0">
                <a:solidFill>
                  <a:srgbClr val="E6E6E6"/>
                </a:solidFill>
                <a:latin typeface="IBM Plex Mono" pitchFamily="34" charset="0"/>
                <a:ea typeface="IBM Plex Mono" pitchFamily="34" charset="-122"/>
                <a:cs typeface="IBM Plex Mono" pitchFamily="34" charset="-120"/>
              </a:rPr>
              <a:t>               "ERP_COMPANY": "ACME" }</a:t>
            </a:r>
            <a:endParaRPr lang="en-US" sz="950" dirty="0"/>
          </a:p>
          <a:p>
            <a:pPr indent="0" marL="0">
              <a:buNone/>
            </a:pPr>
            <a:r>
              <a:rPr lang="en-US" sz="950" dirty="0">
                <a:solidFill>
                  <a:srgbClr val="E6E6E6"/>
                </a:solidFill>
                <a:latin typeface="IBM Plex Mono" pitchFamily="34" charset="0"/>
                <a:ea typeface="IBM Plex Mono" pitchFamily="34" charset="-122"/>
                <a:cs typeface="IBM Plex Mono" pitchFamily="34" charset="-120"/>
              </a:rPr>
              <a:t>    }</a:t>
            </a:r>
            <a:endParaRPr lang="en-US" sz="950" dirty="0"/>
          </a:p>
          <a:p>
            <a:pPr indent="0" marL="0">
              <a:buNone/>
            </a:pPr>
            <a:r>
              <a:rPr lang="en-US" sz="950" dirty="0">
                <a:solidFill>
                  <a:srgbClr val="E6E6E6"/>
                </a:solidFill>
                <a:latin typeface="IBM Plex Mono" pitchFamily="34" charset="0"/>
                <a:ea typeface="IBM Plex Mono" pitchFamily="34" charset="-122"/>
                <a:cs typeface="IBM Plex Mono" pitchFamily="34" charset="-120"/>
              </a:rPr>
              <a:t>  }</a:t>
            </a:r>
            <a:endParaRPr lang="en-US" sz="950" dirty="0"/>
          </a:p>
          <a:p>
            <a:pPr indent="0" marL="0">
              <a:buNone/>
            </a:pPr>
            <a:r>
              <a:rPr lang="en-US" sz="950" dirty="0">
                <a:solidFill>
                  <a:srgbClr val="E6E6E6"/>
                </a:solidFill>
                <a:latin typeface="IBM Plex Mono" pitchFamily="34" charset="0"/>
                <a:ea typeface="IBM Plex Mono" pitchFamily="34" charset="-122"/>
                <a:cs typeface="IBM Plex Mono" pitchFamily="34" charset="-120"/>
              </a:rPr>
              <a:t>}</a:t>
            </a:r>
            <a:endParaRPr lang="en-US" sz="950" dirty="0"/>
          </a:p>
        </p:txBody>
      </p:sp>
      <p:sp>
        <p:nvSpPr>
          <p:cNvPr id="11" name="Text 8"/>
          <p:cNvSpPr txBox="1"/>
          <p:nvPr/>
        </p:nvSpPr>
        <p:spPr>
          <a:xfrm>
            <a:off x="457200" y="4114800"/>
            <a:ext cx="4754880" cy="274320"/>
          </a:xfrm>
          <a:prstGeom prst="rect">
            <a:avLst/>
          </a:prstGeom>
          <a:noFill/>
          <a:ln/>
        </p:spPr>
        <p:txBody>
          <a:bodyPr wrap="square" lIns="0" tIns="0" rIns="0" bIns="0" rtlCol="0" anchor="t"/>
          <a:lstStyle/>
          <a:p>
            <a:pPr indent="0" marL="0">
              <a:buNone/>
            </a:pPr>
            <a:r>
              <a:rPr lang="en-US" sz="750" dirty="0">
                <a:solidFill>
                  <a:srgbClr val="919191"/>
                </a:solidFill>
                <a:latin typeface="IBM Plex Mono" pitchFamily="34" charset="0"/>
                <a:ea typeface="IBM Plex Mono" pitchFamily="34" charset="-122"/>
                <a:cs typeface="IBM Plex Mono" pitchFamily="34" charset="-120"/>
              </a:rPr>
              <a:t>~/Library/Application Support/Claude/claude_desktop_config.json</a:t>
            </a:r>
            <a:endParaRPr lang="en-US" sz="750" dirty="0"/>
          </a:p>
        </p:txBody>
      </p:sp>
      <p:sp>
        <p:nvSpPr>
          <p:cNvPr id="12" name="Shape 9"/>
          <p:cNvSpPr/>
          <p:nvPr/>
        </p:nvSpPr>
        <p:spPr>
          <a:xfrm>
            <a:off x="5486400" y="1783080"/>
            <a:ext cx="3200400" cy="2606040"/>
          </a:xfrm>
          <a:prstGeom prst="rect">
            <a:avLst/>
          </a:prstGeom>
          <a:solidFill>
            <a:srgbClr val="F7F7F5"/>
          </a:solidFill>
          <a:ln w="9525">
            <a:solidFill>
              <a:srgbClr val="E5E5E5"/>
            </a:solidFill>
            <a:prstDash val="solid"/>
          </a:ln>
        </p:spPr>
      </p:sp>
      <p:sp>
        <p:nvSpPr>
          <p:cNvPr id="13" name="Text 10"/>
          <p:cNvSpPr txBox="1"/>
          <p:nvPr/>
        </p:nvSpPr>
        <p:spPr>
          <a:xfrm>
            <a:off x="5715000" y="1920240"/>
            <a:ext cx="2834640" cy="274320"/>
          </a:xfrm>
          <a:prstGeom prst="rect">
            <a:avLst/>
          </a:prstGeom>
          <a:noFill/>
          <a:ln/>
        </p:spPr>
        <p:txBody>
          <a:bodyPr wrap="square" lIns="0" tIns="0" rIns="0" bIns="0" rtlCol="0" anchor="t"/>
          <a:lstStyle/>
          <a:p>
            <a:pPr indent="0" marL="0">
              <a:buNone/>
            </a:pPr>
            <a:r>
              <a:rPr lang="en-US" sz="800" dirty="0">
                <a:solidFill>
                  <a:srgbClr val="0E7C7B"/>
                </a:solidFill>
                <a:latin typeface="IBM Plex Mono" pitchFamily="34" charset="0"/>
                <a:ea typeface="IBM Plex Mono" pitchFamily="34" charset="-122"/>
                <a:cs typeface="IBM Plex Mono" pitchFamily="34" charset="-120"/>
              </a:rPr>
              <a:t>ASK IN PLAIN ENGLISH</a:t>
            </a:r>
            <a:endParaRPr lang="en-US" sz="800" dirty="0"/>
          </a:p>
        </p:txBody>
      </p:sp>
      <p:sp>
        <p:nvSpPr>
          <p:cNvPr id="14" name="Text 11"/>
          <p:cNvSpPr txBox="1"/>
          <p:nvPr/>
        </p:nvSpPr>
        <p:spPr>
          <a:xfrm>
            <a:off x="5715000" y="2240280"/>
            <a:ext cx="2834640" cy="1097280"/>
          </a:xfrm>
          <a:prstGeom prst="rect">
            <a:avLst/>
          </a:prstGeom>
          <a:noFill/>
          <a:ln/>
        </p:spPr>
        <p:txBody>
          <a:bodyPr wrap="square" lIns="0" tIns="0" rIns="0" bIns="0" rtlCol="0" anchor="t"/>
          <a:lstStyle/>
          <a:p>
            <a:pPr indent="0" marL="0">
              <a:buNone/>
            </a:pPr>
            <a:r>
              <a:rPr lang="en-US" sz="1150" i="1" dirty="0">
                <a:solidFill>
                  <a:srgbClr val="1C1C1C"/>
                </a:solidFill>
                <a:latin typeface="Geist" pitchFamily="34" charset="0"/>
                <a:ea typeface="Geist" pitchFamily="34" charset="-122"/>
                <a:cs typeface="Geist" pitchFamily="34" charset="-120"/>
              </a:rPr>
              <a:t>“Which confirmed orders for ACME can't ship because stock is short, and do any of those customers have overdue invoices?”</a:t>
            </a:r>
            <a:endParaRPr lang="en-US" sz="1150" dirty="0"/>
          </a:p>
        </p:txBody>
      </p:sp>
      <p:sp>
        <p:nvSpPr>
          <p:cNvPr id="15" name="Text 12"/>
          <p:cNvSpPr txBox="1"/>
          <p:nvPr/>
        </p:nvSpPr>
        <p:spPr>
          <a:xfrm>
            <a:off x="5715000" y="3383280"/>
            <a:ext cx="2834640" cy="914400"/>
          </a:xfrm>
          <a:prstGeom prst="rect">
            <a:avLst/>
          </a:prstGeom>
          <a:noFill/>
          <a:ln/>
        </p:spPr>
        <p:txBody>
          <a:bodyPr wrap="square" lIns="0" tIns="0" rIns="0" bIns="0" rtlCol="0" anchor="t"/>
          <a:lstStyle/>
          <a:p>
            <a:pPr indent="0" marL="0">
              <a:buNone/>
            </a:pPr>
            <a:r>
              <a:rPr lang="en-US" sz="950" dirty="0">
                <a:solidFill>
                  <a:srgbClr val="6B7280"/>
                </a:solidFill>
                <a:latin typeface="Geist" pitchFamily="34" charset="0"/>
                <a:ea typeface="Geist" pitchFamily="34" charset="-122"/>
                <a:cs typeface="Geist" pitchFamily="34" charset="-120"/>
              </a:rPr>
              <a:t>→ search_sales_orders</a:t>
            </a:r>
            <a:endParaRPr lang="en-US" sz="950" dirty="0"/>
          </a:p>
          <a:p>
            <a:pPr indent="0" marL="0">
              <a:buNone/>
            </a:pPr>
            <a:r>
              <a:rPr lang="en-US" sz="950" dirty="0">
                <a:solidFill>
                  <a:srgbClr val="6B7280"/>
                </a:solidFill>
                <a:latin typeface="Geist" pitchFamily="34" charset="0"/>
                <a:ea typeface="Geist" pitchFamily="34" charset="-122"/>
                <a:cs typeface="Geist" pitchFamily="34" charset="-120"/>
              </a:rPr>
              <a:t>→ get_item_stock per SKU</a:t>
            </a:r>
            <a:endParaRPr lang="en-US" sz="950" dirty="0"/>
          </a:p>
          <a:p>
            <a:pPr indent="0" marL="0">
              <a:buNone/>
            </a:pPr>
            <a:r>
              <a:rPr lang="en-US" sz="950" dirty="0">
                <a:solidFill>
                  <a:srgbClr val="6B7280"/>
                </a:solidFill>
                <a:latin typeface="Geist" pitchFamily="34" charset="0"/>
                <a:ea typeface="Geist" pitchFamily="34" charset="-122"/>
                <a:cs typeface="Geist" pitchFamily="34" charset="-120"/>
              </a:rPr>
              <a:t>→ get_invoice for the flagged customers</a:t>
            </a:r>
            <a:endParaRPr lang="en-US" sz="950" dirty="0"/>
          </a:p>
          <a:p>
            <a:pPr indent="0" marL="0">
              <a:buNone/>
            </a:pPr>
            <a:r>
              <a:rPr lang="en-US" sz="950" dirty="0">
                <a:solidFill>
                  <a:srgbClr val="6B7280"/>
                </a:solidFill>
                <a:latin typeface="Geist" pitchFamily="34" charset="0"/>
                <a:ea typeface="Geist" pitchFamily="34" charset="-122"/>
                <a:cs typeface="Geist" pitchFamily="34" charset="-120"/>
              </a:rPr>
              <a:t>→ zero client code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457200" y="292608"/>
            <a:ext cx="8229600" cy="231140"/>
          </a:xfrm>
          <a:prstGeom prst="rect">
            <a:avLst/>
          </a:prstGeom>
          <a:noFill/>
          <a:ln/>
        </p:spPr>
        <p:txBody>
          <a:bodyPr wrap="square" lIns="0" tIns="0" rIns="0" bIns="0" rtlCol="0" anchor="ctr"/>
          <a:lstStyle/>
          <a:p>
            <a:pPr indent="0" marL="0">
              <a:buNone/>
            </a:pPr>
            <a:r>
              <a:rPr lang="en-US" sz="1400" b="1" spc="-200" kern="0" dirty="0">
                <a:solidFill>
                  <a:srgbClr val="1C1C1C"/>
                </a:solidFill>
                <a:latin typeface="Geist" pitchFamily="34" charset="0"/>
                <a:ea typeface="Geist" pitchFamily="34" charset="-122"/>
                <a:cs typeface="Geist" pitchFamily="34" charset="-120"/>
              </a:rPr>
              <a:t>learn with </a:t>
            </a:r>
            <a:pPr indent="0" marL="0">
              <a:buNone/>
            </a:pPr>
            <a:r>
              <a:rPr lang="en-US" sz="1400" b="1" spc="-200" kern="0" dirty="0">
                <a:solidFill>
                  <a:srgbClr val="FF5700"/>
                </a:solidFill>
                <a:latin typeface="Geist" pitchFamily="34" charset="0"/>
                <a:ea typeface="Geist" pitchFamily="34" charset="-122"/>
                <a:cs typeface="Geist" pitchFamily="34" charset="-120"/>
              </a:rPr>
              <a:t>harsha</a:t>
            </a:r>
            <a:pPr indent="0" marL="0">
              <a:buNone/>
            </a:pPr>
            <a:r>
              <a:rPr lang="en-US" sz="600" b="1" spc="-200" kern="0" dirty="0">
                <a:solidFill>
                  <a:srgbClr val="FF5700"/>
                </a:solidFill>
                <a:latin typeface="Geist" pitchFamily="34" charset="0"/>
                <a:ea typeface="Geist" pitchFamily="34" charset="-122"/>
                <a:cs typeface="Geist" pitchFamily="34" charset="-120"/>
              </a:rPr>
              <a:t>■</a:t>
            </a:r>
            <a:endParaRPr lang="en-US" sz="1400" dirty="0"/>
          </a:p>
        </p:txBody>
      </p:sp>
      <p:sp>
        <p:nvSpPr>
          <p:cNvPr id="4" name="Shape 1"/>
          <p:cNvSpPr/>
          <p:nvPr/>
        </p:nvSpPr>
        <p:spPr>
          <a:xfrm>
            <a:off x="457200" y="813816"/>
            <a:ext cx="91440" cy="91440"/>
          </a:xfrm>
          <a:prstGeom prst="rect">
            <a:avLst/>
          </a:prstGeom>
          <a:solidFill>
            <a:srgbClr val="FF5700"/>
          </a:solidFill>
          <a:ln/>
        </p:spPr>
      </p:sp>
      <p:sp>
        <p:nvSpPr>
          <p:cNvPr id="5" name="Text 2"/>
          <p:cNvSpPr txBox="1"/>
          <p:nvPr/>
        </p:nvSpPr>
        <p:spPr>
          <a:xfrm>
            <a:off x="621792" y="713232"/>
            <a:ext cx="6400800" cy="292608"/>
          </a:xfrm>
          <a:prstGeom prst="rect">
            <a:avLst/>
          </a:prstGeom>
          <a:noFill/>
          <a:ln/>
        </p:spPr>
        <p:txBody>
          <a:bodyPr wrap="square" lIns="0" tIns="0" rIns="0" bIns="0" rtlCol="0" anchor="ctr"/>
          <a:lstStyle/>
          <a:p>
            <a:pPr indent="0" marL="0">
              <a:buNone/>
            </a:pPr>
            <a:r>
              <a:rPr lang="en-US" sz="1000" spc="400" kern="0" dirty="0">
                <a:solidFill>
                  <a:srgbClr val="FF5700"/>
                </a:solidFill>
                <a:latin typeface="IBM Plex Mono" pitchFamily="34" charset="0"/>
                <a:ea typeface="IBM Plex Mono" pitchFamily="34" charset="-122"/>
                <a:cs typeface="IBM Plex Mono" pitchFamily="34" charset="-120"/>
              </a:rPr>
              <a:t>PLUG IT IN · 2</a:t>
            </a:r>
            <a:endParaRPr lang="en-US" sz="1000" dirty="0"/>
          </a:p>
        </p:txBody>
      </p:sp>
      <p:sp>
        <p:nvSpPr>
          <p:cNvPr id="6" name="Text 3"/>
          <p:cNvSpPr txBox="1"/>
          <p:nvPr/>
        </p:nvSpPr>
        <p:spPr>
          <a:xfrm>
            <a:off x="457200" y="987552"/>
            <a:ext cx="8229600" cy="640080"/>
          </a:xfrm>
          <a:prstGeom prst="rect">
            <a:avLst/>
          </a:prstGeom>
          <a:noFill/>
          <a:ln/>
        </p:spPr>
        <p:txBody>
          <a:bodyPr wrap="square" lIns="0" tIns="0" rIns="0" bIns="0" rtlCol="0" anchor="ctr"/>
          <a:lstStyle/>
          <a:p>
            <a:pPr indent="0" marL="0">
              <a:buNone/>
            </a:pPr>
            <a:r>
              <a:rPr lang="en-US" sz="2800" b="1" spc="-100" kern="0" dirty="0">
                <a:solidFill>
                  <a:srgbClr val="1C1C1C"/>
                </a:solidFill>
                <a:latin typeface="Geist" pitchFamily="34" charset="0"/>
                <a:ea typeface="Geist" pitchFamily="34" charset="-122"/>
                <a:cs typeface="Geist" pitchFamily="34" charset="-120"/>
              </a:rPr>
              <a:t>Our own agent — two lines change</a:t>
            </a:r>
            <a:endParaRPr lang="en-US" sz="2800" dirty="0"/>
          </a:p>
        </p:txBody>
      </p:sp>
      <p:sp>
        <p:nvSpPr>
          <p:cNvPr id="7" name="Text 4"/>
          <p:cNvSpPr txBox="1"/>
          <p:nvPr/>
        </p:nvSpPr>
        <p:spPr>
          <a:xfrm>
            <a:off x="457200" y="4754880"/>
            <a:ext cx="5943600" cy="228600"/>
          </a:xfrm>
          <a:prstGeom prst="rect">
            <a:avLst/>
          </a:prstGeom>
          <a:noFill/>
          <a:ln/>
        </p:spPr>
        <p:txBody>
          <a:bodyPr wrap="square" lIns="0" tIns="0" rIns="0" bIns="0" rtlCol="0" anchor="ctr"/>
          <a:lstStyle/>
          <a:p>
            <a:pP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 Learning · The Agentic Enterprise · Ep 3</a:t>
            </a:r>
            <a:endParaRPr lang="en-US" sz="800" dirty="0"/>
          </a:p>
        </p:txBody>
      </p:sp>
      <p:sp>
        <p:nvSpPr>
          <p:cNvPr id="8" name="Text 5"/>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arthashastra.ai</a:t>
            </a:r>
            <a:endParaRPr lang="en-US" sz="800" dirty="0"/>
          </a:p>
        </p:txBody>
      </p:sp>
      <p:sp>
        <p:nvSpPr>
          <p:cNvPr id="9" name="Text 6"/>
          <p:cNvSpPr txBox="1"/>
          <p:nvPr/>
        </p:nvSpPr>
        <p:spPr>
          <a:xfrm>
            <a:off x="457200" y="1783080"/>
            <a:ext cx="4023360" cy="274320"/>
          </a:xfrm>
          <a:prstGeom prst="rect">
            <a:avLst/>
          </a:prstGeom>
          <a:noFill/>
          <a:ln/>
        </p:spPr>
        <p:txBody>
          <a:bodyPr wrap="square" lIns="0" tIns="0" rIns="0" bIns="0" rtlCol="0" anchor="t"/>
          <a:lstStyle/>
          <a:p>
            <a:pPr indent="0" marL="0">
              <a:buNone/>
            </a:pPr>
            <a:r>
              <a:rPr lang="en-US" sz="900" dirty="0">
                <a:solidFill>
                  <a:srgbClr val="919191"/>
                </a:solidFill>
                <a:latin typeface="IBM Plex Mono" pitchFamily="34" charset="0"/>
                <a:ea typeface="IBM Plex Mono" pitchFamily="34" charset="-122"/>
                <a:cs typeface="IBM Plex Mono" pitchFamily="34" charset="-120"/>
              </a:rPr>
              <a:t>EPISODE 2</a:t>
            </a:r>
            <a:endParaRPr lang="en-US" sz="900" dirty="0"/>
          </a:p>
        </p:txBody>
      </p:sp>
      <p:sp>
        <p:nvSpPr>
          <p:cNvPr id="10" name="Shape 7"/>
          <p:cNvSpPr/>
          <p:nvPr/>
        </p:nvSpPr>
        <p:spPr>
          <a:xfrm>
            <a:off x="457200" y="2103120"/>
            <a:ext cx="4023360" cy="1188720"/>
          </a:xfrm>
          <a:prstGeom prst="rect">
            <a:avLst/>
          </a:prstGeom>
          <a:solidFill>
            <a:srgbClr val="111111"/>
          </a:solidFill>
          <a:ln/>
        </p:spPr>
      </p:sp>
      <p:sp>
        <p:nvSpPr>
          <p:cNvPr id="11" name="Text 8"/>
          <p:cNvSpPr txBox="1"/>
          <p:nvPr/>
        </p:nvSpPr>
        <p:spPr>
          <a:xfrm>
            <a:off x="640080" y="2240280"/>
            <a:ext cx="3657600" cy="914400"/>
          </a:xfrm>
          <a:prstGeom prst="rect">
            <a:avLst/>
          </a:prstGeom>
          <a:noFill/>
          <a:ln/>
        </p:spPr>
        <p:txBody>
          <a:bodyPr wrap="square" lIns="0" tIns="0" rIns="0" bIns="0" rtlCol="0" anchor="t"/>
          <a:lstStyle/>
          <a:p>
            <a:pPr indent="0" marL="0">
              <a:buNone/>
            </a:pPr>
            <a:r>
              <a:rPr lang="en-US" sz="950" dirty="0">
                <a:solidFill>
                  <a:srgbClr val="E6E6E6"/>
                </a:solidFill>
                <a:latin typeface="IBM Plex Mono" pitchFamily="34" charset="0"/>
                <a:ea typeface="IBM Plex Mono" pitchFamily="34" charset="-122"/>
                <a:cs typeface="IBM Plex Mono" pitchFamily="34" charset="-120"/>
              </a:rPr>
              <a:t>from erp_tools import TOOLS, HANDLERS</a:t>
            </a:r>
            <a:endParaRPr lang="en-US" sz="950" dirty="0"/>
          </a:p>
          <a:p>
            <a:pPr indent="0" marL="0">
              <a:buNone/>
            </a:pPr>
            <a:endParaRPr lang="en-US" sz="950" dirty="0"/>
          </a:p>
          <a:p>
            <a:pPr indent="0" marL="0">
              <a:buNone/>
            </a:pPr>
            <a:r>
              <a:rPr lang="en-US" sz="950" dirty="0">
                <a:solidFill>
                  <a:srgbClr val="E6E6E6"/>
                </a:solidFill>
                <a:latin typeface="IBM Plex Mono" pitchFamily="34" charset="0"/>
                <a:ea typeface="IBM Plex Mono" pitchFamily="34" charset="-122"/>
                <a:cs typeface="IBM Plex Mono" pitchFamily="34" charset="-120"/>
              </a:rPr>
              <a:t>out = HANDLERS[block.name](**block.input)</a:t>
            </a:r>
            <a:endParaRPr lang="en-US" sz="950" dirty="0"/>
          </a:p>
        </p:txBody>
      </p:sp>
      <p:sp>
        <p:nvSpPr>
          <p:cNvPr id="12" name="Text 9"/>
          <p:cNvSpPr txBox="1"/>
          <p:nvPr/>
        </p:nvSpPr>
        <p:spPr>
          <a:xfrm>
            <a:off x="4663440" y="1783080"/>
            <a:ext cx="4023360" cy="274320"/>
          </a:xfrm>
          <a:prstGeom prst="rect">
            <a:avLst/>
          </a:prstGeom>
          <a:noFill/>
          <a:ln/>
        </p:spPr>
        <p:txBody>
          <a:bodyPr wrap="square" lIns="0" tIns="0" rIns="0" bIns="0" rtlCol="0" anchor="t"/>
          <a:lstStyle/>
          <a:p>
            <a:pPr indent="0" marL="0">
              <a:buNone/>
            </a:pPr>
            <a:r>
              <a:rPr lang="en-US" sz="900" dirty="0">
                <a:solidFill>
                  <a:srgbClr val="FF5700"/>
                </a:solidFill>
                <a:latin typeface="IBM Plex Mono" pitchFamily="34" charset="0"/>
                <a:ea typeface="IBM Plex Mono" pitchFamily="34" charset="-122"/>
                <a:cs typeface="IBM Plex Mono" pitchFamily="34" charset="-120"/>
              </a:rPr>
              <a:t>EPISODE 3</a:t>
            </a:r>
            <a:endParaRPr lang="en-US" sz="900" dirty="0"/>
          </a:p>
        </p:txBody>
      </p:sp>
      <p:sp>
        <p:nvSpPr>
          <p:cNvPr id="13" name="Shape 10"/>
          <p:cNvSpPr/>
          <p:nvPr/>
        </p:nvSpPr>
        <p:spPr>
          <a:xfrm>
            <a:off x="4663440" y="2103120"/>
            <a:ext cx="4023360" cy="1188720"/>
          </a:xfrm>
          <a:prstGeom prst="rect">
            <a:avLst/>
          </a:prstGeom>
          <a:solidFill>
            <a:srgbClr val="111111"/>
          </a:solidFill>
          <a:ln/>
        </p:spPr>
      </p:sp>
      <p:sp>
        <p:nvSpPr>
          <p:cNvPr id="14" name="Text 11"/>
          <p:cNvSpPr txBox="1"/>
          <p:nvPr/>
        </p:nvSpPr>
        <p:spPr>
          <a:xfrm>
            <a:off x="4846320" y="2240280"/>
            <a:ext cx="3657600" cy="914400"/>
          </a:xfrm>
          <a:prstGeom prst="rect">
            <a:avLst/>
          </a:prstGeom>
          <a:noFill/>
          <a:ln/>
        </p:spPr>
        <p:txBody>
          <a:bodyPr wrap="square" lIns="0" tIns="0" rIns="0" bIns="0" rtlCol="0" anchor="t"/>
          <a:lstStyle/>
          <a:p>
            <a:pPr indent="0" marL="0">
              <a:buNone/>
            </a:pPr>
            <a:r>
              <a:rPr lang="en-US" sz="950" dirty="0">
                <a:solidFill>
                  <a:srgbClr val="FF7A33"/>
                </a:solidFill>
                <a:latin typeface="IBM Plex Mono" pitchFamily="34" charset="0"/>
                <a:ea typeface="IBM Plex Mono" pitchFamily="34" charset="-122"/>
                <a:cs typeface="IBM Plex Mono" pitchFamily="34" charset="-120"/>
              </a:rPr>
              <a:t>listed = await session.list_tools()</a:t>
            </a:r>
            <a:endParaRPr lang="en-US" sz="950" dirty="0"/>
          </a:p>
          <a:p>
            <a:pPr indent="0" marL="0">
              <a:buNone/>
            </a:pPr>
            <a:r>
              <a:rPr lang="en-US" sz="950" dirty="0">
                <a:solidFill>
                  <a:srgbClr val="E6E6E6"/>
                </a:solidFill>
                <a:latin typeface="IBM Plex Mono" pitchFamily="34" charset="0"/>
                <a:ea typeface="IBM Plex Mono" pitchFamily="34" charset="-122"/>
                <a:cs typeface="IBM Plex Mono" pitchFamily="34" charset="-120"/>
              </a:rPr>
              <a:t>tools  = [{name, description, inputSchema} ...]</a:t>
            </a:r>
            <a:endParaRPr lang="en-US" sz="950" dirty="0"/>
          </a:p>
          <a:p>
            <a:pPr indent="0" marL="0">
              <a:buNone/>
            </a:pPr>
            <a:r>
              <a:rPr lang="en-US" sz="950" dirty="0">
                <a:solidFill>
                  <a:srgbClr val="FF7A33"/>
                </a:solidFill>
                <a:latin typeface="IBM Plex Mono" pitchFamily="34" charset="0"/>
                <a:ea typeface="IBM Plex Mono" pitchFamily="34" charset="-122"/>
                <a:cs typeface="IBM Plex Mono" pitchFamily="34" charset="-120"/>
              </a:rPr>
              <a:t>out = await session.call_tool(block.name, block.input)</a:t>
            </a:r>
            <a:endParaRPr lang="en-US" sz="950" dirty="0"/>
          </a:p>
        </p:txBody>
      </p:sp>
      <p:sp>
        <p:nvSpPr>
          <p:cNvPr id="15" name="Shape 12"/>
          <p:cNvSpPr/>
          <p:nvPr/>
        </p:nvSpPr>
        <p:spPr>
          <a:xfrm>
            <a:off x="457200" y="3520440"/>
            <a:ext cx="8229600" cy="868680"/>
          </a:xfrm>
          <a:prstGeom prst="rect">
            <a:avLst/>
          </a:prstGeom>
          <a:solidFill>
            <a:srgbClr val="F7F7F5"/>
          </a:solidFill>
          <a:ln w="9525">
            <a:solidFill>
              <a:srgbClr val="E5E5E5"/>
            </a:solidFill>
            <a:prstDash val="solid"/>
          </a:ln>
        </p:spPr>
      </p:sp>
      <p:sp>
        <p:nvSpPr>
          <p:cNvPr id="16" name="Text 13"/>
          <p:cNvSpPr txBox="1"/>
          <p:nvPr/>
        </p:nvSpPr>
        <p:spPr>
          <a:xfrm>
            <a:off x="685800" y="3520440"/>
            <a:ext cx="7772400" cy="868680"/>
          </a:xfrm>
          <a:prstGeom prst="rect">
            <a:avLst/>
          </a:prstGeom>
          <a:noFill/>
          <a:ln/>
        </p:spPr>
        <p:txBody>
          <a:bodyPr wrap="square" lIns="0" tIns="0" rIns="0" bIns="0" rtlCol="0" anchor="ctr"/>
          <a:lstStyle/>
          <a:p>
            <a:pPr indent="0" marL="0">
              <a:buNone/>
            </a:pPr>
            <a:r>
              <a:rPr lang="en-US" sz="900" spc="200" kern="0" dirty="0">
                <a:solidFill>
                  <a:srgbClr val="FF5700"/>
                </a:solidFill>
                <a:latin typeface="IBM Plex Mono" pitchFamily="34" charset="0"/>
                <a:ea typeface="IBM Plex Mono" pitchFamily="34" charset="-122"/>
                <a:cs typeface="IBM Plex Mono" pitchFamily="34" charset="-120"/>
              </a:rPr>
              <a:t>WHY IT MATTERS  </a:t>
            </a:r>
            <a:pPr indent="0" marL="0">
              <a:buNone/>
            </a:pPr>
            <a:r>
              <a:rPr lang="en-US" sz="1150" dirty="0">
                <a:solidFill>
                  <a:srgbClr val="1C1C1C"/>
                </a:solidFill>
                <a:latin typeface="Geist" pitchFamily="34" charset="0"/>
                <a:ea typeface="Geist" pitchFamily="34" charset="-122"/>
                <a:cs typeface="Geist" pitchFamily="34" charset="-120"/>
              </a:rPr>
              <a:t>the same server now serves Claude Desktop, Cursor, your agent and the next team's agent. Tool logic lives once, next to the data, owned by the team that owns the data.</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457200" y="292608"/>
            <a:ext cx="8229600" cy="231140"/>
          </a:xfrm>
          <a:prstGeom prst="rect">
            <a:avLst/>
          </a:prstGeom>
          <a:noFill/>
          <a:ln/>
        </p:spPr>
        <p:txBody>
          <a:bodyPr wrap="square" lIns="0" tIns="0" rIns="0" bIns="0" rtlCol="0" anchor="ctr"/>
          <a:lstStyle/>
          <a:p>
            <a:pPr indent="0" marL="0">
              <a:buNone/>
            </a:pPr>
            <a:r>
              <a:rPr lang="en-US" sz="1400" b="1" spc="-200" kern="0" dirty="0">
                <a:solidFill>
                  <a:srgbClr val="1C1C1C"/>
                </a:solidFill>
                <a:latin typeface="Geist" pitchFamily="34" charset="0"/>
                <a:ea typeface="Geist" pitchFamily="34" charset="-122"/>
                <a:cs typeface="Geist" pitchFamily="34" charset="-120"/>
              </a:rPr>
              <a:t>learn with </a:t>
            </a:r>
            <a:pPr indent="0" marL="0">
              <a:buNone/>
            </a:pPr>
            <a:r>
              <a:rPr lang="en-US" sz="1400" b="1" spc="-200" kern="0" dirty="0">
                <a:solidFill>
                  <a:srgbClr val="FF5700"/>
                </a:solidFill>
                <a:latin typeface="Geist" pitchFamily="34" charset="0"/>
                <a:ea typeface="Geist" pitchFamily="34" charset="-122"/>
                <a:cs typeface="Geist" pitchFamily="34" charset="-120"/>
              </a:rPr>
              <a:t>harsha</a:t>
            </a:r>
            <a:pPr indent="0" marL="0">
              <a:buNone/>
            </a:pPr>
            <a:r>
              <a:rPr lang="en-US" sz="600" b="1" spc="-200" kern="0" dirty="0">
                <a:solidFill>
                  <a:srgbClr val="FF5700"/>
                </a:solidFill>
                <a:latin typeface="Geist" pitchFamily="34" charset="0"/>
                <a:ea typeface="Geist" pitchFamily="34" charset="-122"/>
                <a:cs typeface="Geist" pitchFamily="34" charset="-120"/>
              </a:rPr>
              <a:t>■</a:t>
            </a:r>
            <a:endParaRPr lang="en-US" sz="1400" dirty="0"/>
          </a:p>
        </p:txBody>
      </p:sp>
      <p:sp>
        <p:nvSpPr>
          <p:cNvPr id="4" name="Shape 1"/>
          <p:cNvSpPr/>
          <p:nvPr/>
        </p:nvSpPr>
        <p:spPr>
          <a:xfrm>
            <a:off x="457200" y="813816"/>
            <a:ext cx="91440" cy="91440"/>
          </a:xfrm>
          <a:prstGeom prst="rect">
            <a:avLst/>
          </a:prstGeom>
          <a:solidFill>
            <a:srgbClr val="FF5700"/>
          </a:solidFill>
          <a:ln/>
        </p:spPr>
      </p:sp>
      <p:sp>
        <p:nvSpPr>
          <p:cNvPr id="5" name="Text 2"/>
          <p:cNvSpPr txBox="1"/>
          <p:nvPr/>
        </p:nvSpPr>
        <p:spPr>
          <a:xfrm>
            <a:off x="621792" y="713232"/>
            <a:ext cx="6400800" cy="292608"/>
          </a:xfrm>
          <a:prstGeom prst="rect">
            <a:avLst/>
          </a:prstGeom>
          <a:noFill/>
          <a:ln/>
        </p:spPr>
        <p:txBody>
          <a:bodyPr wrap="square" lIns="0" tIns="0" rIns="0" bIns="0" rtlCol="0" anchor="ctr"/>
          <a:lstStyle/>
          <a:p>
            <a:pPr indent="0" marL="0">
              <a:buNone/>
            </a:pPr>
            <a:r>
              <a:rPr lang="en-US" sz="1000" spc="400" kern="0" dirty="0">
                <a:solidFill>
                  <a:srgbClr val="FF5700"/>
                </a:solidFill>
                <a:latin typeface="IBM Plex Mono" pitchFamily="34" charset="0"/>
                <a:ea typeface="IBM Plex Mono" pitchFamily="34" charset="-122"/>
                <a:cs typeface="IBM Plex Mono" pitchFamily="34" charset="-120"/>
              </a:rPr>
              <a:t>WHAT BREAKS IN THE ENTERPRISE</a:t>
            </a:r>
            <a:endParaRPr lang="en-US" sz="1000" dirty="0"/>
          </a:p>
        </p:txBody>
      </p:sp>
      <p:sp>
        <p:nvSpPr>
          <p:cNvPr id="6" name="Text 3"/>
          <p:cNvSpPr txBox="1"/>
          <p:nvPr/>
        </p:nvSpPr>
        <p:spPr>
          <a:xfrm>
            <a:off x="457200" y="987552"/>
            <a:ext cx="8229600" cy="640080"/>
          </a:xfrm>
          <a:prstGeom prst="rect">
            <a:avLst/>
          </a:prstGeom>
          <a:noFill/>
          <a:ln/>
        </p:spPr>
        <p:txBody>
          <a:bodyPr wrap="square" lIns="0" tIns="0" rIns="0" bIns="0" rtlCol="0" anchor="ctr"/>
          <a:lstStyle/>
          <a:p>
            <a:pPr indent="0" marL="0">
              <a:buNone/>
            </a:pPr>
            <a:r>
              <a:rPr lang="en-US" sz="2300" b="1" spc="-100" kern="0" dirty="0">
                <a:solidFill>
                  <a:srgbClr val="1C1C1C"/>
                </a:solidFill>
                <a:latin typeface="Geist" pitchFamily="34" charset="0"/>
                <a:ea typeface="Geist" pitchFamily="34" charset="-122"/>
                <a:cs typeface="Geist" pitchFamily="34" charset="-120"/>
              </a:rPr>
              <a:t>Four rules before this server leaves your laptop</a:t>
            </a:r>
            <a:endParaRPr lang="en-US" sz="2300" dirty="0"/>
          </a:p>
        </p:txBody>
      </p:sp>
      <p:sp>
        <p:nvSpPr>
          <p:cNvPr id="7" name="Text 4"/>
          <p:cNvSpPr txBox="1"/>
          <p:nvPr/>
        </p:nvSpPr>
        <p:spPr>
          <a:xfrm>
            <a:off x="457200" y="4754880"/>
            <a:ext cx="5943600" cy="228600"/>
          </a:xfrm>
          <a:prstGeom prst="rect">
            <a:avLst/>
          </a:prstGeom>
          <a:noFill/>
          <a:ln/>
        </p:spPr>
        <p:txBody>
          <a:bodyPr wrap="square" lIns="0" tIns="0" rIns="0" bIns="0" rtlCol="0" anchor="ctr"/>
          <a:lstStyle/>
          <a:p>
            <a:pP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 Learning · The Agentic Enterprise · Ep 3</a:t>
            </a:r>
            <a:endParaRPr lang="en-US" sz="800" dirty="0"/>
          </a:p>
        </p:txBody>
      </p:sp>
      <p:sp>
        <p:nvSpPr>
          <p:cNvPr id="8" name="Text 5"/>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800" spc="100" kern="0" dirty="0">
                <a:solidFill>
                  <a:srgbClr val="919191"/>
                </a:solidFill>
                <a:latin typeface="IBM Plex Mono" pitchFamily="34" charset="0"/>
                <a:ea typeface="IBM Plex Mono" pitchFamily="34" charset="-122"/>
                <a:cs typeface="IBM Plex Mono" pitchFamily="34" charset="-120"/>
              </a:rPr>
              <a:t>arthashastra.ai</a:t>
            </a:r>
            <a:endParaRPr lang="en-US" sz="800" dirty="0"/>
          </a:p>
        </p:txBody>
      </p:sp>
      <p:sp>
        <p:nvSpPr>
          <p:cNvPr id="9" name="Shape 6"/>
          <p:cNvSpPr/>
          <p:nvPr/>
        </p:nvSpPr>
        <p:spPr>
          <a:xfrm>
            <a:off x="457200" y="1783080"/>
            <a:ext cx="4023360" cy="1097280"/>
          </a:xfrm>
          <a:prstGeom prst="rect">
            <a:avLst/>
          </a:prstGeom>
          <a:solidFill>
            <a:srgbClr val="FFFFFF"/>
          </a:solidFill>
          <a:ln w="9525">
            <a:solidFill>
              <a:srgbClr val="E5E5E5"/>
            </a:solidFill>
            <a:prstDash val="solid"/>
          </a:ln>
        </p:spPr>
      </p:sp>
      <p:sp>
        <p:nvSpPr>
          <p:cNvPr id="10" name="Shape 7"/>
          <p:cNvSpPr/>
          <p:nvPr/>
        </p:nvSpPr>
        <p:spPr>
          <a:xfrm>
            <a:off x="685800" y="1984248"/>
            <a:ext cx="310896" cy="310896"/>
          </a:xfrm>
          <a:prstGeom prst="rect">
            <a:avLst/>
          </a:prstGeom>
          <a:solidFill>
            <a:srgbClr val="FF5700"/>
          </a:solidFill>
          <a:ln/>
        </p:spPr>
      </p:sp>
      <p:sp>
        <p:nvSpPr>
          <p:cNvPr id="11" name="Text 8"/>
          <p:cNvSpPr txBox="1"/>
          <p:nvPr/>
        </p:nvSpPr>
        <p:spPr>
          <a:xfrm>
            <a:off x="685800" y="19842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IBM Plex Mono" pitchFamily="34" charset="0"/>
                <a:ea typeface="IBM Plex Mono" pitchFamily="34" charset="-122"/>
                <a:cs typeface="IBM Plex Mono" pitchFamily="34" charset="-120"/>
              </a:rPr>
              <a:t>1</a:t>
            </a:r>
            <a:endParaRPr lang="en-US" sz="1100" dirty="0"/>
          </a:p>
        </p:txBody>
      </p:sp>
      <p:sp>
        <p:nvSpPr>
          <p:cNvPr id="12" name="Text 9"/>
          <p:cNvSpPr txBox="1"/>
          <p:nvPr/>
        </p:nvSpPr>
        <p:spPr>
          <a:xfrm>
            <a:off x="1143000" y="1947672"/>
            <a:ext cx="3200400" cy="365760"/>
          </a:xfrm>
          <a:prstGeom prst="rect">
            <a:avLst/>
          </a:prstGeom>
          <a:noFill/>
          <a:ln/>
        </p:spPr>
        <p:txBody>
          <a:bodyPr wrap="square" lIns="0" tIns="0" rIns="0" bIns="0" rtlCol="0" anchor="t"/>
          <a:lstStyle/>
          <a:p>
            <a:pPr indent="0" marL="0">
              <a:buNone/>
            </a:pPr>
            <a:r>
              <a:rPr lang="en-US" sz="1400" b="1" spc="-50" kern="0" dirty="0">
                <a:solidFill>
                  <a:srgbClr val="1C1C1C"/>
                </a:solidFill>
                <a:latin typeface="Geist" pitchFamily="34" charset="0"/>
                <a:ea typeface="Geist" pitchFamily="34" charset="-122"/>
                <a:cs typeface="Geist" pitchFamily="34" charset="-120"/>
              </a:rPr>
              <a:t>Read-only by default</a:t>
            </a:r>
            <a:endParaRPr lang="en-US" sz="1400" dirty="0"/>
          </a:p>
        </p:txBody>
      </p:sp>
      <p:sp>
        <p:nvSpPr>
          <p:cNvPr id="13" name="Text 10"/>
          <p:cNvSpPr txBox="1"/>
          <p:nvPr/>
        </p:nvSpPr>
        <p:spPr>
          <a:xfrm>
            <a:off x="1143000" y="2313432"/>
            <a:ext cx="3200400" cy="502920"/>
          </a:xfrm>
          <a:prstGeom prst="rect">
            <a:avLst/>
          </a:prstGeom>
          <a:noFill/>
          <a:ln/>
        </p:spPr>
        <p:txBody>
          <a:bodyPr wrap="square" lIns="0" tIns="0" rIns="0" bIns="0" rtlCol="0" anchor="t"/>
          <a:lstStyle/>
          <a:p>
            <a:pPr indent="0" marL="0">
              <a:buNone/>
            </a:pPr>
            <a:r>
              <a:rPr lang="en-US" sz="1050" dirty="0">
                <a:solidFill>
                  <a:srgbClr val="6B7280"/>
                </a:solidFill>
                <a:latin typeface="Geist" pitchFamily="34" charset="0"/>
                <a:ea typeface="Geist" pitchFamily="34" charset="-122"/>
                <a:cs typeface="Geist" pitchFamily="34" charset="-120"/>
              </a:rPr>
              <a:t>no UPDATE tool until identity and approval exist (Ep 15)</a:t>
            </a:r>
            <a:endParaRPr lang="en-US" sz="1050" dirty="0"/>
          </a:p>
        </p:txBody>
      </p:sp>
      <p:sp>
        <p:nvSpPr>
          <p:cNvPr id="14" name="Shape 11"/>
          <p:cNvSpPr/>
          <p:nvPr/>
        </p:nvSpPr>
        <p:spPr>
          <a:xfrm>
            <a:off x="4663440" y="1783080"/>
            <a:ext cx="4023360" cy="1097280"/>
          </a:xfrm>
          <a:prstGeom prst="rect">
            <a:avLst/>
          </a:prstGeom>
          <a:solidFill>
            <a:srgbClr val="FFFFFF"/>
          </a:solidFill>
          <a:ln w="9525">
            <a:solidFill>
              <a:srgbClr val="E5E5E5"/>
            </a:solidFill>
            <a:prstDash val="solid"/>
          </a:ln>
        </p:spPr>
      </p:sp>
      <p:sp>
        <p:nvSpPr>
          <p:cNvPr id="15" name="Shape 12"/>
          <p:cNvSpPr/>
          <p:nvPr/>
        </p:nvSpPr>
        <p:spPr>
          <a:xfrm>
            <a:off x="4892040" y="1984248"/>
            <a:ext cx="310896" cy="310896"/>
          </a:xfrm>
          <a:prstGeom prst="rect">
            <a:avLst/>
          </a:prstGeom>
          <a:solidFill>
            <a:srgbClr val="FF5700"/>
          </a:solidFill>
          <a:ln/>
        </p:spPr>
      </p:sp>
      <p:sp>
        <p:nvSpPr>
          <p:cNvPr id="16" name="Text 13"/>
          <p:cNvSpPr txBox="1"/>
          <p:nvPr/>
        </p:nvSpPr>
        <p:spPr>
          <a:xfrm>
            <a:off x="4892040" y="19842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IBM Plex Mono" pitchFamily="34" charset="0"/>
                <a:ea typeface="IBM Plex Mono" pitchFamily="34" charset="-122"/>
                <a:cs typeface="IBM Plex Mono" pitchFamily="34" charset="-120"/>
              </a:rPr>
              <a:t>2</a:t>
            </a:r>
            <a:endParaRPr lang="en-US" sz="1100" dirty="0"/>
          </a:p>
        </p:txBody>
      </p:sp>
      <p:sp>
        <p:nvSpPr>
          <p:cNvPr id="17" name="Text 14"/>
          <p:cNvSpPr txBox="1"/>
          <p:nvPr/>
        </p:nvSpPr>
        <p:spPr>
          <a:xfrm>
            <a:off x="5349240" y="1947672"/>
            <a:ext cx="3200400" cy="365760"/>
          </a:xfrm>
          <a:prstGeom prst="rect">
            <a:avLst/>
          </a:prstGeom>
          <a:noFill/>
          <a:ln/>
        </p:spPr>
        <p:txBody>
          <a:bodyPr wrap="square" lIns="0" tIns="0" rIns="0" bIns="0" rtlCol="0" anchor="t"/>
          <a:lstStyle/>
          <a:p>
            <a:pPr indent="0" marL="0">
              <a:buNone/>
            </a:pPr>
            <a:r>
              <a:rPr lang="en-US" sz="1400" b="1" spc="-50" kern="0" dirty="0">
                <a:solidFill>
                  <a:srgbClr val="1C1C1C"/>
                </a:solidFill>
                <a:latin typeface="Geist" pitchFamily="34" charset="0"/>
                <a:ea typeface="Geist" pitchFamily="34" charset="-122"/>
                <a:cs typeface="Geist" pitchFamily="34" charset="-120"/>
              </a:rPr>
              <a:t>Cap and paginate</a:t>
            </a:r>
            <a:endParaRPr lang="en-US" sz="1400" dirty="0"/>
          </a:p>
        </p:txBody>
      </p:sp>
      <p:sp>
        <p:nvSpPr>
          <p:cNvPr id="18" name="Text 15"/>
          <p:cNvSpPr txBox="1"/>
          <p:nvPr/>
        </p:nvSpPr>
        <p:spPr>
          <a:xfrm>
            <a:off x="5349240" y="2313432"/>
            <a:ext cx="3200400" cy="502920"/>
          </a:xfrm>
          <a:prstGeom prst="rect">
            <a:avLst/>
          </a:prstGeom>
          <a:noFill/>
          <a:ln/>
        </p:spPr>
        <p:txBody>
          <a:bodyPr wrap="square" lIns="0" tIns="0" rIns="0" bIns="0" rtlCol="0" anchor="t"/>
          <a:lstStyle/>
          <a:p>
            <a:pPr indent="0" marL="0">
              <a:buNone/>
            </a:pPr>
            <a:r>
              <a:rPr lang="en-US" sz="1050" dirty="0">
                <a:solidFill>
                  <a:srgbClr val="6B7280"/>
                </a:solidFill>
                <a:latin typeface="Geist" pitchFamily="34" charset="0"/>
                <a:ea typeface="Geist" pitchFamily="34" charset="-122"/>
                <a:cs typeface="Geist" pitchFamily="34" charset="-120"/>
              </a:rPr>
              <a:t>MAX_ROWS on every list. The model asks for everything; the server decides.</a:t>
            </a:r>
            <a:endParaRPr lang="en-US" sz="1050" dirty="0"/>
          </a:p>
        </p:txBody>
      </p:sp>
      <p:sp>
        <p:nvSpPr>
          <p:cNvPr id="19" name="Shape 16"/>
          <p:cNvSpPr/>
          <p:nvPr/>
        </p:nvSpPr>
        <p:spPr>
          <a:xfrm>
            <a:off x="457200" y="3017520"/>
            <a:ext cx="4023360" cy="1097280"/>
          </a:xfrm>
          <a:prstGeom prst="rect">
            <a:avLst/>
          </a:prstGeom>
          <a:solidFill>
            <a:srgbClr val="F7F7F5"/>
          </a:solidFill>
          <a:ln w="9525">
            <a:solidFill>
              <a:srgbClr val="E5E5E5"/>
            </a:solidFill>
            <a:prstDash val="solid"/>
          </a:ln>
        </p:spPr>
      </p:sp>
      <p:sp>
        <p:nvSpPr>
          <p:cNvPr id="20" name="Shape 17"/>
          <p:cNvSpPr/>
          <p:nvPr/>
        </p:nvSpPr>
        <p:spPr>
          <a:xfrm>
            <a:off x="685800" y="3218688"/>
            <a:ext cx="310896" cy="310896"/>
          </a:xfrm>
          <a:prstGeom prst="rect">
            <a:avLst/>
          </a:prstGeom>
          <a:solidFill>
            <a:srgbClr val="FF5700"/>
          </a:solidFill>
          <a:ln/>
        </p:spPr>
      </p:sp>
      <p:sp>
        <p:nvSpPr>
          <p:cNvPr id="21" name="Text 18"/>
          <p:cNvSpPr txBox="1"/>
          <p:nvPr/>
        </p:nvSpPr>
        <p:spPr>
          <a:xfrm>
            <a:off x="685800" y="32186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IBM Plex Mono" pitchFamily="34" charset="0"/>
                <a:ea typeface="IBM Plex Mono" pitchFamily="34" charset="-122"/>
                <a:cs typeface="IBM Plex Mono" pitchFamily="34" charset="-120"/>
              </a:rPr>
              <a:t>3</a:t>
            </a:r>
            <a:endParaRPr lang="en-US" sz="1100" dirty="0"/>
          </a:p>
        </p:txBody>
      </p:sp>
      <p:sp>
        <p:nvSpPr>
          <p:cNvPr id="22" name="Text 19"/>
          <p:cNvSpPr txBox="1"/>
          <p:nvPr/>
        </p:nvSpPr>
        <p:spPr>
          <a:xfrm>
            <a:off x="1143000" y="3182112"/>
            <a:ext cx="3200400" cy="365760"/>
          </a:xfrm>
          <a:prstGeom prst="rect">
            <a:avLst/>
          </a:prstGeom>
          <a:noFill/>
          <a:ln/>
        </p:spPr>
        <p:txBody>
          <a:bodyPr wrap="square" lIns="0" tIns="0" rIns="0" bIns="0" rtlCol="0" anchor="t"/>
          <a:lstStyle/>
          <a:p>
            <a:pPr indent="0" marL="0">
              <a:buNone/>
            </a:pPr>
            <a:r>
              <a:rPr lang="en-US" sz="1400" b="1" spc="-50" kern="0" dirty="0">
                <a:solidFill>
                  <a:srgbClr val="1C1C1C"/>
                </a:solidFill>
                <a:latin typeface="Geist" pitchFamily="34" charset="0"/>
                <a:ea typeface="Geist" pitchFamily="34" charset="-122"/>
                <a:cs typeface="Geist" pitchFamily="34" charset="-120"/>
              </a:rPr>
              <a:t>Tenant filter server-side</a:t>
            </a:r>
            <a:endParaRPr lang="en-US" sz="1400" dirty="0"/>
          </a:p>
        </p:txBody>
      </p:sp>
      <p:sp>
        <p:nvSpPr>
          <p:cNvPr id="23" name="Text 20"/>
          <p:cNvSpPr txBox="1"/>
          <p:nvPr/>
        </p:nvSpPr>
        <p:spPr>
          <a:xfrm>
            <a:off x="1143000" y="3547872"/>
            <a:ext cx="3200400" cy="502920"/>
          </a:xfrm>
          <a:prstGeom prst="rect">
            <a:avLst/>
          </a:prstGeom>
          <a:noFill/>
          <a:ln/>
        </p:spPr>
        <p:txBody>
          <a:bodyPr wrap="square" lIns="0" tIns="0" rIns="0" bIns="0" rtlCol="0" anchor="t"/>
          <a:lstStyle/>
          <a:p>
            <a:pPr indent="0" marL="0">
              <a:buNone/>
            </a:pPr>
            <a:r>
              <a:rPr lang="en-US" sz="1050" dirty="0">
                <a:solidFill>
                  <a:srgbClr val="6B7280"/>
                </a:solidFill>
                <a:latin typeface="Geist" pitchFamily="34" charset="0"/>
                <a:ea typeface="Geist" pitchFamily="34" charset="-122"/>
                <a:cs typeface="Geist" pitchFamily="34" charset="-120"/>
              </a:rPr>
              <a:t>COMPANY comes from the deployment, injected into every query. Never trust the model to add WHERE.</a:t>
            </a:r>
            <a:endParaRPr lang="en-US" sz="1050" dirty="0"/>
          </a:p>
        </p:txBody>
      </p:sp>
      <p:sp>
        <p:nvSpPr>
          <p:cNvPr id="24" name="Shape 21"/>
          <p:cNvSpPr/>
          <p:nvPr/>
        </p:nvSpPr>
        <p:spPr>
          <a:xfrm>
            <a:off x="4663440" y="3017520"/>
            <a:ext cx="4023360" cy="1097280"/>
          </a:xfrm>
          <a:prstGeom prst="rect">
            <a:avLst/>
          </a:prstGeom>
          <a:solidFill>
            <a:srgbClr val="FFFFFF"/>
          </a:solidFill>
          <a:ln w="9525">
            <a:solidFill>
              <a:srgbClr val="E5E5E5"/>
            </a:solidFill>
            <a:prstDash val="solid"/>
          </a:ln>
        </p:spPr>
      </p:sp>
      <p:sp>
        <p:nvSpPr>
          <p:cNvPr id="25" name="Shape 22"/>
          <p:cNvSpPr/>
          <p:nvPr/>
        </p:nvSpPr>
        <p:spPr>
          <a:xfrm>
            <a:off x="4892040" y="3218688"/>
            <a:ext cx="310896" cy="310896"/>
          </a:xfrm>
          <a:prstGeom prst="rect">
            <a:avLst/>
          </a:prstGeom>
          <a:solidFill>
            <a:srgbClr val="FF5700"/>
          </a:solidFill>
          <a:ln/>
        </p:spPr>
      </p:sp>
      <p:sp>
        <p:nvSpPr>
          <p:cNvPr id="26" name="Text 23"/>
          <p:cNvSpPr txBox="1"/>
          <p:nvPr/>
        </p:nvSpPr>
        <p:spPr>
          <a:xfrm>
            <a:off x="4892040" y="32186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IBM Plex Mono" pitchFamily="34" charset="0"/>
                <a:ea typeface="IBM Plex Mono" pitchFamily="34" charset="-122"/>
                <a:cs typeface="IBM Plex Mono" pitchFamily="34" charset="-120"/>
              </a:rPr>
              <a:t>4</a:t>
            </a:r>
            <a:endParaRPr lang="en-US" sz="1100" dirty="0"/>
          </a:p>
        </p:txBody>
      </p:sp>
      <p:sp>
        <p:nvSpPr>
          <p:cNvPr id="27" name="Text 24"/>
          <p:cNvSpPr txBox="1"/>
          <p:nvPr/>
        </p:nvSpPr>
        <p:spPr>
          <a:xfrm>
            <a:off x="5349240" y="3182112"/>
            <a:ext cx="3200400" cy="365760"/>
          </a:xfrm>
          <a:prstGeom prst="rect">
            <a:avLst/>
          </a:prstGeom>
          <a:noFill/>
          <a:ln/>
        </p:spPr>
        <p:txBody>
          <a:bodyPr wrap="square" lIns="0" tIns="0" rIns="0" bIns="0" rtlCol="0" anchor="t"/>
          <a:lstStyle/>
          <a:p>
            <a:pPr indent="0" marL="0">
              <a:buNone/>
            </a:pPr>
            <a:r>
              <a:rPr lang="en-US" sz="1400" b="1" spc="-50" kern="0" dirty="0">
                <a:solidFill>
                  <a:srgbClr val="1C1C1C"/>
                </a:solidFill>
                <a:latin typeface="Geist" pitchFamily="34" charset="0"/>
                <a:ea typeface="Geist" pitchFamily="34" charset="-122"/>
                <a:cs typeface="Geist" pitchFamily="34" charset="-120"/>
              </a:rPr>
              <a:t>Log every call</a:t>
            </a:r>
            <a:endParaRPr lang="en-US" sz="1400" dirty="0"/>
          </a:p>
        </p:txBody>
      </p:sp>
      <p:sp>
        <p:nvSpPr>
          <p:cNvPr id="28" name="Text 25"/>
          <p:cNvSpPr txBox="1"/>
          <p:nvPr/>
        </p:nvSpPr>
        <p:spPr>
          <a:xfrm>
            <a:off x="5349240" y="3547872"/>
            <a:ext cx="3200400" cy="502920"/>
          </a:xfrm>
          <a:prstGeom prst="rect">
            <a:avLst/>
          </a:prstGeom>
          <a:noFill/>
          <a:ln/>
        </p:spPr>
        <p:txBody>
          <a:bodyPr wrap="square" lIns="0" tIns="0" rIns="0" bIns="0" rtlCol="0" anchor="t"/>
          <a:lstStyle/>
          <a:p>
            <a:pPr indent="0" marL="0">
              <a:buNone/>
            </a:pPr>
            <a:r>
              <a:rPr lang="en-US" sz="1050" dirty="0">
                <a:solidFill>
                  <a:srgbClr val="6B7280"/>
                </a:solidFill>
                <a:latin typeface="Geist" pitchFamily="34" charset="0"/>
                <a:ea typeface="Geist" pitchFamily="34" charset="-122"/>
                <a:cs typeface="Geist" pitchFamily="34" charset="-120"/>
              </a:rPr>
              <a:t>tool, args, caller, company, latency — your audit trail and your eval set (Ep 9, 10)</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411480"/>
            <a:ext cx="8229600" cy="297180"/>
          </a:xfrm>
          <a:prstGeom prst="rect">
            <a:avLst/>
          </a:prstGeom>
          <a:noFill/>
          <a:ln/>
        </p:spPr>
        <p:txBody>
          <a:bodyPr wrap="square" lIns="0" tIns="0" rIns="0" bIns="0" rtlCol="0" anchor="ctr"/>
          <a:lstStyle/>
          <a:p>
            <a:pPr indent="0" marL="0">
              <a:buNone/>
            </a:pPr>
            <a:r>
              <a:rPr lang="en-US" sz="1800" b="1" spc="-200" kern="0" dirty="0">
                <a:solidFill>
                  <a:srgbClr val="FFFFFF"/>
                </a:solidFill>
                <a:latin typeface="Geist" pitchFamily="34" charset="0"/>
                <a:ea typeface="Geist" pitchFamily="34" charset="-122"/>
                <a:cs typeface="Geist" pitchFamily="34" charset="-120"/>
              </a:rPr>
              <a:t>learn with </a:t>
            </a:r>
            <a:pPr indent="0" marL="0">
              <a:buNone/>
            </a:pPr>
            <a:r>
              <a:rPr lang="en-US" sz="1800" b="1" spc="-200" kern="0" dirty="0">
                <a:solidFill>
                  <a:srgbClr val="FF5700"/>
                </a:solidFill>
                <a:latin typeface="Geist" pitchFamily="34" charset="0"/>
                <a:ea typeface="Geist" pitchFamily="34" charset="-122"/>
                <a:cs typeface="Geist" pitchFamily="34" charset="-120"/>
              </a:rPr>
              <a:t>harsha</a:t>
            </a:r>
            <a:pPr indent="0" marL="0">
              <a:buNone/>
            </a:pPr>
            <a:r>
              <a:rPr lang="en-US" sz="800" b="1" spc="-200" kern="0" dirty="0">
                <a:solidFill>
                  <a:srgbClr val="FF5700"/>
                </a:solidFill>
                <a:latin typeface="Geist" pitchFamily="34" charset="0"/>
                <a:ea typeface="Geist" pitchFamily="34" charset="-122"/>
                <a:cs typeface="Geist" pitchFamily="34" charset="-120"/>
              </a:rPr>
              <a:t>■</a:t>
            </a:r>
            <a:endParaRPr lang="en-US" sz="1800" dirty="0"/>
          </a:p>
        </p:txBody>
      </p:sp>
      <p:sp>
        <p:nvSpPr>
          <p:cNvPr id="4" name="Shape 1"/>
          <p:cNvSpPr/>
          <p:nvPr/>
        </p:nvSpPr>
        <p:spPr>
          <a:xfrm>
            <a:off x="6903720" y="457200"/>
            <a:ext cx="274320" cy="274320"/>
          </a:xfrm>
          <a:prstGeom prst="rect">
            <a:avLst/>
          </a:prstGeom>
          <a:solidFill>
            <a:srgbClr val="222222"/>
          </a:solidFill>
          <a:ln/>
        </p:spPr>
      </p:sp>
      <p:sp>
        <p:nvSpPr>
          <p:cNvPr id="5" name="Shape 2"/>
          <p:cNvSpPr/>
          <p:nvPr/>
        </p:nvSpPr>
        <p:spPr>
          <a:xfrm>
            <a:off x="7242048" y="457200"/>
            <a:ext cx="274320" cy="274320"/>
          </a:xfrm>
          <a:prstGeom prst="rect">
            <a:avLst/>
          </a:prstGeom>
          <a:solidFill>
            <a:srgbClr val="222222"/>
          </a:solidFill>
          <a:ln/>
        </p:spPr>
      </p:sp>
      <p:sp>
        <p:nvSpPr>
          <p:cNvPr id="6" name="Shape 3"/>
          <p:cNvSpPr/>
          <p:nvPr/>
        </p:nvSpPr>
        <p:spPr>
          <a:xfrm>
            <a:off x="7580376" y="457200"/>
            <a:ext cx="274320" cy="274320"/>
          </a:xfrm>
          <a:prstGeom prst="rect">
            <a:avLst/>
          </a:prstGeom>
          <a:solidFill>
            <a:srgbClr val="222222"/>
          </a:solidFill>
          <a:ln/>
        </p:spPr>
      </p:sp>
      <p:sp>
        <p:nvSpPr>
          <p:cNvPr id="7" name="Shape 4"/>
          <p:cNvSpPr/>
          <p:nvPr/>
        </p:nvSpPr>
        <p:spPr>
          <a:xfrm>
            <a:off x="6903720" y="795528"/>
            <a:ext cx="274320" cy="274320"/>
          </a:xfrm>
          <a:prstGeom prst="rect">
            <a:avLst/>
          </a:prstGeom>
          <a:solidFill>
            <a:srgbClr val="222222"/>
          </a:solidFill>
          <a:ln/>
        </p:spPr>
      </p:sp>
      <p:sp>
        <p:nvSpPr>
          <p:cNvPr id="8" name="Shape 5"/>
          <p:cNvSpPr/>
          <p:nvPr/>
        </p:nvSpPr>
        <p:spPr>
          <a:xfrm>
            <a:off x="7242048" y="795528"/>
            <a:ext cx="274320" cy="274320"/>
          </a:xfrm>
          <a:prstGeom prst="rect">
            <a:avLst/>
          </a:prstGeom>
          <a:solidFill>
            <a:srgbClr val="FF5700"/>
          </a:solidFill>
          <a:ln/>
        </p:spPr>
      </p:sp>
      <p:sp>
        <p:nvSpPr>
          <p:cNvPr id="9" name="Shape 6"/>
          <p:cNvSpPr/>
          <p:nvPr/>
        </p:nvSpPr>
        <p:spPr>
          <a:xfrm>
            <a:off x="7580376" y="795528"/>
            <a:ext cx="274320" cy="274320"/>
          </a:xfrm>
          <a:prstGeom prst="rect">
            <a:avLst/>
          </a:prstGeom>
          <a:solidFill>
            <a:srgbClr val="222222"/>
          </a:solidFill>
          <a:ln/>
        </p:spPr>
      </p:sp>
      <p:sp>
        <p:nvSpPr>
          <p:cNvPr id="10" name="Shape 7"/>
          <p:cNvSpPr/>
          <p:nvPr/>
        </p:nvSpPr>
        <p:spPr>
          <a:xfrm>
            <a:off x="6903720" y="1133856"/>
            <a:ext cx="274320" cy="274320"/>
          </a:xfrm>
          <a:prstGeom prst="rect">
            <a:avLst/>
          </a:prstGeom>
          <a:solidFill>
            <a:srgbClr val="222222"/>
          </a:solidFill>
          <a:ln/>
        </p:spPr>
      </p:sp>
      <p:sp>
        <p:nvSpPr>
          <p:cNvPr id="11" name="Shape 8"/>
          <p:cNvSpPr/>
          <p:nvPr/>
        </p:nvSpPr>
        <p:spPr>
          <a:xfrm>
            <a:off x="7242048" y="1133856"/>
            <a:ext cx="274320" cy="274320"/>
          </a:xfrm>
          <a:prstGeom prst="rect">
            <a:avLst/>
          </a:prstGeom>
          <a:solidFill>
            <a:srgbClr val="222222"/>
          </a:solidFill>
          <a:ln/>
        </p:spPr>
      </p:sp>
      <p:sp>
        <p:nvSpPr>
          <p:cNvPr id="12" name="Shape 9"/>
          <p:cNvSpPr/>
          <p:nvPr/>
        </p:nvSpPr>
        <p:spPr>
          <a:xfrm>
            <a:off x="7580376" y="1133856"/>
            <a:ext cx="274320" cy="274320"/>
          </a:xfrm>
          <a:prstGeom prst="rect">
            <a:avLst/>
          </a:prstGeom>
          <a:solidFill>
            <a:srgbClr val="222222"/>
          </a:solidFill>
          <a:ln/>
        </p:spPr>
      </p:sp>
      <p:sp>
        <p:nvSpPr>
          <p:cNvPr id="13" name="Text 10"/>
          <p:cNvSpPr txBox="1"/>
          <p:nvPr/>
        </p:nvSpPr>
        <p:spPr>
          <a:xfrm>
            <a:off x="548640" y="1097280"/>
            <a:ext cx="8046720" cy="548640"/>
          </a:xfrm>
          <a:prstGeom prst="rect">
            <a:avLst/>
          </a:prstGeom>
          <a:noFill/>
          <a:ln/>
        </p:spPr>
        <p:txBody>
          <a:bodyPr wrap="square" lIns="0" tIns="0" rIns="0" bIns="0" rtlCol="0" anchor="ctr"/>
          <a:lstStyle/>
          <a:p>
            <a:pPr indent="0" marL="0">
              <a:buNone/>
            </a:pPr>
            <a:r>
              <a:rPr lang="en-US" sz="2800" b="1" spc="-100" kern="0" dirty="0">
                <a:solidFill>
                  <a:srgbClr val="FFFFFF"/>
                </a:solidFill>
                <a:latin typeface="Geist" pitchFamily="34" charset="0"/>
                <a:ea typeface="Geist" pitchFamily="34" charset="-122"/>
                <a:cs typeface="Geist" pitchFamily="34" charset="-120"/>
              </a:rPr>
              <a:t>Recap</a:t>
            </a:r>
            <a:endParaRPr lang="en-US" sz="2800" dirty="0"/>
          </a:p>
        </p:txBody>
      </p:sp>
      <p:sp>
        <p:nvSpPr>
          <p:cNvPr id="14" name="Text 11"/>
          <p:cNvSpPr txBox="1"/>
          <p:nvPr/>
        </p:nvSpPr>
        <p:spPr>
          <a:xfrm>
            <a:off x="548640" y="1783080"/>
            <a:ext cx="2011680" cy="457200"/>
          </a:xfrm>
          <a:prstGeom prst="rect">
            <a:avLst/>
          </a:prstGeom>
          <a:noFill/>
          <a:ln/>
        </p:spPr>
        <p:txBody>
          <a:bodyPr wrap="square" lIns="0" tIns="0" rIns="0" bIns="0" rtlCol="0" anchor="ctr"/>
          <a:lstStyle/>
          <a:p>
            <a:pPr indent="0" marL="0">
              <a:buNone/>
            </a:pPr>
            <a:r>
              <a:rPr lang="en-US" sz="1100" spc="200" kern="0" dirty="0">
                <a:solidFill>
                  <a:srgbClr val="FF7A33"/>
                </a:solidFill>
                <a:latin typeface="IBM Plex Mono" pitchFamily="34" charset="0"/>
                <a:ea typeface="IBM Plex Mono" pitchFamily="34" charset="-122"/>
                <a:cs typeface="IBM Plex Mono" pitchFamily="34" charset="-120"/>
              </a:rPr>
              <a:t>MCP =</a:t>
            </a:r>
            <a:endParaRPr lang="en-US" sz="1100" dirty="0"/>
          </a:p>
        </p:txBody>
      </p:sp>
      <p:sp>
        <p:nvSpPr>
          <p:cNvPr id="15" name="Text 12"/>
          <p:cNvSpPr txBox="1"/>
          <p:nvPr/>
        </p:nvSpPr>
        <p:spPr>
          <a:xfrm>
            <a:off x="2560320" y="1783080"/>
            <a:ext cx="6035040" cy="457200"/>
          </a:xfrm>
          <a:prstGeom prst="rect">
            <a:avLst/>
          </a:prstGeom>
          <a:noFill/>
          <a:ln/>
        </p:spPr>
        <p:txBody>
          <a:bodyPr wrap="square" lIns="0" tIns="0" rIns="0" bIns="0" rtlCol="0" anchor="ctr"/>
          <a:lstStyle/>
          <a:p>
            <a:pPr indent="0" marL="0">
              <a:buNone/>
            </a:pPr>
            <a:r>
              <a:rPr lang="en-US" sz="1400" dirty="0">
                <a:solidFill>
                  <a:srgbClr val="FFFFFF"/>
                </a:solidFill>
                <a:latin typeface="Geist" pitchFamily="34" charset="0"/>
                <a:ea typeface="Geist" pitchFamily="34" charset="-122"/>
                <a:cs typeface="Geist" pitchFamily="34" charset="-120"/>
              </a:rPr>
              <a:t>tools · resources · prompts over JSON-RPC. One server, any client.</a:t>
            </a:r>
            <a:endParaRPr lang="en-US" sz="1400" dirty="0"/>
          </a:p>
        </p:txBody>
      </p:sp>
      <p:sp>
        <p:nvSpPr>
          <p:cNvPr id="16" name="Text 13"/>
          <p:cNvSpPr txBox="1"/>
          <p:nvPr/>
        </p:nvSpPr>
        <p:spPr>
          <a:xfrm>
            <a:off x="548640" y="2331720"/>
            <a:ext cx="2011680" cy="457200"/>
          </a:xfrm>
          <a:prstGeom prst="rect">
            <a:avLst/>
          </a:prstGeom>
          <a:noFill/>
          <a:ln/>
        </p:spPr>
        <p:txBody>
          <a:bodyPr wrap="square" lIns="0" tIns="0" rIns="0" bIns="0" rtlCol="0" anchor="ctr"/>
          <a:lstStyle/>
          <a:p>
            <a:pPr indent="0" marL="0">
              <a:buNone/>
            </a:pPr>
            <a:r>
              <a:rPr lang="en-US" sz="1100" spc="200" kern="0" dirty="0">
                <a:solidFill>
                  <a:srgbClr val="FF7A33"/>
                </a:solidFill>
                <a:latin typeface="IBM Plex Mono" pitchFamily="34" charset="0"/>
                <a:ea typeface="IBM Plex Mono" pitchFamily="34" charset="-122"/>
                <a:cs typeface="IBM Plex Mono" pitchFamily="34" charset="-120"/>
              </a:rPr>
              <a:t>WE SHIPPED</a:t>
            </a:r>
            <a:endParaRPr lang="en-US" sz="1100" dirty="0"/>
          </a:p>
        </p:txBody>
      </p:sp>
      <p:sp>
        <p:nvSpPr>
          <p:cNvPr id="17" name="Text 14"/>
          <p:cNvSpPr txBox="1"/>
          <p:nvPr/>
        </p:nvSpPr>
        <p:spPr>
          <a:xfrm>
            <a:off x="2560320" y="2331720"/>
            <a:ext cx="6035040" cy="457200"/>
          </a:xfrm>
          <a:prstGeom prst="rect">
            <a:avLst/>
          </a:prstGeom>
          <a:noFill/>
          <a:ln/>
        </p:spPr>
        <p:txBody>
          <a:bodyPr wrap="square" lIns="0" tIns="0" rIns="0" bIns="0" rtlCol="0" anchor="ctr"/>
          <a:lstStyle/>
          <a:p>
            <a:pPr indent="0" marL="0">
              <a:buNone/>
            </a:pPr>
            <a:r>
              <a:rPr lang="en-US" sz="1400" dirty="0">
                <a:solidFill>
                  <a:srgbClr val="FFFFFF"/>
                </a:solidFill>
                <a:latin typeface="Geist" pitchFamily="34" charset="0"/>
                <a:ea typeface="Geist" pitchFamily="34" charset="-122"/>
                <a:cs typeface="Geist" pitchFamily="34" charset="-120"/>
              </a:rPr>
              <a:t>3 read-only tools over Inventory, Sales, Finance</a:t>
            </a:r>
            <a:endParaRPr lang="en-US" sz="1400" dirty="0"/>
          </a:p>
        </p:txBody>
      </p:sp>
      <p:sp>
        <p:nvSpPr>
          <p:cNvPr id="18" name="Text 15"/>
          <p:cNvSpPr txBox="1"/>
          <p:nvPr/>
        </p:nvSpPr>
        <p:spPr>
          <a:xfrm>
            <a:off x="548640" y="2880360"/>
            <a:ext cx="2011680" cy="457200"/>
          </a:xfrm>
          <a:prstGeom prst="rect">
            <a:avLst/>
          </a:prstGeom>
          <a:noFill/>
          <a:ln/>
        </p:spPr>
        <p:txBody>
          <a:bodyPr wrap="square" lIns="0" tIns="0" rIns="0" bIns="0" rtlCol="0" anchor="ctr"/>
          <a:lstStyle/>
          <a:p>
            <a:pPr indent="0" marL="0">
              <a:buNone/>
            </a:pPr>
            <a:r>
              <a:rPr lang="en-US" sz="1100" spc="200" kern="0" dirty="0">
                <a:solidFill>
                  <a:srgbClr val="FF7A33"/>
                </a:solidFill>
                <a:latin typeface="IBM Plex Mono" pitchFamily="34" charset="0"/>
                <a:ea typeface="IBM Plex Mono" pitchFamily="34" charset="-122"/>
                <a:cs typeface="IBM Plex Mono" pitchFamily="34" charset="-120"/>
              </a:rPr>
              <a:t>PLUGGED IN</a:t>
            </a:r>
            <a:endParaRPr lang="en-US" sz="1100" dirty="0"/>
          </a:p>
        </p:txBody>
      </p:sp>
      <p:sp>
        <p:nvSpPr>
          <p:cNvPr id="19" name="Text 16"/>
          <p:cNvSpPr txBox="1"/>
          <p:nvPr/>
        </p:nvSpPr>
        <p:spPr>
          <a:xfrm>
            <a:off x="2560320" y="2880360"/>
            <a:ext cx="6035040" cy="457200"/>
          </a:xfrm>
          <a:prstGeom prst="rect">
            <a:avLst/>
          </a:prstGeom>
          <a:noFill/>
          <a:ln/>
        </p:spPr>
        <p:txBody>
          <a:bodyPr wrap="square" lIns="0" tIns="0" rIns="0" bIns="0" rtlCol="0" anchor="ctr"/>
          <a:lstStyle/>
          <a:p>
            <a:pPr indent="0" marL="0">
              <a:buNone/>
            </a:pPr>
            <a:r>
              <a:rPr lang="en-US" sz="1400" dirty="0">
                <a:solidFill>
                  <a:srgbClr val="FFFFFF"/>
                </a:solidFill>
                <a:latin typeface="Geist" pitchFamily="34" charset="0"/>
                <a:ea typeface="Geist" pitchFamily="34" charset="-122"/>
                <a:cs typeface="Geist" pitchFamily="34" charset="-120"/>
              </a:rPr>
              <a:t>Claude Desktop with one config entry; our agent with two lines</a:t>
            </a:r>
            <a:endParaRPr lang="en-US" sz="1400" dirty="0"/>
          </a:p>
        </p:txBody>
      </p:sp>
      <p:sp>
        <p:nvSpPr>
          <p:cNvPr id="20" name="Text 17"/>
          <p:cNvSpPr txBox="1"/>
          <p:nvPr/>
        </p:nvSpPr>
        <p:spPr>
          <a:xfrm>
            <a:off x="548640" y="3429000"/>
            <a:ext cx="2011680" cy="457200"/>
          </a:xfrm>
          <a:prstGeom prst="rect">
            <a:avLst/>
          </a:prstGeom>
          <a:noFill/>
          <a:ln/>
        </p:spPr>
        <p:txBody>
          <a:bodyPr wrap="square" lIns="0" tIns="0" rIns="0" bIns="0" rtlCol="0" anchor="ctr"/>
          <a:lstStyle/>
          <a:p>
            <a:pPr indent="0" marL="0">
              <a:buNone/>
            </a:pPr>
            <a:r>
              <a:rPr lang="en-US" sz="1100" spc="200" kern="0" dirty="0">
                <a:solidFill>
                  <a:srgbClr val="FF7A33"/>
                </a:solidFill>
                <a:latin typeface="IBM Plex Mono" pitchFamily="34" charset="0"/>
                <a:ea typeface="IBM Plex Mono" pitchFamily="34" charset="-122"/>
                <a:cs typeface="IBM Plex Mono" pitchFamily="34" charset="-120"/>
              </a:rPr>
              <a:t>BEFORE PROD</a:t>
            </a:r>
            <a:endParaRPr lang="en-US" sz="1100" dirty="0"/>
          </a:p>
        </p:txBody>
      </p:sp>
      <p:sp>
        <p:nvSpPr>
          <p:cNvPr id="21" name="Text 18"/>
          <p:cNvSpPr txBox="1"/>
          <p:nvPr/>
        </p:nvSpPr>
        <p:spPr>
          <a:xfrm>
            <a:off x="2560320" y="3429000"/>
            <a:ext cx="6035040" cy="457200"/>
          </a:xfrm>
          <a:prstGeom prst="rect">
            <a:avLst/>
          </a:prstGeom>
          <a:noFill/>
          <a:ln/>
        </p:spPr>
        <p:txBody>
          <a:bodyPr wrap="square" lIns="0" tIns="0" rIns="0" bIns="0" rtlCol="0" anchor="ctr"/>
          <a:lstStyle/>
          <a:p>
            <a:pPr indent="0" marL="0">
              <a:buNone/>
            </a:pPr>
            <a:r>
              <a:rPr lang="en-US" sz="1400" dirty="0">
                <a:solidFill>
                  <a:srgbClr val="FFFFFF"/>
                </a:solidFill>
                <a:latin typeface="Geist" pitchFamily="34" charset="0"/>
                <a:ea typeface="Geist" pitchFamily="34" charset="-122"/>
                <a:cs typeface="Geist" pitchFamily="34" charset="-120"/>
              </a:rPr>
              <a:t>read-only · caps · tenant filter server-side · log every call</a:t>
            </a:r>
            <a:endParaRPr lang="en-US" sz="1400" dirty="0"/>
          </a:p>
        </p:txBody>
      </p:sp>
      <p:sp>
        <p:nvSpPr>
          <p:cNvPr id="22" name="Shape 19"/>
          <p:cNvSpPr/>
          <p:nvPr/>
        </p:nvSpPr>
        <p:spPr>
          <a:xfrm>
            <a:off x="548640" y="3931920"/>
            <a:ext cx="8046720" cy="0"/>
          </a:xfrm>
          <a:prstGeom prst="line">
            <a:avLst/>
          </a:prstGeom>
          <a:noFill/>
          <a:ln w="9525">
            <a:solidFill>
              <a:srgbClr val="2A2A2A"/>
            </a:solidFill>
            <a:prstDash val="solid"/>
          </a:ln>
        </p:spPr>
      </p:sp>
      <p:sp>
        <p:nvSpPr>
          <p:cNvPr id="23" name="Text 20"/>
          <p:cNvSpPr txBox="1"/>
          <p:nvPr/>
        </p:nvSpPr>
        <p:spPr>
          <a:xfrm>
            <a:off x="548640" y="4005072"/>
            <a:ext cx="8046720" cy="457200"/>
          </a:xfrm>
          <a:prstGeom prst="rect">
            <a:avLst/>
          </a:prstGeom>
          <a:noFill/>
          <a:ln/>
        </p:spPr>
        <p:txBody>
          <a:bodyPr wrap="square" lIns="0" tIns="0" rIns="0" bIns="0" rtlCol="0" anchor="ctr"/>
          <a:lstStyle/>
          <a:p>
            <a:pPr indent="0" marL="0">
              <a:buNone/>
            </a:pPr>
            <a:r>
              <a:rPr lang="en-US" sz="900" spc="300" kern="0" dirty="0">
                <a:solidFill>
                  <a:srgbClr val="FF7A33"/>
                </a:solidFill>
                <a:latin typeface="IBM Plex Mono" pitchFamily="34" charset="0"/>
                <a:ea typeface="IBM Plex Mono" pitchFamily="34" charset="-122"/>
                <a:cs typeface="IBM Plex Mono" pitchFamily="34" charset="-120"/>
              </a:rPr>
              <a:t>NEXT  </a:t>
            </a:r>
            <a:pPr indent="0" marL="0">
              <a:buNone/>
            </a:pPr>
            <a:r>
              <a:rPr lang="en-US" sz="1200" dirty="0">
                <a:solidFill>
                  <a:srgbClr val="FFFFFF"/>
                </a:solidFill>
                <a:latin typeface="Geist" pitchFamily="34" charset="0"/>
                <a:ea typeface="Geist" pitchFamily="34" charset="-122"/>
                <a:cs typeface="Geist" pitchFamily="34" charset="-120"/>
              </a:rPr>
              <a:t>Episode 4 — Where agents sit in a multi-tenant ERP.</a:t>
            </a:r>
            <a:endParaRPr lang="en-US" sz="900" dirty="0"/>
          </a:p>
        </p:txBody>
      </p:sp>
      <p:sp>
        <p:nvSpPr>
          <p:cNvPr id="24" name="Text 21"/>
          <p:cNvSpPr txBox="1"/>
          <p:nvPr/>
        </p:nvSpPr>
        <p:spPr>
          <a:xfrm>
            <a:off x="548640" y="4526280"/>
            <a:ext cx="8046720" cy="274320"/>
          </a:xfrm>
          <a:prstGeom prst="rect">
            <a:avLst/>
          </a:prstGeom>
          <a:noFill/>
          <a:ln/>
        </p:spPr>
        <p:txBody>
          <a:bodyPr wrap="square" lIns="0" tIns="0" rIns="0" bIns="0" rtlCol="0" anchor="ctr"/>
          <a:lstStyle/>
          <a:p>
            <a:pPr indent="0" marL="0">
              <a:buNone/>
            </a:pPr>
            <a:r>
              <a:rPr lang="en-US" sz="900" spc="100" kern="0" dirty="0">
                <a:solidFill>
                  <a:srgbClr val="8A8A8A"/>
                </a:solidFill>
                <a:latin typeface="IBM Plex Mono" pitchFamily="34" charset="0"/>
                <a:ea typeface="IBM Plex Mono" pitchFamily="34" charset="-122"/>
                <a:cs typeface="IBM Plex Mono" pitchFamily="34" charset="-120"/>
              </a:rPr>
              <a:t>github.com/harsha47ai/agentic-ai  ·  one episode a week</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 3 — Build your first MCP server for the ERP</dc:title>
  <dc:subject>PptxGenJS Presentation</dc:subject>
  <dc:creator>PptxGenJS</dc:creator>
  <cp:lastModifiedBy>PptxGenJS</cp:lastModifiedBy>
  <cp:revision>1</cp:revision>
  <dcterms:created xsi:type="dcterms:W3CDTF">2026-10-12T04:16:33Z</dcterms:created>
  <dcterms:modified xsi:type="dcterms:W3CDTF">2026-10-12T04:16:33Z</dcterms:modified>
</cp:coreProperties>
</file>