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Last time: what an agent is. Today: one Python file, one API key, a working agent inside a real ERP flow. We write the loop live, give it four ERP tools, and watch it take different paths on three cases.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outcomes, then straight to the use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use case. A return is a great first agent because it is boring and it crosses three modules. Say the three documents it must produce.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before the live code. Four steps; we type only step 3. Tools and master data are already in erp_tools.py and the database.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tools. Signature becomes the schema; the description is the ONLY thing the model reads to decide when to call it. Write it for the model: when, what format, what comes 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Live-code this. Three parts: the model call (plan), the stop check (done), the tool execution (act + observe). Then point at MAX_STEPS — the limit.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1. Narrate each tool call as it prints. Pause on step 2 — nobody told it to check policy; it chose to, because the description said 'call before any return'.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Runs 2 and 3 side by side. Same code, different paths. Run 3 stops and waits for you — type y on camera. This is human-in-the-loop in its simplest form.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Side by side with workflow.py. Same job. In the workflow every line was written by you; in the agent the model chose the sequence. Neither is better — but only one is an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we skipped, on purpose. Each is a later episode. Say the tenant one clearly: COMPANY came from an environment variable, not from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Recap, then the hook for Episode 3: the tools go behind an MCP server, and the loop doesn't change by a single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6903720" y="457200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4" name="Shape 1"/>
          <p:cNvSpPr/>
          <p:nvPr/>
        </p:nvSpPr>
        <p:spPr>
          <a:xfrm>
            <a:off x="7242048" y="457200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5" name="Shape 2"/>
          <p:cNvSpPr/>
          <p:nvPr/>
        </p:nvSpPr>
        <p:spPr>
          <a:xfrm>
            <a:off x="7580376" y="457200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6" name="Shape 3"/>
          <p:cNvSpPr/>
          <p:nvPr/>
        </p:nvSpPr>
        <p:spPr>
          <a:xfrm>
            <a:off x="6903720" y="795528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7" name="Shape 4"/>
          <p:cNvSpPr/>
          <p:nvPr/>
        </p:nvSpPr>
        <p:spPr>
          <a:xfrm>
            <a:off x="7242048" y="795528"/>
            <a:ext cx="274320" cy="274320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8" name="Shape 5"/>
          <p:cNvSpPr/>
          <p:nvPr/>
        </p:nvSpPr>
        <p:spPr>
          <a:xfrm>
            <a:off x="7580376" y="795528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9" name="Shape 6"/>
          <p:cNvSpPr/>
          <p:nvPr/>
        </p:nvSpPr>
        <p:spPr>
          <a:xfrm>
            <a:off x="6903720" y="1133856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10" name="Shape 7"/>
          <p:cNvSpPr/>
          <p:nvPr/>
        </p:nvSpPr>
        <p:spPr>
          <a:xfrm>
            <a:off x="7242048" y="1133856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11" name="Shape 8"/>
          <p:cNvSpPr/>
          <p:nvPr/>
        </p:nvSpPr>
        <p:spPr>
          <a:xfrm>
            <a:off x="7580376" y="1133856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12" name="Shape 9"/>
          <p:cNvSpPr/>
          <p:nvPr/>
        </p:nvSpPr>
        <p:spPr>
          <a:xfrm>
            <a:off x="548640" y="649224"/>
            <a:ext cx="91440" cy="91440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3232" y="54864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FF7A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EPISODE 02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1143000"/>
            <a:ext cx="822960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spc="-200" kern="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learn with </a:t>
            </a:r>
            <a:pPr indent="0" marL="0">
              <a:buNone/>
            </a:pPr>
            <a:r>
              <a:rPr lang="en-US" sz="44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harsha</a:t>
            </a:r>
            <a:pPr indent="0" marL="0">
              <a:buNone/>
            </a:pPr>
            <a:r>
              <a:rPr lang="en-US" sz="18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■</a:t>
            </a:r>
            <a:endParaRPr lang="en-US" sz="44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2057400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spc="-100" kern="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Build your first AI agent:</a:t>
            </a:r>
            <a:endParaRPr lang="en-US" sz="3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000" b="1" spc="-100" kern="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 sales-returns agent for the ERP</a:t>
            </a:r>
            <a:endParaRPr lang="en-US" sz="3000" dirty="0"/>
          </a:p>
        </p:txBody>
      </p:sp>
      <p:sp>
        <p:nvSpPr>
          <p:cNvPr id="16" name="Shape 13"/>
          <p:cNvSpPr/>
          <p:nvPr/>
        </p:nvSpPr>
        <p:spPr>
          <a:xfrm>
            <a:off x="548640" y="3931920"/>
            <a:ext cx="8046720" cy="0"/>
          </a:xfrm>
          <a:prstGeom prst="line">
            <a:avLst/>
          </a:prstGeom>
          <a:noFill/>
          <a:ln w="9525">
            <a:solidFill>
              <a:srgbClr val="2A2A2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48640" y="4069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Harsha Pasumarthi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43434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3A3A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Founder &amp; CEO, Arthashastra Intelligence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6766560" y="4343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8A8A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arthashastra.ai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292608"/>
            <a:ext cx="82296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2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learn with </a:t>
            </a:r>
            <a:pPr indent="0" marL="0">
              <a:buNone/>
            </a:pPr>
            <a:r>
              <a:rPr lang="en-US" sz="14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harsha</a:t>
            </a:r>
            <a:pPr indent="0" marL="0">
              <a:buNone/>
            </a:pPr>
            <a:r>
              <a:rPr lang="en-US" sz="6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■</a:t>
            </a:r>
            <a:endParaRPr lang="en-US" sz="1400" dirty="0"/>
          </a:p>
        </p:txBody>
      </p:sp>
      <p:sp>
        <p:nvSpPr>
          <p:cNvPr id="4" name="Shape 1"/>
          <p:cNvSpPr/>
          <p:nvPr/>
        </p:nvSpPr>
        <p:spPr>
          <a:xfrm>
            <a:off x="457200" y="813816"/>
            <a:ext cx="91440" cy="91440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21792" y="71323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EPISODE 2 · WHAT YOU'LL GET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spc="-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One Python file. One API key. A working agent.</a:t>
            </a:r>
            <a:endParaRPr lang="en-US" sz="23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 Learning · The Agentic Enterprise · Ep 2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arthashastra.ai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457200" y="1828800"/>
            <a:ext cx="260604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85800" y="2057400"/>
            <a:ext cx="329184" cy="329184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85800" y="20574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25146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Write the loop from scratch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30175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~15 lines: plan, done?, act + observe, limit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246120" y="1828800"/>
            <a:ext cx="260604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474720" y="2057400"/>
            <a:ext cx="329184" cy="329184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3474720" y="20574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3474720" y="25146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Give it 4 ERP tools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3474720" y="30175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Sales, Approval, Inventory + Finance + CRM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035040" y="1828800"/>
            <a:ext cx="260604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263640" y="2057400"/>
            <a:ext cx="329184" cy="329184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263640" y="20574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6263640" y="25146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Watch it choose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6263640" y="30175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three cases, three different paths — one of them stops for you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794760"/>
            <a:ext cx="8229600" cy="685800"/>
          </a:xfrm>
          <a:prstGeom prst="rect">
            <a:avLst/>
          </a:prstGeom>
          <a:solidFill>
            <a:srgbClr val="F7F7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85800" y="3794760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SETUP  </a:t>
            </a:r>
            <a:pPr indent="0" marL="0">
              <a:buNone/>
            </a:pPr>
            <a:r>
              <a:rPr lang="en-US" sz="115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docker compose up -d · python -m erp.seed · export ANTHROPIC_API_KEY — details in INSTRUCTIONS.md in the repo.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292608"/>
            <a:ext cx="82296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2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learn with </a:t>
            </a:r>
            <a:pPr indent="0" marL="0">
              <a:buNone/>
            </a:pPr>
            <a:r>
              <a:rPr lang="en-US" sz="14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harsha</a:t>
            </a:r>
            <a:pPr indent="0" marL="0">
              <a:buNone/>
            </a:pPr>
            <a:r>
              <a:rPr lang="en-US" sz="6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■</a:t>
            </a:r>
            <a:endParaRPr lang="en-US" sz="1400" dirty="0"/>
          </a:p>
        </p:txBody>
      </p:sp>
      <p:sp>
        <p:nvSpPr>
          <p:cNvPr id="4" name="Shape 1"/>
          <p:cNvSpPr/>
          <p:nvPr/>
        </p:nvSpPr>
        <p:spPr>
          <a:xfrm>
            <a:off x="457200" y="813816"/>
            <a:ext cx="91440" cy="91440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21792" y="71323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USE CASE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spc="-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 customer return touches three modules</a:t>
            </a:r>
            <a:endParaRPr lang="en-US" sz="23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 Learning · The Agentic Enterprise · Ep 2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arthashastra.ai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“Customer C-1042 wants to return 2 units of WH-204 from sales order SO-7781 — arrived damaged.”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7200" y="2331720"/>
            <a:ext cx="2606040" cy="1508760"/>
          </a:xfrm>
          <a:prstGeom prst="rect">
            <a:avLst/>
          </a:prstGeom>
          <a:solidFill>
            <a:srgbClr val="F7F7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24688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Sales / CRM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28346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order, the return policy, a case note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33832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get_sales_order · check_return_policy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246120" y="2331720"/>
            <a:ext cx="260604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474720" y="24688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Inventory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3474720" y="28346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 restock-pending stock move to RETURNS-QC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3474720" y="33832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create_return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6035040" y="2331720"/>
            <a:ext cx="260604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263640" y="24688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Finance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6263640" y="28346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 credit note against the invoice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6263640" y="33832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create_return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457200" y="3977640"/>
            <a:ext cx="8229600" cy="548640"/>
          </a:xfrm>
          <a:prstGeom prst="rect">
            <a:avLst/>
          </a:prstGeom>
          <a:solidFill>
            <a:srgbClr val="F7F7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85800" y="397764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RULE  </a:t>
            </a:r>
            <a:pPr indent="0" marL="0">
              <a:buNone/>
            </a:pPr>
            <a:r>
              <a:rPr lang="en-US" sz="115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returns over the threshold or outside the window never book themselves — the agent asks a human, by design.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292608"/>
            <a:ext cx="82296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2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learn with </a:t>
            </a:r>
            <a:pPr indent="0" marL="0">
              <a:buNone/>
            </a:pPr>
            <a:r>
              <a:rPr lang="en-US" sz="14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harsha</a:t>
            </a:r>
            <a:pPr indent="0" marL="0">
              <a:buNone/>
            </a:pPr>
            <a:r>
              <a:rPr lang="en-US" sz="6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■</a:t>
            </a:r>
            <a:endParaRPr lang="en-US" sz="1400" dirty="0"/>
          </a:p>
        </p:txBody>
      </p:sp>
      <p:sp>
        <p:nvSpPr>
          <p:cNvPr id="4" name="Shape 1"/>
          <p:cNvSpPr/>
          <p:nvPr/>
        </p:nvSpPr>
        <p:spPr>
          <a:xfrm>
            <a:off x="457200" y="813816"/>
            <a:ext cx="91440" cy="91440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21792" y="71323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BUILDING YOUR FIRST AGENT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Four steps — we type one of them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 Learning · The Agentic Enterprise · Ep 2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arthashastra.ai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457200" y="1874520"/>
            <a:ext cx="329184" cy="329184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57200" y="1874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960120" y="18288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Set up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3017520" y="185623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pip install anthropic · docker compose up · python -m erp.seed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7498080" y="1920240"/>
            <a:ext cx="1188720" cy="274320"/>
          </a:xfrm>
          <a:prstGeom prst="rect">
            <a:avLst/>
          </a:prstGeom>
          <a:solidFill>
            <a:srgbClr val="F7F7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498080" y="19202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7C7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 min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457200" y="2514600"/>
            <a:ext cx="329184" cy="329184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57200" y="2514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960120" y="2468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Define the tools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017520" y="249631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4 functions + JSON schemas in erp_tools.py — the model reads the descriptions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7498080" y="2560320"/>
            <a:ext cx="1188720" cy="274320"/>
          </a:xfrm>
          <a:prstGeom prst="rect">
            <a:avLst/>
          </a:prstGeom>
          <a:solidFill>
            <a:srgbClr val="F7F7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498080" y="25603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7C7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pre-written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457200" y="3154680"/>
            <a:ext cx="329184" cy="329184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457200" y="31546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960120" y="31089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Write the loop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3017520" y="313639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plan → done? → act + observe → repeat, capped by MAX_STEPS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7498080" y="3200400"/>
            <a:ext cx="1188720" cy="274320"/>
          </a:xfrm>
          <a:prstGeom prst="rect">
            <a:avLst/>
          </a:prstGeom>
          <a:solidFill>
            <a:srgbClr val="FF5700"/>
          </a:solidFill>
          <a:ln w="9525">
            <a:solidFill>
              <a:srgbClr val="FF570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498080" y="32004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we type this</a:t>
            </a:r>
            <a:endParaRPr lang="en-US" sz="800" dirty="0"/>
          </a:p>
        </p:txBody>
      </p:sp>
      <p:sp>
        <p:nvSpPr>
          <p:cNvPr id="27" name="Shape 24"/>
          <p:cNvSpPr/>
          <p:nvPr/>
        </p:nvSpPr>
        <p:spPr>
          <a:xfrm>
            <a:off x="457200" y="3794760"/>
            <a:ext cx="329184" cy="329184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457200" y="37947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960120" y="37490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Run it three times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3017520" y="377647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SO-7781 books · SO-7790 refused · SO-7795 waits for a human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7498080" y="3840480"/>
            <a:ext cx="1188720" cy="274320"/>
          </a:xfrm>
          <a:prstGeom prst="rect">
            <a:avLst/>
          </a:prstGeom>
          <a:solidFill>
            <a:srgbClr val="F7F7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498080" y="38404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7C7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 min</a:t>
            </a:r>
            <a:endParaRPr lang="en-US" sz="800" dirty="0"/>
          </a:p>
        </p:txBody>
      </p:sp>
      <p:sp>
        <p:nvSpPr>
          <p:cNvPr id="33" name="Text 30"/>
          <p:cNvSpPr txBox="1"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19191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agent_starter.py — tools pre-written, three TODOs where the loop goes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292608"/>
            <a:ext cx="82296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2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learn with </a:t>
            </a:r>
            <a:pPr indent="0" marL="0">
              <a:buNone/>
            </a:pPr>
            <a:r>
              <a:rPr lang="en-US" sz="14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harsha</a:t>
            </a:r>
            <a:pPr indent="0" marL="0">
              <a:buNone/>
            </a:pPr>
            <a:r>
              <a:rPr lang="en-US" sz="6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■</a:t>
            </a:r>
            <a:endParaRPr lang="en-US" sz="1400" dirty="0"/>
          </a:p>
        </p:txBody>
      </p:sp>
      <p:sp>
        <p:nvSpPr>
          <p:cNvPr id="4" name="Shape 1"/>
          <p:cNvSpPr/>
          <p:nvPr/>
        </p:nvSpPr>
        <p:spPr>
          <a:xfrm>
            <a:off x="457200" y="813816"/>
            <a:ext cx="91440" cy="91440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21792" y="71323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TOOLS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Four tools the model can call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 Learning · The Agentic Enterprise · Ep 2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arthashastra.ai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457200" y="1783080"/>
            <a:ext cx="40233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5800" y="19202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C1C1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get_sales_order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2834640" y="19202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Sales</a:t>
            </a:r>
            <a:endParaRPr lang="en-US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224028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order, lines, customer, delivery date, invoice. Always first.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663440" y="1783080"/>
            <a:ext cx="40233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892040" y="19202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C1C1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check_return_policy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040880" y="19202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Sales</a:t>
            </a:r>
            <a:endParaRPr lang="en-US" sz="800" dirty="0"/>
          </a:p>
        </p:txBody>
      </p:sp>
      <p:sp>
        <p:nvSpPr>
          <p:cNvPr id="16" name="Text 13"/>
          <p:cNvSpPr txBox="1"/>
          <p:nvPr/>
        </p:nvSpPr>
        <p:spPr>
          <a:xfrm>
            <a:off x="4892040" y="224028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window, accepted reason, quantity sold — and whether a human must approve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57200" y="2971800"/>
            <a:ext cx="4023360" cy="1051560"/>
          </a:xfrm>
          <a:prstGeom prst="rect">
            <a:avLst/>
          </a:prstGeom>
          <a:solidFill>
            <a:srgbClr val="F7F7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1089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C1C1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request_approval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2834640" y="31089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Approval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34290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pauses for a person. Only when policy says so. Stop if declined.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4663440" y="2971800"/>
            <a:ext cx="40233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892040" y="31089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C1C1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create_return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7040880" y="31089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Inventory · Finance · CRM</a:t>
            </a:r>
            <a:endParaRPr lang="en-US" sz="800" dirty="0"/>
          </a:p>
        </p:txBody>
      </p:sp>
      <p:sp>
        <p:nvSpPr>
          <p:cNvPr id="24" name="Text 21"/>
          <p:cNvSpPr txBox="1"/>
          <p:nvPr/>
        </p:nvSpPr>
        <p:spPr>
          <a:xfrm>
            <a:off x="4892040" y="34290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credit note + stock move + case, in one transaction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457200" y="4206240"/>
            <a:ext cx="8229600" cy="411480"/>
          </a:xfrm>
          <a:prstGeom prst="rect">
            <a:avLst/>
          </a:prstGeom>
          <a:solidFill>
            <a:srgbClr val="F7F7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85800" y="420624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DESCRIPTION = CONTRACT  </a:t>
            </a:r>
            <a:pPr indent="0" marL="0">
              <a:buNone/>
            </a:pPr>
            <a:r>
              <a:rPr lang="en-US" sz="115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model never sees your code, only the description. Vague description, wrong tool.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292608"/>
            <a:ext cx="82296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2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learn with </a:t>
            </a:r>
            <a:pPr indent="0" marL="0">
              <a:buNone/>
            </a:pPr>
            <a:r>
              <a:rPr lang="en-US" sz="14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harsha</a:t>
            </a:r>
            <a:pPr indent="0" marL="0">
              <a:buNone/>
            </a:pPr>
            <a:r>
              <a:rPr lang="en-US" sz="6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■</a:t>
            </a:r>
            <a:endParaRPr lang="en-US" sz="1400" dirty="0"/>
          </a:p>
        </p:txBody>
      </p:sp>
      <p:sp>
        <p:nvSpPr>
          <p:cNvPr id="4" name="Shape 1"/>
          <p:cNvSpPr/>
          <p:nvPr/>
        </p:nvSpPr>
        <p:spPr>
          <a:xfrm>
            <a:off x="457200" y="813816"/>
            <a:ext cx="91440" cy="91440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21792" y="71323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LIVE CODE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whole agent is one loop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 Learning · The Agentic Enterprise · Ep 2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arthashastra.ai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457200" y="1783080"/>
            <a:ext cx="5394960" cy="269748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0080" y="1920240"/>
            <a:ext cx="50292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for step in range(1, MAX_STEPS + 1):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7A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resp = client.messages.create(model=MODEL, system=SYSTEM,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7A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    tools=TOOLS, messages=messages)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messages.append({"role": "assistant", "content": resp.content})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FB3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if resp.stop_reason != "tool_use":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FB3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    return text_of(resp)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results = []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for block in resp.content: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    if block.type == "tool_use":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7A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        out = HANDLERS[block.name](**block.input)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        results.append(tool_result(block.id, out))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messages.append({"role": "user", "content": results})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8A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return "Stopped: step limit reached."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6080760" y="1783080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PLAN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080760" y="2020824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model sees goal, tools and every result so far — and picks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6080760" y="2459736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E7C7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DONE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6080760" y="269748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no tool requested → the model thinks the goal is met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6080760" y="3136392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ACT + OBSERVE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6080760" y="3374136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run what it asked, feed the result back, go around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6080760" y="3813048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1434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LIMIT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080760" y="4050792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MAX_STEPS = 8. Cap cost and time too in production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292608"/>
            <a:ext cx="82296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2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learn with </a:t>
            </a:r>
            <a:pPr indent="0" marL="0">
              <a:buNone/>
            </a:pPr>
            <a:r>
              <a:rPr lang="en-US" sz="14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harsha</a:t>
            </a:r>
            <a:pPr indent="0" marL="0">
              <a:buNone/>
            </a:pPr>
            <a:r>
              <a:rPr lang="en-US" sz="6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■</a:t>
            </a:r>
            <a:endParaRPr lang="en-US" sz="1400" dirty="0"/>
          </a:p>
        </p:txBody>
      </p:sp>
      <p:sp>
        <p:nvSpPr>
          <p:cNvPr id="4" name="Shape 1"/>
          <p:cNvSpPr/>
          <p:nvPr/>
        </p:nvSpPr>
        <p:spPr>
          <a:xfrm>
            <a:off x="457200" y="813816"/>
            <a:ext cx="91440" cy="91440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21792" y="71323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RUN 1 · SO-7781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spc="-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4 days old, INR 6,400 — booked automatically</a:t>
            </a:r>
            <a:endParaRPr lang="en-US" sz="23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 Learning · The Agentic Enterprise · Ep 2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arthashastra.ai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457200" y="1783080"/>
            <a:ext cx="8229600" cy="237744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0080" y="1920240"/>
            <a:ext cx="7863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 python returns_agent.py "Customer C-1042 wants to return 2 units of WH-204 from SO-7781, arrived damaged"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[step 1] tool=get_sales_order      input={"order_id": "SO-7781"}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7A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[step 2] tool=check_return_policy  input={"order_id": "SO-7781", "sku": "WH-204", "qty": 2, "reason": "damaged"}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[step 3] tool=create_return        input={...}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[FINANCE]   credit note CN-40001  6,400 against INV-30117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[INVENTORY] stock move  SM-70001  2 x WH-204 -&gt; RETURNS-QC (restock_pending)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[CRM]       case        CASE-9001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FINAL: Return booked for C-1042: 2 x WH-204 from SO-7781 (damaged). Credit note CN-40001 issued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   against INV-30117; stock move SM-70001 created for QC.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457200" y="4251960"/>
            <a:ext cx="8229600" cy="411480"/>
          </a:xfrm>
          <a:prstGeom prst="rect">
            <a:avLst/>
          </a:prstGeom>
          <a:solidFill>
            <a:srgbClr val="F7F7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425196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WATCH STEP 2  </a:t>
            </a:r>
            <a:pPr indent="0" marL="0">
              <a:buNone/>
            </a:pPr>
            <a:r>
              <a:rPr lang="en-US" sz="115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nobody told it to check policy. The description did. That is the model choosing.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292608"/>
            <a:ext cx="82296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2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learn with </a:t>
            </a:r>
            <a:pPr indent="0" marL="0">
              <a:buNone/>
            </a:pPr>
            <a:r>
              <a:rPr lang="en-US" sz="14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harsha</a:t>
            </a:r>
            <a:pPr indent="0" marL="0">
              <a:buNone/>
            </a:pPr>
            <a:r>
              <a:rPr lang="en-US" sz="6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■</a:t>
            </a:r>
            <a:endParaRPr lang="en-US" sz="1400" dirty="0"/>
          </a:p>
        </p:txBody>
      </p:sp>
      <p:sp>
        <p:nvSpPr>
          <p:cNvPr id="4" name="Shape 1"/>
          <p:cNvSpPr/>
          <p:nvPr/>
        </p:nvSpPr>
        <p:spPr>
          <a:xfrm>
            <a:off x="457200" y="813816"/>
            <a:ext cx="91440" cy="91440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21792" y="71323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RUNS 2 AND 3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Same loop, different paths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 Learning · The Agentic Enterprise · Ep 2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arthashastra.ai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7830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1434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SO-7790 · 41 DAYS OLD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57200" y="2103120"/>
            <a:ext cx="4023360" cy="201168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40080" y="224028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[step 1] tool=get_sales_order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[step 2] tool=check_return_policy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8A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     -&gt; eligible: false, days: 41, window: 30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FINAL: This return falls outside the 30-day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window (delivered 41 days ago). Nothing has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been booked; please escalate to the sales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manager if an exception is wanted.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4663440" y="17830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SO-7795 · INR 73,500 · OVER THRESHOLD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4663440" y="2103120"/>
            <a:ext cx="4023360" cy="201168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46320" y="224028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[step 1] tool=get_sales_order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[step 2] tool=check_return_policy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7A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     -&gt; eligible: true, needs_human_approval: true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7A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[step 3] tool=request_approval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[APPROVAL NEEDED] SO-7795: 3 x MN-27Q, INR 73,500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Approve this return? (y/n): _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[step 4] tool=create_return   (only after y)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4251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No code changed between the three runs. The policy result changed what the model decided to do next.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292608"/>
            <a:ext cx="82296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2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learn with </a:t>
            </a:r>
            <a:pPr indent="0" marL="0">
              <a:buNone/>
            </a:pPr>
            <a:r>
              <a:rPr lang="en-US" sz="14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harsha</a:t>
            </a:r>
            <a:pPr indent="0" marL="0">
              <a:buNone/>
            </a:pPr>
            <a:r>
              <a:rPr lang="en-US" sz="6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■</a:t>
            </a:r>
            <a:endParaRPr lang="en-US" sz="1400" dirty="0"/>
          </a:p>
        </p:txBody>
      </p:sp>
      <p:sp>
        <p:nvSpPr>
          <p:cNvPr id="4" name="Shape 1"/>
          <p:cNvSpPr/>
          <p:nvPr/>
        </p:nvSpPr>
        <p:spPr>
          <a:xfrm>
            <a:off x="457200" y="813816"/>
            <a:ext cx="91440" cy="91440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21792" y="71323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WORKFLOW VS AGENT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Same job. Who decided the flow?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 Learning · The Agentic Enterprise · Ep 2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arthashastra.ai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7830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E7C7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WORKFLOW.PY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57200" y="2103120"/>
            <a:ext cx="4023360" cy="201168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40080" y="224028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reason = classify_reason(text)      # LLM step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order  = get_sales_order(so)         # fixed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policy = check_return_policy(...)    # fixed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if not policy['eligible']: return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if policy['needs_human_approval']: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request_approval(...)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create_return(...)                   # fixed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Every line written by the developer.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4663440" y="17830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RETURNS_AGENT.PY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4663440" y="2103120"/>
            <a:ext cx="4023360" cy="201168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46320" y="224028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for step in range(MAX_STEPS):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resp = model(goal, tools, history)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if done: return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run what it asked; append results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model chose each tool, each time.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457200" y="4251960"/>
            <a:ext cx="8229600" cy="411480"/>
          </a:xfrm>
          <a:prstGeom prst="rect">
            <a:avLst/>
          </a:prstGeom>
          <a:solidFill>
            <a:srgbClr val="F7F7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425196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PICK THE WORKFLOW  </a:t>
            </a:r>
            <a:pPr indent="0" marL="0">
              <a:buNone/>
            </a:pPr>
            <a:r>
              <a:rPr lang="en-US" sz="115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when the steps are known and fixed. Pick the agent when the next step depends on what the last one returned.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292608"/>
            <a:ext cx="82296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2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learn with </a:t>
            </a:r>
            <a:pPr indent="0" marL="0">
              <a:buNone/>
            </a:pPr>
            <a:r>
              <a:rPr lang="en-US" sz="14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harsha</a:t>
            </a:r>
            <a:pPr indent="0" marL="0">
              <a:buNone/>
            </a:pPr>
            <a:r>
              <a:rPr lang="en-US" sz="6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■</a:t>
            </a:r>
            <a:endParaRPr lang="en-US" sz="1400" dirty="0"/>
          </a:p>
        </p:txBody>
      </p:sp>
      <p:sp>
        <p:nvSpPr>
          <p:cNvPr id="4" name="Shape 1"/>
          <p:cNvSpPr/>
          <p:nvPr/>
        </p:nvSpPr>
        <p:spPr>
          <a:xfrm>
            <a:off x="457200" y="813816"/>
            <a:ext cx="91440" cy="91440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21792" y="71323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WHAT WE SKIPPED (ON PURPOSE)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spc="-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This agent is not production-ready — yet</a:t>
            </a:r>
            <a:endParaRPr lang="en-US" sz="23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 Learning · The Agentic Enterprise · Ep 2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arthashastra.ai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457200" y="1783080"/>
            <a:ext cx="40233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5800" y="1920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Real data over MCP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474720" y="19385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Ep 3</a:t>
            </a:r>
            <a:endParaRPr lang="en-US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224028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tools are Python functions in-process. Next episode they move behind an MCP server.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663440" y="1783080"/>
            <a:ext cx="40233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892040" y="1920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Identity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680960" y="19385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Ep 15</a:t>
            </a:r>
            <a:endParaRPr lang="en-US" sz="800" dirty="0"/>
          </a:p>
        </p:txBody>
      </p:sp>
      <p:sp>
        <p:nvSpPr>
          <p:cNvPr id="16" name="Text 13"/>
          <p:cNvSpPr txBox="1"/>
          <p:nvPr/>
        </p:nvSpPr>
        <p:spPr>
          <a:xfrm>
            <a:off x="4892040" y="224028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agent used the app's DB credentials. It needs its own, scoped per task.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57200" y="2971800"/>
            <a:ext cx="40233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1089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Tracing and evals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3474720" y="312724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Ep 9–10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34290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we read print statements. Production needs traces and a scored test set.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4663440" y="2971800"/>
            <a:ext cx="40233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892040" y="31089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Guardrails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680960" y="312724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Ep 25</a:t>
            </a:r>
            <a:endParaRPr lang="en-US" sz="800" dirty="0"/>
          </a:p>
        </p:txBody>
      </p:sp>
      <p:sp>
        <p:nvSpPr>
          <p:cNvPr id="24" name="Text 21"/>
          <p:cNvSpPr txBox="1"/>
          <p:nvPr/>
        </p:nvSpPr>
        <p:spPr>
          <a:xfrm>
            <a:off x="4892040" y="34290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nothing checks the model's inputs and outputs. Yet.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457200" y="4206240"/>
            <a:ext cx="8229600" cy="411480"/>
          </a:xfrm>
          <a:prstGeom prst="rect">
            <a:avLst/>
          </a:prstGeom>
          <a:solidFill>
            <a:srgbClr val="F7F7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85800" y="420624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ONE THING WE DID RIGHT  </a:t>
            </a:r>
            <a:pPr indent="0" marL="0">
              <a:buNone/>
            </a:pPr>
            <a:r>
              <a:rPr lang="en-US" sz="115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tenant (ERP_COMPANY) is set by the deployment and injected into every query. The model never picks it.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11480"/>
            <a:ext cx="82296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-200" kern="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learn with </a:t>
            </a:r>
            <a:pPr indent="0" marL="0">
              <a:buNone/>
            </a:pPr>
            <a:r>
              <a:rPr lang="en-US" sz="18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harsha</a:t>
            </a:r>
            <a:pPr indent="0" marL="0">
              <a:buNone/>
            </a:pPr>
            <a:r>
              <a:rPr lang="en-US" sz="8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■</a:t>
            </a:r>
            <a:endParaRPr lang="en-US" sz="1800" dirty="0"/>
          </a:p>
        </p:txBody>
      </p:sp>
      <p:sp>
        <p:nvSpPr>
          <p:cNvPr id="4" name="Shape 1"/>
          <p:cNvSpPr/>
          <p:nvPr/>
        </p:nvSpPr>
        <p:spPr>
          <a:xfrm>
            <a:off x="6903720" y="457200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5" name="Shape 2"/>
          <p:cNvSpPr/>
          <p:nvPr/>
        </p:nvSpPr>
        <p:spPr>
          <a:xfrm>
            <a:off x="7242048" y="457200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6" name="Shape 3"/>
          <p:cNvSpPr/>
          <p:nvPr/>
        </p:nvSpPr>
        <p:spPr>
          <a:xfrm>
            <a:off x="7580376" y="457200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7" name="Shape 4"/>
          <p:cNvSpPr/>
          <p:nvPr/>
        </p:nvSpPr>
        <p:spPr>
          <a:xfrm>
            <a:off x="6903720" y="795528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8" name="Shape 5"/>
          <p:cNvSpPr/>
          <p:nvPr/>
        </p:nvSpPr>
        <p:spPr>
          <a:xfrm>
            <a:off x="7242048" y="795528"/>
            <a:ext cx="274320" cy="274320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9" name="Shape 6"/>
          <p:cNvSpPr/>
          <p:nvPr/>
        </p:nvSpPr>
        <p:spPr>
          <a:xfrm>
            <a:off x="7580376" y="795528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10" name="Shape 7"/>
          <p:cNvSpPr/>
          <p:nvPr/>
        </p:nvSpPr>
        <p:spPr>
          <a:xfrm>
            <a:off x="6903720" y="1133856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11" name="Shape 8"/>
          <p:cNvSpPr/>
          <p:nvPr/>
        </p:nvSpPr>
        <p:spPr>
          <a:xfrm>
            <a:off x="7242048" y="1133856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12" name="Shape 9"/>
          <p:cNvSpPr/>
          <p:nvPr/>
        </p:nvSpPr>
        <p:spPr>
          <a:xfrm>
            <a:off x="7580376" y="1133856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Recap</a:t>
            </a:r>
            <a:endParaRPr lang="en-US" sz="28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17830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F7A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AGENT =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2560320" y="178308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 loop over tools with a limit — ~15 lines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2331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F7A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TOOLS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560320" y="233172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description is the contract; the model reads nothing else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28803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F7A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 RUNS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2560320" y="288036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booked · refused · waited for a human — same code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48640" y="3931920"/>
            <a:ext cx="8046720" cy="0"/>
          </a:xfrm>
          <a:prstGeom prst="line">
            <a:avLst/>
          </a:prstGeom>
          <a:noFill/>
          <a:ln w="9525">
            <a:solidFill>
              <a:srgbClr val="2A2A2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48640" y="400507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FF7A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NEXT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Episode 3 — Build your first MCP server for the ERP: Inventory, Sales and Finance tools any agent can use.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A8A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github.com/harsha47ai/agentic-ai  ·  one episode a week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Ep 2 — Build your first AI agent: a sales-returns agent for the ERP</dc:title>
  <dc:subject>PptxGenJS Presentation</dc:subject>
  <dc:creator>PptxGenJS</dc:creator>
  <cp:lastModifiedBy>PptxGenJS</cp:lastModifiedBy>
  <cp:revision>1</cp:revision>
  <dcterms:created xsi:type="dcterms:W3CDTF">2026-10-12T04:17:02Z</dcterms:created>
  <dcterms:modified xsi:type="dcterms:W3CDTF">2026-10-12T04:17:02Z</dcterms:modified>
</cp:coreProperties>
</file>