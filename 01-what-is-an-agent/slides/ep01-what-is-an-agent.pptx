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Hook them in 20 seconds. Say the title, then: 'Every vendor now sells agents. Most of them are a chatbot with a new logo. In 12 minutes you'll know the difference — and the three things that break the moment you put one inside enterprise software.'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the contract with the viewer. Three outcomes, nothing more. Then: 'Let's start with the only definition you need.'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sentence slowly, twice. Then point at the three words: decides, loop, tools. 'Remove any one and you have something useful — but it is not an agent.'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people screenshot. Walk left to right. The question that places any system on this line: who decides the control flow? Left: the developer wrote it. Right: the model chooses at runtime. Further right = more autonomy = more governance you owe.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Draw this live on the whiteboard if you can. Goal in, the model plans, acts by calling a tool, observes the result, and goes back to planning. It stops when it decides the goal is met — or when YOU stop it with a limit on steps, cost or time. The limit is the part demos leave 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Parts 1 to 3 get you a demo. Parts 4 and 5 get you something that survives production. Every architecture review you run on an 'agent' should ask for all five.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fair here: these are often the RIGHT answer. Cheaper, more predictable, easier to test. The point is naming. Don't let 'agent' into the architecture review when the model never chooses anything.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Switch to screen share. Run workflow.py first — fixed steps, predictable. Then run basic_agent.py on the same ticket and narrate the tool calls as they print. Pause on the moment the model CHOSE check_refund_policy without being told to. That is the whole difference.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Live-code this. The loop is 15 lines. Point at the three annotated parts: the model call (plan), the stop check (done), and the tool execution (act + observe). Then show MAX_STEPS — the limit.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Now the enterprise part. First breakpoint: identity. The agent calls your order API — as whom? Walk the three options. The enterprise answer is the third: the agent gets its own identity, scoped per tenant, per user, per task — with least-privilege tools.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Second breakpoint: tenancy. One agent, many customers. Memory, tools and retrieval each have to be tenant-isolated — otherwise you've shipped a data leak with a chat window on it. I've lived this on a multi-tenant platform; the agent's placement follows the same ADR discipline as any other multi-tenant service.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Third breakpoint: accountability. Who approved the action? How do you audit a decision the model made at step 7 of 12? Four things you need before an agent touches production — and each one is an episode later in the series.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 in 30 seconds, then the call to action. Next episode we build an MCP server for an enterprise data source — that's where tools stop being mocks.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at the repo. The issues tab is the whole 28-episode roadmap — ask them to open an issue with a use case they want covered. Subscribe, one episode a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3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6583680" y="2103120"/>
            <a:ext cx="23774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5000" b="1" dirty="0">
                <a:solidFill>
                  <a:srgbClr val="1C24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5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09728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ARTHASHASTRA LEARNING  ·  THE AGENTIC ENTERPRISE  ·  EP 1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508760"/>
            <a:ext cx="6035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3F5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an AI agent actually is —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F3F5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 isn't — in enterprise software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6576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3F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Harsha Pasumarthi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4005072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Founder, Arthashastra Intelligence · Delivery Head, AI &amp; Data Platforms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3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3F5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Most “agents” are a chatbot with a new logo.</a:t>
            </a:r>
            <a:endParaRPr lang="en-US" sz="30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2344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this video you will be able to:</a:t>
            </a:r>
            <a:endParaRPr lang="en-US" sz="1600" dirty="0"/>
          </a:p>
        </p:txBody>
      </p:sp>
      <p:sp>
        <p:nvSpPr>
          <p:cNvPr id="5" name="Shape 2"/>
          <p:cNvSpPr/>
          <p:nvPr/>
        </p:nvSpPr>
        <p:spPr>
          <a:xfrm>
            <a:off x="457200" y="178308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1B2127"/>
          </a:solidFill>
          <a:ln w="9525">
            <a:solidFill>
              <a:srgbClr val="2E3842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2057400"/>
            <a:ext cx="457200" cy="457200"/>
          </a:xfrm>
          <a:prstGeom prst="ellipse">
            <a:avLst/>
          </a:prstGeom>
          <a:solidFill>
            <a:srgbClr val="F5A623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31520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69748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3F5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Tell an agent from a workflow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342900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10 seconds, in any vendor demo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3246120" y="178308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1B2127"/>
          </a:solidFill>
          <a:ln w="9525">
            <a:solidFill>
              <a:srgbClr val="2E3842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520440" y="2057400"/>
            <a:ext cx="457200" cy="457200"/>
          </a:xfrm>
          <a:prstGeom prst="ellipse">
            <a:avLst/>
          </a:prstGeom>
          <a:solidFill>
            <a:srgbClr val="F5A623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3520440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3520440" y="269748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3F5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Name the 5 parts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3520440" y="342900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real agent is built from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6035040" y="178308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1B2127"/>
          </a:solidFill>
          <a:ln w="9525">
            <a:solidFill>
              <a:srgbClr val="2E3842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309360" y="2057400"/>
            <a:ext cx="457200" cy="457200"/>
          </a:xfrm>
          <a:prstGeom prst="ellipse">
            <a:avLst/>
          </a:prstGeom>
          <a:solidFill>
            <a:srgbClr val="F5A623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309360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6309360" y="269748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3F5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Spot the 3 things that break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6309360" y="342900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an agent goes inside enterprise software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457200" y="4709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Arthashastra Learning · The Agentic Enterprise · Ep 1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3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57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ONE-LINE DEFINITION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914400"/>
            <a:ext cx="8229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dirty="0">
                <a:solidFill>
                  <a:srgbClr val="F3F5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agent is an LLM that </a:t>
            </a:r>
            <a:pPr indent="0" marL="0">
              <a:buNone/>
            </a:pPr>
            <a:r>
              <a:rPr lang="en-US" sz="3200" b="1" dirty="0">
                <a:solidFill>
                  <a:srgbClr val="F5A6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decides</a:t>
            </a:r>
            <a:pPr indent="0" marL="0">
              <a:buNone/>
            </a:pPr>
            <a:r>
              <a:rPr lang="en-US" sz="3200" dirty="0">
                <a:solidFill>
                  <a:srgbClr val="F3F5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what to do next — in a </a:t>
            </a:r>
            <a:pPr indent="0" marL="0">
              <a:buNone/>
            </a:pPr>
            <a:r>
              <a:rPr lang="en-US" sz="3200" b="1" dirty="0">
                <a:solidFill>
                  <a:srgbClr val="F5A6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loop</a:t>
            </a:r>
            <a:pPr indent="0" marL="0">
              <a:buNone/>
            </a:pPr>
            <a:r>
              <a:rPr lang="en-US" sz="3200" dirty="0">
                <a:solidFill>
                  <a:srgbClr val="F3F5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— using </a:t>
            </a:r>
            <a:pPr indent="0" marL="0">
              <a:buNone/>
            </a:pPr>
            <a:r>
              <a:rPr lang="en-US" sz="3200" b="1" dirty="0">
                <a:solidFill>
                  <a:srgbClr val="F5A6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tools</a:t>
            </a:r>
            <a:pPr indent="0" marL="0">
              <a:buNone/>
            </a:pPr>
            <a:r>
              <a:rPr lang="en-US" sz="3200" dirty="0">
                <a:solidFill>
                  <a:srgbClr val="F3F5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 until a goal is met.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457200" y="3108960"/>
            <a:ext cx="2606040" cy="1325880"/>
          </a:xfrm>
          <a:prstGeom prst="roundRect">
            <a:avLst>
              <a:gd name="adj" fmla="val 5517"/>
            </a:avLst>
          </a:prstGeom>
          <a:solidFill>
            <a:srgbClr val="232B33"/>
          </a:solidFill>
          <a:ln w="9525">
            <a:solidFill>
              <a:srgbClr val="2E384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5800" y="32461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DECIDES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361188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3F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picks the next action, not the developer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3246120" y="3108960"/>
            <a:ext cx="2606040" cy="1325880"/>
          </a:xfrm>
          <a:prstGeom prst="roundRect">
            <a:avLst>
              <a:gd name="adj" fmla="val 5517"/>
            </a:avLst>
          </a:prstGeom>
          <a:solidFill>
            <a:srgbClr val="232B33"/>
          </a:solidFill>
          <a:ln w="9525">
            <a:solidFill>
              <a:srgbClr val="2E384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474720" y="32461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3474720" y="361188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3F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→ act → observe → repeat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035040" y="3108960"/>
            <a:ext cx="2606040" cy="1325880"/>
          </a:xfrm>
          <a:prstGeom prst="roundRect">
            <a:avLst>
              <a:gd name="adj" fmla="val 5517"/>
            </a:avLst>
          </a:prstGeom>
          <a:solidFill>
            <a:srgbClr val="232B33"/>
          </a:solidFill>
          <a:ln w="9525">
            <a:solidFill>
              <a:srgbClr val="2E384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263640" y="32461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6263640" y="361188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3F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can touch systems: APIs, data, other agents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4709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any one of the three and it isn't an agent.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3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3F5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It's a spectrum, not a switch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457200" y="1463040"/>
            <a:ext cx="1463040" cy="1188720"/>
          </a:xfrm>
          <a:prstGeom prst="roundRect">
            <a:avLst>
              <a:gd name="adj" fmla="val 6154"/>
            </a:avLst>
          </a:prstGeom>
          <a:solidFill>
            <a:srgbClr val="1B2127"/>
          </a:solidFill>
          <a:ln w="9525">
            <a:solidFill>
              <a:srgbClr val="2E384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48640" y="1463040"/>
            <a:ext cx="1280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3F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Chatbot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1938528" y="1956816"/>
            <a:ext cx="192024" cy="201168"/>
          </a:xfrm>
          <a:prstGeom prst="rightArrow">
            <a:avLst/>
          </a:prstGeom>
          <a:solidFill>
            <a:srgbClr val="2E3842"/>
          </a:solidFill>
          <a:ln/>
        </p:spPr>
      </p:sp>
      <p:sp>
        <p:nvSpPr>
          <p:cNvPr id="7" name="Shape 4"/>
          <p:cNvSpPr/>
          <p:nvPr/>
        </p:nvSpPr>
        <p:spPr>
          <a:xfrm>
            <a:off x="2148840" y="1463040"/>
            <a:ext cx="1463040" cy="1188720"/>
          </a:xfrm>
          <a:prstGeom prst="roundRect">
            <a:avLst>
              <a:gd name="adj" fmla="val 6154"/>
            </a:avLst>
          </a:prstGeom>
          <a:solidFill>
            <a:srgbClr val="1B2127"/>
          </a:solidFill>
          <a:ln w="9525">
            <a:solidFill>
              <a:srgbClr val="2E384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2240280" y="1463040"/>
            <a:ext cx="1280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3F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chain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3630168" y="1956816"/>
            <a:ext cx="192024" cy="201168"/>
          </a:xfrm>
          <a:prstGeom prst="rightArrow">
            <a:avLst/>
          </a:prstGeom>
          <a:solidFill>
            <a:srgbClr val="2E3842"/>
          </a:solidFill>
          <a:ln/>
        </p:spPr>
      </p:sp>
      <p:sp>
        <p:nvSpPr>
          <p:cNvPr id="10" name="Shape 7"/>
          <p:cNvSpPr/>
          <p:nvPr/>
        </p:nvSpPr>
        <p:spPr>
          <a:xfrm>
            <a:off x="3840480" y="1463040"/>
            <a:ext cx="1463040" cy="1188720"/>
          </a:xfrm>
          <a:prstGeom prst="roundRect">
            <a:avLst>
              <a:gd name="adj" fmla="val 6154"/>
            </a:avLst>
          </a:prstGeom>
          <a:solidFill>
            <a:srgbClr val="1B2127"/>
          </a:solidFill>
          <a:ln w="9525">
            <a:solidFill>
              <a:srgbClr val="2E384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931920" y="1463040"/>
            <a:ext cx="1280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3F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 with LLM steps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321808" y="1956816"/>
            <a:ext cx="192024" cy="201168"/>
          </a:xfrm>
          <a:prstGeom prst="rightArrow">
            <a:avLst/>
          </a:prstGeom>
          <a:solidFill>
            <a:srgbClr val="2E3842"/>
          </a:solidFill>
          <a:ln/>
        </p:spPr>
      </p:sp>
      <p:sp>
        <p:nvSpPr>
          <p:cNvPr id="13" name="Shape 10"/>
          <p:cNvSpPr/>
          <p:nvPr/>
        </p:nvSpPr>
        <p:spPr>
          <a:xfrm>
            <a:off x="5532120" y="1463040"/>
            <a:ext cx="1463040" cy="1188720"/>
          </a:xfrm>
          <a:prstGeom prst="roundRect">
            <a:avLst>
              <a:gd name="adj" fmla="val 6154"/>
            </a:avLst>
          </a:prstGeom>
          <a:solidFill>
            <a:srgbClr val="232B33"/>
          </a:solidFill>
          <a:ln w="9525">
            <a:solidFill>
              <a:srgbClr val="2E384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623560" y="1463040"/>
            <a:ext cx="1280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7013448" y="1956816"/>
            <a:ext cx="192024" cy="201168"/>
          </a:xfrm>
          <a:prstGeom prst="rightArrow">
            <a:avLst/>
          </a:prstGeom>
          <a:solidFill>
            <a:srgbClr val="2E3842"/>
          </a:solidFill>
          <a:ln/>
        </p:spPr>
      </p:sp>
      <p:sp>
        <p:nvSpPr>
          <p:cNvPr id="16" name="Shape 13"/>
          <p:cNvSpPr/>
          <p:nvPr/>
        </p:nvSpPr>
        <p:spPr>
          <a:xfrm>
            <a:off x="7223760" y="1463040"/>
            <a:ext cx="1463040" cy="1188720"/>
          </a:xfrm>
          <a:prstGeom prst="roundRect">
            <a:avLst>
              <a:gd name="adj" fmla="val 6154"/>
            </a:avLst>
          </a:prstGeom>
          <a:solidFill>
            <a:srgbClr val="232B33"/>
          </a:solidFill>
          <a:ln w="9525">
            <a:solidFill>
              <a:srgbClr val="2E3842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0" y="1463040"/>
            <a:ext cx="1280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system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457200" y="3063240"/>
            <a:ext cx="8229600" cy="0"/>
          </a:xfrm>
          <a:prstGeom prst="line">
            <a:avLst/>
          </a:prstGeom>
          <a:noFill/>
          <a:ln w="19050">
            <a:solidFill>
              <a:srgbClr val="2E384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57200" y="31546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decides the flow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5029200" y="31546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decides the flow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457200" y="2743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200" kern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DECIDES WHAT HAPPENS NEXT?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457200" y="3657600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1B2127"/>
          </a:solidFill>
          <a:ln w="9525">
            <a:solidFill>
              <a:srgbClr val="2E3842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85800" y="365760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Rule: </a:t>
            </a:r>
            <a:pPr indent="0" marL="0">
              <a:buNone/>
            </a:pPr>
            <a:r>
              <a:rPr lang="en-US" sz="1400" dirty="0">
                <a:solidFill>
                  <a:srgbClr val="F3F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further right you go, the more autonomy you get — and the more governance you owe. Most enterprise problems are solved well in the middle.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457200" y="4709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Arthashastra Learning · The Agentic Enterprise · Ep 1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3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3F5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agent loop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457200" y="1554480"/>
            <a:ext cx="1463040" cy="822960"/>
          </a:xfrm>
          <a:prstGeom prst="roundRect">
            <a:avLst>
              <a:gd name="adj" fmla="val 11111"/>
            </a:avLst>
          </a:prstGeom>
          <a:solidFill>
            <a:srgbClr val="232B33"/>
          </a:solidFill>
          <a:ln w="19050">
            <a:solidFill>
              <a:srgbClr val="4FB3BF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457200" y="1554480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FB3B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1938528" y="1865376"/>
            <a:ext cx="192024" cy="201168"/>
          </a:xfrm>
          <a:prstGeom prst="rightArrow">
            <a:avLst/>
          </a:prstGeom>
          <a:solidFill>
            <a:srgbClr val="2E3842"/>
          </a:solidFill>
          <a:ln/>
        </p:spPr>
      </p:sp>
      <p:sp>
        <p:nvSpPr>
          <p:cNvPr id="7" name="Shape 4"/>
          <p:cNvSpPr/>
          <p:nvPr/>
        </p:nvSpPr>
        <p:spPr>
          <a:xfrm>
            <a:off x="2148840" y="1554480"/>
            <a:ext cx="1463040" cy="822960"/>
          </a:xfrm>
          <a:prstGeom prst="roundRect">
            <a:avLst>
              <a:gd name="adj" fmla="val 11111"/>
            </a:avLst>
          </a:prstGeom>
          <a:solidFill>
            <a:srgbClr val="232B33"/>
          </a:solidFill>
          <a:ln w="19050">
            <a:solidFill>
              <a:srgbClr val="F5A623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2148840" y="1554480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A6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3630168" y="1865376"/>
            <a:ext cx="192024" cy="201168"/>
          </a:xfrm>
          <a:prstGeom prst="rightArrow">
            <a:avLst/>
          </a:prstGeom>
          <a:solidFill>
            <a:srgbClr val="2E3842"/>
          </a:solidFill>
          <a:ln/>
        </p:spPr>
      </p:sp>
      <p:sp>
        <p:nvSpPr>
          <p:cNvPr id="10" name="Shape 7"/>
          <p:cNvSpPr/>
          <p:nvPr/>
        </p:nvSpPr>
        <p:spPr>
          <a:xfrm>
            <a:off x="3840480" y="1554480"/>
            <a:ext cx="1463040" cy="822960"/>
          </a:xfrm>
          <a:prstGeom prst="roundRect">
            <a:avLst>
              <a:gd name="adj" fmla="val 11111"/>
            </a:avLst>
          </a:prstGeom>
          <a:solidFill>
            <a:srgbClr val="232B33"/>
          </a:solidFill>
          <a:ln w="19050">
            <a:solidFill>
              <a:srgbClr val="F5A62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840480" y="1554480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A6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321808" y="1865376"/>
            <a:ext cx="192024" cy="201168"/>
          </a:xfrm>
          <a:prstGeom prst="rightArrow">
            <a:avLst/>
          </a:prstGeom>
          <a:solidFill>
            <a:srgbClr val="2E3842"/>
          </a:solidFill>
          <a:ln/>
        </p:spPr>
      </p:sp>
      <p:sp>
        <p:nvSpPr>
          <p:cNvPr id="13" name="Shape 10"/>
          <p:cNvSpPr/>
          <p:nvPr/>
        </p:nvSpPr>
        <p:spPr>
          <a:xfrm>
            <a:off x="5532120" y="1554480"/>
            <a:ext cx="1463040" cy="822960"/>
          </a:xfrm>
          <a:prstGeom prst="roundRect">
            <a:avLst>
              <a:gd name="adj" fmla="val 11111"/>
            </a:avLst>
          </a:prstGeom>
          <a:solidFill>
            <a:srgbClr val="232B33"/>
          </a:solidFill>
          <a:ln w="19050">
            <a:solidFill>
              <a:srgbClr val="F5A623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532120" y="1554480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A6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Observe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7013448" y="1865376"/>
            <a:ext cx="192024" cy="201168"/>
          </a:xfrm>
          <a:prstGeom prst="rightArrow">
            <a:avLst/>
          </a:prstGeom>
          <a:solidFill>
            <a:srgbClr val="2E3842"/>
          </a:solidFill>
          <a:ln/>
        </p:spPr>
      </p:sp>
      <p:sp>
        <p:nvSpPr>
          <p:cNvPr id="16" name="Shape 13"/>
          <p:cNvSpPr/>
          <p:nvPr/>
        </p:nvSpPr>
        <p:spPr>
          <a:xfrm>
            <a:off x="7223760" y="1554480"/>
            <a:ext cx="1463040" cy="822960"/>
          </a:xfrm>
          <a:prstGeom prst="roundRect">
            <a:avLst>
              <a:gd name="adj" fmla="val 11111"/>
            </a:avLst>
          </a:prstGeom>
          <a:solidFill>
            <a:srgbClr val="232B33"/>
          </a:solidFill>
          <a:ln w="19050">
            <a:solidFill>
              <a:srgbClr val="4FB3B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223760" y="1554480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FB3B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Done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4572000" y="2377440"/>
            <a:ext cx="0" cy="457200"/>
          </a:xfrm>
          <a:prstGeom prst="line">
            <a:avLst/>
          </a:prstGeom>
          <a:noFill/>
          <a:ln w="19050">
            <a:solidFill>
              <a:srgbClr val="F5A623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2880360" y="2834640"/>
            <a:ext cx="1691640" cy="0"/>
          </a:xfrm>
          <a:prstGeom prst="line">
            <a:avLst/>
          </a:prstGeom>
          <a:noFill/>
          <a:ln w="19050">
            <a:solidFill>
              <a:srgbClr val="F5A623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2880360" y="2377440"/>
            <a:ext cx="0" cy="457200"/>
          </a:xfrm>
          <a:prstGeom prst="line">
            <a:avLst/>
          </a:prstGeom>
          <a:noFill/>
          <a:ln w="19050">
            <a:solidFill>
              <a:srgbClr val="F5A623"/>
            </a:solidFill>
            <a:prstDash val="solid"/>
            <a:tailEnd type="triangle"/>
          </a:ln>
        </p:spPr>
      </p:sp>
      <p:sp>
        <p:nvSpPr>
          <p:cNvPr id="21" name="Text 18"/>
          <p:cNvSpPr txBox="1"/>
          <p:nvPr/>
        </p:nvSpPr>
        <p:spPr>
          <a:xfrm>
            <a:off x="2743200" y="28803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 until the goal is met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457200" y="114300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user wants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2148840" y="114300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picks next step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3840480" y="114300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a tool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5532120" y="114300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result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7223760" y="114300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a limit is hit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457200" y="342900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1B2127"/>
          </a:solidFill>
          <a:ln w="9525">
            <a:solidFill>
              <a:srgbClr val="2E3842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85800" y="3429000"/>
            <a:ext cx="7772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conditions are not optional. </a:t>
            </a:r>
            <a:pPr indent="0" marL="0">
              <a:buNone/>
            </a:pPr>
            <a:r>
              <a:rPr lang="en-US" sz="1400" dirty="0">
                <a:solidFill>
                  <a:srgbClr val="F3F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without a cap on steps, cost and time isn't a product — it's a bill. Set all three before the first demo.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457200" y="4709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Arthashastra Learning · The Agentic Enterprise · Ep 1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3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3F5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5 parts of every agent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502920" y="1261872"/>
            <a:ext cx="384048" cy="384048"/>
          </a:xfrm>
          <a:prstGeom prst="ellipse">
            <a:avLst/>
          </a:prstGeom>
          <a:solidFill>
            <a:srgbClr val="4FB3BF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502920" y="1261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1051560" y="1188720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3F5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3017520" y="1188720"/>
            <a:ext cx="3657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reasoning engine — picks actions, reads results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02920" y="1883664"/>
            <a:ext cx="384048" cy="384048"/>
          </a:xfrm>
          <a:prstGeom prst="ellipse">
            <a:avLst/>
          </a:prstGeom>
          <a:solidFill>
            <a:srgbClr val="4FB3BF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02920" y="18836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1051560" y="1810512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3F5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Instructions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3017520" y="1810512"/>
            <a:ext cx="3657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prompt, policies, what it may and may not do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02920" y="2505456"/>
            <a:ext cx="384048" cy="384048"/>
          </a:xfrm>
          <a:prstGeom prst="ellipse">
            <a:avLst/>
          </a:prstGeom>
          <a:solidFill>
            <a:srgbClr val="4FB3B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502920" y="25054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1051560" y="2432304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3F5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Tools</a:t>
            </a:r>
            <a:endParaRPr lang="en-US" sz="1700" dirty="0"/>
          </a:p>
        </p:txBody>
      </p:sp>
      <p:sp>
        <p:nvSpPr>
          <p:cNvPr id="15" name="Text 12"/>
          <p:cNvSpPr txBox="1"/>
          <p:nvPr/>
        </p:nvSpPr>
        <p:spPr>
          <a:xfrm>
            <a:off x="3017520" y="2432304"/>
            <a:ext cx="3657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APIs, databases, MCP servers, other agents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02920" y="3127248"/>
            <a:ext cx="384048" cy="384048"/>
          </a:xfrm>
          <a:prstGeom prst="ellipse">
            <a:avLst/>
          </a:prstGeom>
          <a:solidFill>
            <a:srgbClr val="F5A623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502920" y="3127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1051560" y="3054096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3F5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Memory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3017520" y="3054096"/>
            <a:ext cx="3657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short-term context + long-term store, per user and tenant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502920" y="3749040"/>
            <a:ext cx="384048" cy="384048"/>
          </a:xfrm>
          <a:prstGeom prst="ellipse">
            <a:avLst/>
          </a:prstGeom>
          <a:solidFill>
            <a:srgbClr val="F5A623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2920" y="3749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3675888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3F5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Loop + limits</a:t>
            </a:r>
            <a:endParaRPr lang="en-US" sz="1700" dirty="0"/>
          </a:p>
        </p:txBody>
      </p:sp>
      <p:sp>
        <p:nvSpPr>
          <p:cNvPr id="23" name="Text 20"/>
          <p:cNvSpPr txBox="1"/>
          <p:nvPr/>
        </p:nvSpPr>
        <p:spPr>
          <a:xfrm>
            <a:off x="3017520" y="3675888"/>
            <a:ext cx="3657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orchestration, stop conditions, step / cost / time caps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6903720" y="1188720"/>
            <a:ext cx="1783080" cy="3017520"/>
          </a:xfrm>
          <a:prstGeom prst="roundRect">
            <a:avLst>
              <a:gd name="adj" fmla="val 4103"/>
            </a:avLst>
          </a:prstGeom>
          <a:solidFill>
            <a:srgbClr val="232B33"/>
          </a:solidFill>
          <a:ln w="9525">
            <a:solidFill>
              <a:srgbClr val="2E3842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086600" y="1325880"/>
            <a:ext cx="14630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4FB3B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1–3
</a:t>
            </a:r>
            <a:pPr indent="0" marL="0">
              <a:buNone/>
            </a:pPr>
            <a:r>
              <a:rPr lang="en-US" sz="1200" dirty="0">
                <a:solidFill>
                  <a:srgbClr val="F3F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you a demo
</a:t>
            </a:r>
            <a:pPr indent="0" marL="0">
              <a:buNone/>
            </a:pPr>
            <a:r>
              <a:rPr lang="en-US" sz="2800" b="1" dirty="0">
                <a:solidFill>
                  <a:srgbClr val="F5A6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4–5
</a:t>
            </a:r>
            <a:pPr indent="0" marL="0">
              <a:buNone/>
            </a:pPr>
            <a:r>
              <a:rPr lang="en-US" sz="1200" dirty="0">
                <a:solidFill>
                  <a:srgbClr val="F3F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you something that survives production</a:t>
            </a:r>
            <a:endParaRPr lang="en-US" sz="2800" dirty="0"/>
          </a:p>
        </p:txBody>
      </p:sp>
      <p:sp>
        <p:nvSpPr>
          <p:cNvPr id="26" name="Text 23"/>
          <p:cNvSpPr txBox="1"/>
          <p:nvPr/>
        </p:nvSpPr>
        <p:spPr>
          <a:xfrm>
            <a:off x="457200" y="4709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Arthashastra Learning · The Agentic Enterprise · Ep 1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3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3F5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NOT an agent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457200" y="1280160"/>
            <a:ext cx="2606040" cy="2286000"/>
          </a:xfrm>
          <a:prstGeom prst="roundRect">
            <a:avLst>
              <a:gd name="adj" fmla="val 3200"/>
            </a:avLst>
          </a:prstGeom>
          <a:solidFill>
            <a:srgbClr val="1B2127"/>
          </a:solidFill>
          <a:ln w="9525">
            <a:solidFill>
              <a:srgbClr val="2E3842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E5533D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1031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3F5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Chatbot with retrieval (RAG)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74320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 questions. Never acts. No tools beyond search.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3246120" y="1280160"/>
            <a:ext cx="2606040" cy="2286000"/>
          </a:xfrm>
          <a:prstGeom prst="roundRect">
            <a:avLst>
              <a:gd name="adj" fmla="val 3200"/>
            </a:avLst>
          </a:prstGeom>
          <a:solidFill>
            <a:srgbClr val="1B2127"/>
          </a:solidFill>
          <a:ln w="9525">
            <a:solidFill>
              <a:srgbClr val="2E3842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520440" y="1508760"/>
            <a:ext cx="457200" cy="457200"/>
          </a:xfrm>
          <a:prstGeom prst="ellipse">
            <a:avLst/>
          </a:prstGeom>
          <a:solidFill>
            <a:srgbClr val="E5533D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3520440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3520440" y="21031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3F5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Pipeline with one LLM step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3520440" y="274320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developer decided the flow. The model fills in a blank.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035040" y="1280160"/>
            <a:ext cx="2606040" cy="2286000"/>
          </a:xfrm>
          <a:prstGeom prst="roundRect">
            <a:avLst>
              <a:gd name="adj" fmla="val 3200"/>
            </a:avLst>
          </a:prstGeom>
          <a:solidFill>
            <a:srgbClr val="1B2127"/>
          </a:solidFill>
          <a:ln w="9525">
            <a:solidFill>
              <a:srgbClr val="2E3842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309360" y="1508760"/>
            <a:ext cx="457200" cy="457200"/>
          </a:xfrm>
          <a:prstGeom prst="ellipse">
            <a:avLst/>
          </a:prstGeom>
          <a:solidFill>
            <a:srgbClr val="E5533D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309360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6309360" y="21031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3F5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Rules engine + LLM classifier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6309360" y="274320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loop. No tool choice. One call, one label.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457200" y="374904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232B33"/>
          </a:solidFill>
          <a:ln w="9525">
            <a:solidFill>
              <a:srgbClr val="2E3842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85800" y="374904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are often the right answer. Just don't call them agents in the architecture review.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457200" y="4709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Arthashastra Learning · The Agentic Enterprise · Ep 1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3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3F5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Demo: one support ticket, two systems</a:t>
            </a:r>
            <a:endParaRPr lang="en-US" sz="30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0972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“Customer 1042 wants a refund for order A-7781 — it arrived damaged.”</a:t>
            </a:r>
            <a:endParaRPr lang="en-US" sz="1400" dirty="0"/>
          </a:p>
        </p:txBody>
      </p:sp>
      <p:sp>
        <p:nvSpPr>
          <p:cNvPr id="5" name="Shape 2"/>
          <p:cNvSpPr/>
          <p:nvPr/>
        </p:nvSpPr>
        <p:spPr>
          <a:xfrm>
            <a:off x="457200" y="1600200"/>
            <a:ext cx="4023360" cy="2834640"/>
          </a:xfrm>
          <a:prstGeom prst="roundRect">
            <a:avLst>
              <a:gd name="adj" fmla="val 2581"/>
            </a:avLst>
          </a:prstGeom>
          <a:solidFill>
            <a:srgbClr val="1B2127"/>
          </a:solidFill>
          <a:ln w="9525">
            <a:solidFill>
              <a:srgbClr val="2E384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5800" y="1737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FB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· WORKFLOW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0116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workflow.py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2331720"/>
            <a:ext cx="3657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3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classify(ticket)  → REFUND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3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lookup_order()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3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check_refund_policy()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3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eligible: issue_refund()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line written by the developer.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663440" y="1600200"/>
            <a:ext cx="4023360" cy="2834640"/>
          </a:xfrm>
          <a:prstGeom prst="roundRect">
            <a:avLst>
              <a:gd name="adj" fmla="val 2581"/>
            </a:avLst>
          </a:prstGeom>
          <a:solidFill>
            <a:srgbClr val="232B33"/>
          </a:solidFill>
          <a:ln w="9525">
            <a:solidFill>
              <a:srgbClr val="2E384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892040" y="1737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· AGENT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4892040" y="20116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basic_agent.py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4892040" y="2331720"/>
            <a:ext cx="3657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3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[step 1] tool=lookup_order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F5A6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[step 2] tool=check_refund_policy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3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[step 3] tool=issue_refund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3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FINAL: refund issued, reply drafted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chose each tool. Watch step 2.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4709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Code: 01-what-is-an-agent/code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3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3F5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whole agent is one loop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457200" y="1143000"/>
            <a:ext cx="5394960" cy="3337560"/>
          </a:xfrm>
          <a:prstGeom prst="roundRect">
            <a:avLst>
              <a:gd name="adj" fmla="val 2192"/>
            </a:avLst>
          </a:prstGeom>
          <a:solidFill>
            <a:srgbClr val="0B0E11"/>
          </a:solidFill>
          <a:ln w="9525">
            <a:solidFill>
              <a:srgbClr val="2E384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40080" y="1280160"/>
            <a:ext cx="51206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3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step in range(MAX_STEPS):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3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resp = client.messages.create(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3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model=MODEL, system=SYSTEM,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5A6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tools=TOOLS, messages=messages)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3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messages.append(assistant(resp.content))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FB3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resp.stop_reason != "tool_use":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FB3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final_text(resp)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3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block in tool_uses(resp):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5A6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out = HANDLERS[block.name](**block.input)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3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results.append(tool_result(block.id, out))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3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messages.append(user(results))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55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 "Stopped: step limit reached."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6080760" y="114300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6080760" y="141732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sees the goal, the tools, and everything so far — and picks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6080760" y="1984248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B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6080760" y="2258568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tool requested → the model thinks the goal is met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6080760" y="2825496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+ OBSERVE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6080760" y="3099816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what it asked for, feed the result back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6080760" y="3666744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55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6080760" y="3941064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MAX_STEPS. Also cap cost and time in production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4709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basic_agent.py · ~100 lines including four mock tools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3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11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BREAKS IN THE ENTERPRISE · 1 OF 3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7315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3F5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Identity: the agent calls your API — as whom?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457200" y="1600200"/>
            <a:ext cx="2606040" cy="2697480"/>
          </a:xfrm>
          <a:prstGeom prst="roundRect">
            <a:avLst>
              <a:gd name="adj" fmla="val 2807"/>
            </a:avLst>
          </a:prstGeom>
          <a:solidFill>
            <a:srgbClr val="1B2127"/>
          </a:solidFill>
          <a:ln w="9525">
            <a:solidFill>
              <a:srgbClr val="2E3842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28800"/>
            <a:ext cx="457200" cy="457200"/>
          </a:xfrm>
          <a:prstGeom prst="ellipse">
            <a:avLst/>
          </a:prstGeom>
          <a:solidFill>
            <a:srgbClr val="E5533D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3152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42316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3F5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Service account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2926080"/>
            <a:ext cx="2103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Simple. Over-privileged. One prompt injection away from reading every tenant.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3246120" y="1600200"/>
            <a:ext cx="2606040" cy="2697480"/>
          </a:xfrm>
          <a:prstGeom prst="roundRect">
            <a:avLst>
              <a:gd name="adj" fmla="val 2807"/>
            </a:avLst>
          </a:prstGeom>
          <a:solidFill>
            <a:srgbClr val="1B2127"/>
          </a:solidFill>
          <a:ln w="9525">
            <a:solidFill>
              <a:srgbClr val="2E3842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520440" y="1828800"/>
            <a:ext cx="457200" cy="457200"/>
          </a:xfrm>
          <a:prstGeom prst="ellipse">
            <a:avLst/>
          </a:prstGeom>
          <a:solidFill>
            <a:srgbClr val="F5A623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352044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3520440" y="242316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3F5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user's token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3520440" y="2926080"/>
            <a:ext cx="2103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Scoped correctly — but how do you delegate it safely to a process that runs for minutes?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035040" y="1600200"/>
            <a:ext cx="2606040" cy="2697480"/>
          </a:xfrm>
          <a:prstGeom prst="roundRect">
            <a:avLst>
              <a:gd name="adj" fmla="val 2807"/>
            </a:avLst>
          </a:prstGeom>
          <a:solidFill>
            <a:srgbClr val="1B2127"/>
          </a:solidFill>
          <a:ln w="9525">
            <a:solidFill>
              <a:srgbClr val="2E3842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309360" y="1828800"/>
            <a:ext cx="457200" cy="457200"/>
          </a:xfrm>
          <a:prstGeom prst="ellipse">
            <a:avLst/>
          </a:prstGeom>
          <a:solidFill>
            <a:srgbClr val="4FB3B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30936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6309360" y="242316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3F5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 identity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6309360" y="2926080"/>
            <a:ext cx="2103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own principal, scoped per tenant, per user, per task. Least-privilege tools. Auditable.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457200" y="4709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Episode 15 goes deep on delegated auth and least-privilege tools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3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11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BREAKS IN THE ENTERPRISE · 2 OF 3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7315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3F5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Tenancy: one agent, many customers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457200" y="210312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232B33"/>
          </a:solidFill>
          <a:ln w="19050">
            <a:solidFill>
              <a:srgbClr val="F5A623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2103120"/>
            <a:ext cx="2011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A6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F5A6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(model + loop)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2606040" y="1874520"/>
            <a:ext cx="548640" cy="201168"/>
          </a:xfrm>
          <a:prstGeom prst="rightArrow">
            <a:avLst/>
          </a:prstGeom>
          <a:solidFill>
            <a:srgbClr val="2E3842"/>
          </a:solidFill>
          <a:ln/>
        </p:spPr>
      </p:sp>
      <p:sp>
        <p:nvSpPr>
          <p:cNvPr id="8" name="Shape 5"/>
          <p:cNvSpPr/>
          <p:nvPr/>
        </p:nvSpPr>
        <p:spPr>
          <a:xfrm>
            <a:off x="3291840" y="1600200"/>
            <a:ext cx="2468880" cy="777240"/>
          </a:xfrm>
          <a:prstGeom prst="roundRect">
            <a:avLst>
              <a:gd name="adj" fmla="val 9412"/>
            </a:avLst>
          </a:prstGeom>
          <a:solidFill>
            <a:srgbClr val="1B2127"/>
          </a:solidFill>
          <a:ln w="9525">
            <a:solidFill>
              <a:srgbClr val="2E384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474720" y="16459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3F5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Memory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3474720" y="19659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per-tenant store, never shared context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5989320" y="1737360"/>
            <a:ext cx="731520" cy="502920"/>
          </a:xfrm>
          <a:prstGeom prst="roundRect">
            <a:avLst>
              <a:gd name="adj" fmla="val 10909"/>
            </a:avLst>
          </a:prstGeom>
          <a:solidFill>
            <a:srgbClr val="0F1316"/>
          </a:solidFill>
          <a:ln w="12700">
            <a:solidFill>
              <a:srgbClr val="4FB3B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989320" y="1737360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FB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885432" y="1737360"/>
            <a:ext cx="731520" cy="502920"/>
          </a:xfrm>
          <a:prstGeom prst="roundRect">
            <a:avLst>
              <a:gd name="adj" fmla="val 10909"/>
            </a:avLst>
          </a:prstGeom>
          <a:solidFill>
            <a:srgbClr val="0F1316"/>
          </a:solidFill>
          <a:ln w="12700">
            <a:solidFill>
              <a:srgbClr val="4FB3B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885432" y="1737360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FB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T2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7781544" y="1737360"/>
            <a:ext cx="731520" cy="502920"/>
          </a:xfrm>
          <a:prstGeom prst="roundRect">
            <a:avLst>
              <a:gd name="adj" fmla="val 10909"/>
            </a:avLst>
          </a:prstGeom>
          <a:solidFill>
            <a:srgbClr val="0F1316"/>
          </a:solidFill>
          <a:ln w="12700">
            <a:solidFill>
              <a:srgbClr val="4FB3B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781544" y="1737360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FB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T3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2606040" y="2834640"/>
            <a:ext cx="548640" cy="201168"/>
          </a:xfrm>
          <a:prstGeom prst="rightArrow">
            <a:avLst/>
          </a:prstGeom>
          <a:solidFill>
            <a:srgbClr val="2E3842"/>
          </a:solidFill>
          <a:ln/>
        </p:spPr>
      </p:sp>
      <p:sp>
        <p:nvSpPr>
          <p:cNvPr id="18" name="Shape 15"/>
          <p:cNvSpPr/>
          <p:nvPr/>
        </p:nvSpPr>
        <p:spPr>
          <a:xfrm>
            <a:off x="3291840" y="2560320"/>
            <a:ext cx="2468880" cy="777240"/>
          </a:xfrm>
          <a:prstGeom prst="roundRect">
            <a:avLst>
              <a:gd name="adj" fmla="val 9412"/>
            </a:avLst>
          </a:prstGeom>
          <a:solidFill>
            <a:srgbClr val="1B2127"/>
          </a:solidFill>
          <a:ln w="9525">
            <a:solidFill>
              <a:srgbClr val="2E384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3474720" y="26060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3F5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Tools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3474720" y="29260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tenant-scoped credentials on every call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989320" y="2697480"/>
            <a:ext cx="731520" cy="502920"/>
          </a:xfrm>
          <a:prstGeom prst="roundRect">
            <a:avLst>
              <a:gd name="adj" fmla="val 10909"/>
            </a:avLst>
          </a:prstGeom>
          <a:solidFill>
            <a:srgbClr val="0F1316"/>
          </a:solidFill>
          <a:ln w="12700">
            <a:solidFill>
              <a:srgbClr val="4FB3B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989320" y="2697480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FB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6885432" y="2697480"/>
            <a:ext cx="731520" cy="502920"/>
          </a:xfrm>
          <a:prstGeom prst="roundRect">
            <a:avLst>
              <a:gd name="adj" fmla="val 10909"/>
            </a:avLst>
          </a:prstGeom>
          <a:solidFill>
            <a:srgbClr val="0F1316"/>
          </a:solidFill>
          <a:ln w="12700">
            <a:solidFill>
              <a:srgbClr val="4FB3B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885432" y="2697480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FB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T2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7781544" y="2697480"/>
            <a:ext cx="731520" cy="502920"/>
          </a:xfrm>
          <a:prstGeom prst="roundRect">
            <a:avLst>
              <a:gd name="adj" fmla="val 10909"/>
            </a:avLst>
          </a:prstGeom>
          <a:solidFill>
            <a:srgbClr val="0F1316"/>
          </a:solidFill>
          <a:ln w="12700">
            <a:solidFill>
              <a:srgbClr val="4FB3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781544" y="2697480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FB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T3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2606040" y="3794760"/>
            <a:ext cx="548640" cy="201168"/>
          </a:xfrm>
          <a:prstGeom prst="rightArrow">
            <a:avLst/>
          </a:prstGeom>
          <a:solidFill>
            <a:srgbClr val="2E3842"/>
          </a:solidFill>
          <a:ln/>
        </p:spPr>
      </p:sp>
      <p:sp>
        <p:nvSpPr>
          <p:cNvPr id="28" name="Shape 25"/>
          <p:cNvSpPr/>
          <p:nvPr/>
        </p:nvSpPr>
        <p:spPr>
          <a:xfrm>
            <a:off x="3291840" y="3520440"/>
            <a:ext cx="2468880" cy="777240"/>
          </a:xfrm>
          <a:prstGeom prst="roundRect">
            <a:avLst>
              <a:gd name="adj" fmla="val 9412"/>
            </a:avLst>
          </a:prstGeom>
          <a:solidFill>
            <a:srgbClr val="1B2127"/>
          </a:solidFill>
          <a:ln w="9525">
            <a:solidFill>
              <a:srgbClr val="2E3842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3474720" y="35661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3F5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Retrieval</a:t>
            </a:r>
            <a:endParaRPr lang="en-US" sz="1500" dirty="0"/>
          </a:p>
        </p:txBody>
      </p:sp>
      <p:sp>
        <p:nvSpPr>
          <p:cNvPr id="30" name="Text 27"/>
          <p:cNvSpPr txBox="1"/>
          <p:nvPr/>
        </p:nvSpPr>
        <p:spPr>
          <a:xfrm>
            <a:off x="3474720" y="38862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 partitioned, filtered before ranking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5989320" y="3657600"/>
            <a:ext cx="731520" cy="502920"/>
          </a:xfrm>
          <a:prstGeom prst="roundRect">
            <a:avLst>
              <a:gd name="adj" fmla="val 10909"/>
            </a:avLst>
          </a:prstGeom>
          <a:solidFill>
            <a:srgbClr val="0F1316"/>
          </a:solidFill>
          <a:ln w="12700">
            <a:solidFill>
              <a:srgbClr val="4FB3BF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5989320" y="3657600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FB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6885432" y="3657600"/>
            <a:ext cx="731520" cy="502920"/>
          </a:xfrm>
          <a:prstGeom prst="roundRect">
            <a:avLst>
              <a:gd name="adj" fmla="val 10909"/>
            </a:avLst>
          </a:prstGeom>
          <a:solidFill>
            <a:srgbClr val="0F1316"/>
          </a:solidFill>
          <a:ln w="12700">
            <a:solidFill>
              <a:srgbClr val="4FB3BF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885432" y="3657600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FB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T2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7781544" y="3657600"/>
            <a:ext cx="731520" cy="502920"/>
          </a:xfrm>
          <a:prstGeom prst="roundRect">
            <a:avLst>
              <a:gd name="adj" fmla="val 10909"/>
            </a:avLst>
          </a:prstGeom>
          <a:solidFill>
            <a:srgbClr val="0F1316"/>
          </a:solidFill>
          <a:ln w="12700">
            <a:solidFill>
              <a:srgbClr val="4FB3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781544" y="3657600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FB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T3</a:t>
            </a:r>
            <a:endParaRPr lang="en-US" sz="1200" dirty="0"/>
          </a:p>
        </p:txBody>
      </p:sp>
      <p:sp>
        <p:nvSpPr>
          <p:cNvPr id="37" name="Text 34"/>
          <p:cNvSpPr txBox="1"/>
          <p:nvPr/>
        </p:nvSpPr>
        <p:spPr>
          <a:xfrm>
            <a:off x="5989320" y="1280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4FB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ISOLATED TENANTS</a:t>
            </a:r>
            <a:endParaRPr lang="en-US" sz="1000" dirty="0"/>
          </a:p>
        </p:txBody>
      </p:sp>
      <p:sp>
        <p:nvSpPr>
          <p:cNvPr id="38" name="Text 35"/>
          <p:cNvSpPr txBox="1"/>
          <p:nvPr/>
        </p:nvSpPr>
        <p:spPr>
          <a:xfrm>
            <a:off x="457200" y="4709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one lane wrong and you've built a data leak with a chat window.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3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11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BREAKS IN THE ENTERPRISE · 3 OF 3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7315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3F5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Accountability: who answers for step 7 of 12?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457200" y="1600200"/>
            <a:ext cx="4023360" cy="1234440"/>
          </a:xfrm>
          <a:prstGeom prst="roundRect">
            <a:avLst>
              <a:gd name="adj" fmla="val 5926"/>
            </a:avLst>
          </a:prstGeom>
          <a:solidFill>
            <a:srgbClr val="1B2127"/>
          </a:solidFill>
          <a:ln w="9525">
            <a:solidFill>
              <a:srgbClr val="2E3842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85800" y="1828800"/>
            <a:ext cx="384048" cy="384048"/>
          </a:xfrm>
          <a:prstGeom prst="ellipse">
            <a:avLst/>
          </a:prstGeom>
          <a:solidFill>
            <a:srgbClr val="F5A623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1234440" y="173736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3F5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Trace every step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1234440" y="214884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model call, tool call and result, tied to a user and a tenant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663440" y="1600200"/>
            <a:ext cx="4023360" cy="1234440"/>
          </a:xfrm>
          <a:prstGeom prst="roundRect">
            <a:avLst>
              <a:gd name="adj" fmla="val 5926"/>
            </a:avLst>
          </a:prstGeom>
          <a:solidFill>
            <a:srgbClr val="1B2127"/>
          </a:solidFill>
          <a:ln w="9525">
            <a:solidFill>
              <a:srgbClr val="2E3842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892040" y="1828800"/>
            <a:ext cx="384048" cy="384048"/>
          </a:xfrm>
          <a:prstGeom prst="ellipse">
            <a:avLst/>
          </a:prstGeom>
          <a:solidFill>
            <a:srgbClr val="F5A623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892040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5440680" y="173736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3F5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Human-in-the-loop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5440680" y="214884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irreversible or high-value actions pause for a person — by design, not by prompt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57200" y="3017520"/>
            <a:ext cx="4023360" cy="1234440"/>
          </a:xfrm>
          <a:prstGeom prst="roundRect">
            <a:avLst>
              <a:gd name="adj" fmla="val 5926"/>
            </a:avLst>
          </a:prstGeom>
          <a:solidFill>
            <a:srgbClr val="1B2127"/>
          </a:solidFill>
          <a:ln w="9525">
            <a:solidFill>
              <a:srgbClr val="2E3842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85800" y="3246120"/>
            <a:ext cx="384048" cy="384048"/>
          </a:xfrm>
          <a:prstGeom prst="ellipse">
            <a:avLst/>
          </a:prstGeom>
          <a:solidFill>
            <a:srgbClr val="F5A623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3246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1234440" y="315468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3F5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Caps on steps, cost, time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1234440" y="356616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runaway loop is a budget incident; the cap is the circuit breaker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4663440" y="3017520"/>
            <a:ext cx="4023360" cy="1234440"/>
          </a:xfrm>
          <a:prstGeom prst="roundRect">
            <a:avLst>
              <a:gd name="adj" fmla="val 5926"/>
            </a:avLst>
          </a:prstGeom>
          <a:solidFill>
            <a:srgbClr val="1B2127"/>
          </a:solidFill>
          <a:ln w="9525">
            <a:solidFill>
              <a:srgbClr val="2E3842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892040" y="3246120"/>
            <a:ext cx="384048" cy="384048"/>
          </a:xfrm>
          <a:prstGeom prst="ellipse">
            <a:avLst/>
          </a:prstGeom>
          <a:solidFill>
            <a:srgbClr val="F5A623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4892040" y="3246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5440680" y="315468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3F5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Evals before release</a:t>
            </a:r>
            <a:endParaRPr lang="en-US" sz="1600" dirty="0"/>
          </a:p>
        </p:txBody>
      </p:sp>
      <p:sp>
        <p:nvSpPr>
          <p:cNvPr id="24" name="Text 21"/>
          <p:cNvSpPr txBox="1"/>
          <p:nvPr/>
        </p:nvSpPr>
        <p:spPr>
          <a:xfrm>
            <a:off x="5440680" y="356616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test set of real tasks, scored, run on every change — like any other software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457200" y="4709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Episodes 9, 10, 18 and 25 cover each of these in depth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3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3F5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Recap</a:t>
            </a:r>
            <a:endParaRPr lang="en-US" sz="30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23444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A6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 =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2468880" y="1234440"/>
            <a:ext cx="6217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3F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decides + loop + tools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201168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A6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parts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2468880" y="2011680"/>
            <a:ext cx="6217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3F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· instructions · tools · memory · loop + limits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278892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A6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breakpoints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2468880" y="2788920"/>
            <a:ext cx="6217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3F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· tenancy · accountability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457200" y="3657600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232B33"/>
          </a:solidFill>
          <a:ln w="9525">
            <a:solidFill>
              <a:srgbClr val="2E384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85800" y="365760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B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EPISODE  </a:t>
            </a:r>
            <a:pPr indent="0" marL="0">
              <a:buNone/>
            </a:pPr>
            <a:r>
              <a:rPr lang="en-US" sz="1400" dirty="0">
                <a:solidFill>
                  <a:srgbClr val="F3F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your first MCP server for an enterprise data source — the moment tools stop being mocks.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4709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Arthashastra Learning · one episode a week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3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3F5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Code, slides and the roadmap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457200" y="1234440"/>
            <a:ext cx="4023360" cy="1371600"/>
          </a:xfrm>
          <a:prstGeom prst="roundRect">
            <a:avLst>
              <a:gd name="adj" fmla="val 5333"/>
            </a:avLst>
          </a:prstGeom>
          <a:solidFill>
            <a:srgbClr val="1B2127"/>
          </a:solidFill>
          <a:ln w="9525">
            <a:solidFill>
              <a:srgbClr val="2E384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137160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16916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3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github.com/Agent47/agentic-enterprise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1031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for every episode, slides, scripts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663440" y="1234440"/>
            <a:ext cx="4023360" cy="1371600"/>
          </a:xfrm>
          <a:prstGeom prst="roundRect">
            <a:avLst>
              <a:gd name="adj" fmla="val 5333"/>
            </a:avLst>
          </a:prstGeom>
          <a:solidFill>
            <a:srgbClr val="1B2127"/>
          </a:solidFill>
          <a:ln w="9525">
            <a:solidFill>
              <a:srgbClr val="2E384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937760" y="137160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list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4937760" y="16916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3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LINKS.md in the repo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4937760" y="21031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papers and docs behind each episode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57200" y="2788920"/>
            <a:ext cx="4023360" cy="1371600"/>
          </a:xfrm>
          <a:prstGeom prst="roundRect">
            <a:avLst>
              <a:gd name="adj" fmla="val 5333"/>
            </a:avLst>
          </a:prstGeom>
          <a:solidFill>
            <a:srgbClr val="1B2127"/>
          </a:solidFill>
          <a:ln w="9525">
            <a:solidFill>
              <a:srgbClr val="2E3842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31520" y="292608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731520" y="32461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3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Issues tab — 28 planned episodes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731520" y="365760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an issue with a use case you want covered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4663440" y="2788920"/>
            <a:ext cx="4023360" cy="1371600"/>
          </a:xfrm>
          <a:prstGeom prst="roundRect">
            <a:avLst>
              <a:gd name="adj" fmla="val 5333"/>
            </a:avLst>
          </a:prstGeom>
          <a:solidFill>
            <a:srgbClr val="1B2127"/>
          </a:solidFill>
          <a:ln w="9525">
            <a:solidFill>
              <a:srgbClr val="2E3842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937760" y="292608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4937760" y="32461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3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YouTube · LinkedIn · newsletter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4937760" y="365760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long episode a week, clips in between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457200" y="4709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Harsha Pasumarthi · Arthashastra Learning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What an AI agent actually is — and isn't — in enterprise software</dc:title>
  <dc:subject>PptxGenJS Presentation</dc:subject>
  <dc:creator>PptxGenJS</dc:creator>
  <cp:lastModifiedBy>PptxGenJS</cp:lastModifiedBy>
  <cp:revision>1</cp:revision>
  <dcterms:created xsi:type="dcterms:W3CDTF">2026-10-01T04:29:29Z</dcterms:created>
  <dcterms:modified xsi:type="dcterms:W3CDTF">2026-10-01T04:29:29Z</dcterms:modified>
</cp:coreProperties>
</file>